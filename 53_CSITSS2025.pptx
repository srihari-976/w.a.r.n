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0" r:id="rId1"/>
  </p:sldMasterIdLst>
  <p:notesMasterIdLst>
    <p:notesMasterId r:id="rId13"/>
  </p:notesMasterIdLst>
  <p:handoutMasterIdLst>
    <p:handoutMasterId r:id="rId14"/>
  </p:handoutMasterIdLst>
  <p:sldIdLst>
    <p:sldId id="292" r:id="rId2"/>
    <p:sldId id="293" r:id="rId3"/>
    <p:sldId id="296" r:id="rId4"/>
    <p:sldId id="294" r:id="rId5"/>
    <p:sldId id="295" r:id="rId6"/>
    <p:sldId id="297" r:id="rId7"/>
    <p:sldId id="298" r:id="rId8"/>
    <p:sldId id="301" r:id="rId9"/>
    <p:sldId id="302" r:id="rId10"/>
    <p:sldId id="303" r:id="rId11"/>
    <p:sldId id="306"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61438" autoAdjust="0"/>
  </p:normalViewPr>
  <p:slideViewPr>
    <p:cSldViewPr snapToGrid="0">
      <p:cViewPr varScale="1">
        <p:scale>
          <a:sx n="67" d="100"/>
          <a:sy n="67" d="100"/>
        </p:scale>
        <p:origin x="2088" y="48"/>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75" d="100"/>
          <a:sy n="75" d="100"/>
        </p:scale>
        <p:origin x="3066" y="2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190C68C-FA64-8808-59DE-D20750CB28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32E8D8-7C75-199D-4858-76BD8D21FA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CSITSS-2025</a:t>
            </a:r>
            <a:endParaRPr lang="en-IN"/>
          </a:p>
        </p:txBody>
      </p:sp>
      <p:sp>
        <p:nvSpPr>
          <p:cNvPr id="4" name="Footer Placeholder 3">
            <a:extLst>
              <a:ext uri="{FF2B5EF4-FFF2-40B4-BE49-F238E27FC236}">
                <a16:creationId xmlns:a16="http://schemas.microsoft.com/office/drawing/2014/main" id="{1556F7F8-ABCC-1CF9-9524-CB2DCB43F7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CSITSS-2025</a:t>
            </a:r>
          </a:p>
        </p:txBody>
      </p:sp>
      <p:sp>
        <p:nvSpPr>
          <p:cNvPr id="5" name="Slide Number Placeholder 4">
            <a:extLst>
              <a:ext uri="{FF2B5EF4-FFF2-40B4-BE49-F238E27FC236}">
                <a16:creationId xmlns:a16="http://schemas.microsoft.com/office/drawing/2014/main" id="{EA8C5AE9-6173-1EE2-0EB9-92FBC6A520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7CBDB4-C371-461E-B20D-3E2505CBC0CB}" type="slidenum">
              <a:rPr lang="en-IN" smtClean="0"/>
              <a:t>‹#›</a:t>
            </a:fld>
            <a:endParaRPr lang="en-IN"/>
          </a:p>
        </p:txBody>
      </p:sp>
    </p:spTree>
    <p:extLst>
      <p:ext uri="{BB962C8B-B14F-4D97-AF65-F5344CB8AC3E}">
        <p14:creationId xmlns:p14="http://schemas.microsoft.com/office/powerpoint/2010/main" val="3289346780"/>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96011168"/>
      </p:ext>
    </p:extLst>
  </p:cSld>
  <p:clrMap bg1="lt1" tx1="dk1" bg2="dk2" tx2="lt2" accent1="accent1" accent2="accent2" accent3="accent3" accent4="accent4" accent5="accent5" accent6="accent6" hlink="hlink" folHlink="folHlink"/>
  <p:hf hd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Good morning respected session chairs, IEEE reviewers, professors, and fellow researchers.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are representing Presidency University, and today we’ll be presenting our research titled ‘Endpoint Security Agent: A Comprehensive Approach to Real-Time System Monitoring and Threat Detection’.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I’m Srihari, and with me are my teammates Usman and Karthik. Together, we’ve developed an AI-driven security solution that changes how endpoints deal with modern cyber threats.</a:t>
            </a:r>
            <a:endParaRPr dirty="0"/>
          </a:p>
        </p:txBody>
      </p:sp>
    </p:spTree>
    <p:extLst>
      <p:ext uri="{BB962C8B-B14F-4D97-AF65-F5344CB8AC3E}">
        <p14:creationId xmlns:p14="http://schemas.microsoft.com/office/powerpoint/2010/main" val="370306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78261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today’s cyber landscape, most attacks don’t begin in the cloud or the network. They start at the endpoint—your laptop, your development machine, or even an IoT device. Unfortunately, traditional antivirus tools depend heavily on signature-based detection, which means they only recognize something if it has already been identified as malware before.</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But modern threats like zero-day attacks, fileless malware, and APTs (Advanced Persistent Threats) don’t leave signatures. They mimic normal system behavior and bypass traditional detection.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Another big challenge is high false positive rates – around 15 to 20% in traditional systems. That means legitimate tools, even developer software, often get flagged as threats. This reduces trust in the system. Also, most endpoint solutions don’t support automated, risk-based response. They only block or allow— that’s it. No risk scoring, no intelligent isolation, no context-based reaction.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To address these gaps, we designed a solution that continuously monitors endpoint activities in real-time, detects both known and unknown threats using machine learning, and responds intelligently using the MITRE ATT&amp;CK framework</a:t>
            </a:r>
            <a:endParaRPr dirty="0"/>
          </a:p>
        </p:txBody>
      </p:sp>
    </p:spTree>
    <p:extLst>
      <p:ext uri="{BB962C8B-B14F-4D97-AF65-F5344CB8AC3E}">
        <p14:creationId xmlns:p14="http://schemas.microsoft.com/office/powerpoint/2010/main" val="2724954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dirty="0"/>
              <a:t>Through existing literature and previous research, we noticed an evolution in endpoint security. </a:t>
            </a:r>
          </a:p>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eaLnBrk="1" fontAlgn="auto" latinLnBrk="0" hangingPunct="1">
              <a:lnSpc>
                <a:spcPct val="100000"/>
              </a:lnSpc>
              <a:spcBef>
                <a:spcPts val="0"/>
              </a:spcBef>
              <a:spcAft>
                <a:spcPts val="0"/>
              </a:spcAft>
              <a:buClrTx/>
              <a:buSzTx/>
              <a:buFontTx/>
              <a:buNone/>
              <a:tabLst/>
              <a:defRPr/>
            </a:pPr>
            <a:r>
              <a:rPr lang="en-US" dirty="0"/>
              <a:t>First, we had signature-based detection, great for known malware but useless for zero-day or polymorphic threats. </a:t>
            </a:r>
          </a:p>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eaLnBrk="1" fontAlgn="auto" latinLnBrk="0" hangingPunct="1">
              <a:lnSpc>
                <a:spcPct val="100000"/>
              </a:lnSpc>
              <a:spcBef>
                <a:spcPts val="0"/>
              </a:spcBef>
              <a:spcAft>
                <a:spcPts val="0"/>
              </a:spcAft>
              <a:buClrTx/>
              <a:buSzTx/>
              <a:buFontTx/>
              <a:buNone/>
              <a:tabLst/>
              <a:defRPr/>
            </a:pPr>
            <a:r>
              <a:rPr lang="en-US" dirty="0"/>
              <a:t>Then came behavior-based detection, which tracks actions like abnormal registry edits or suspicious file behavior. But without machine learning, it generates too many false alerts. </a:t>
            </a:r>
          </a:p>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eaLnBrk="1" fontAlgn="auto" latinLnBrk="0" hangingPunct="1">
              <a:lnSpc>
                <a:spcPct val="100000"/>
              </a:lnSpc>
              <a:spcBef>
                <a:spcPts val="0"/>
              </a:spcBef>
              <a:spcAft>
                <a:spcPts val="0"/>
              </a:spcAft>
              <a:buClrTx/>
              <a:buSzTx/>
              <a:buFontTx/>
              <a:buNone/>
              <a:tabLst/>
              <a:defRPr/>
            </a:pPr>
            <a:r>
              <a:rPr lang="en-US" dirty="0"/>
              <a:t>Then pure ML-based detection—better accuracy but still lacked context and required huge labeled datasets. </a:t>
            </a:r>
          </a:p>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eaLnBrk="1" fontAlgn="auto" latinLnBrk="0" hangingPunct="1">
              <a:lnSpc>
                <a:spcPct val="100000"/>
              </a:lnSpc>
              <a:spcBef>
                <a:spcPts val="0"/>
              </a:spcBef>
              <a:spcAft>
                <a:spcPts val="0"/>
              </a:spcAft>
              <a:buClrTx/>
              <a:buSzTx/>
              <a:buFontTx/>
              <a:buNone/>
              <a:tabLst/>
              <a:defRPr/>
            </a:pPr>
            <a:r>
              <a:rPr lang="en-US" dirty="0"/>
              <a:t>Recent work introduced MITRE ATT&amp;CK — a tactical knowledge base that maps real attacker behavior, but most implementations only use it for logging or classification—not for real-time automated response. </a:t>
            </a:r>
          </a:p>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eaLnBrk="1" fontAlgn="auto" latinLnBrk="0" hangingPunct="1">
              <a:lnSpc>
                <a:spcPct val="100000"/>
              </a:lnSpc>
              <a:spcBef>
                <a:spcPts val="0"/>
              </a:spcBef>
              <a:spcAft>
                <a:spcPts val="0"/>
              </a:spcAft>
              <a:buClrTx/>
              <a:buSzTx/>
              <a:buFontTx/>
              <a:buNone/>
              <a:tabLst/>
              <a:defRPr/>
            </a:pPr>
            <a:r>
              <a:rPr lang="en-US" dirty="0"/>
              <a:t>Our solution is different because we don’t just map attacks to MITRE—we use MITRE as the core intelligence layer to drive response actions, not just detection</a:t>
            </a:r>
            <a:endParaRPr lang="en-IN"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347541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dirty="0"/>
              <a:t>Our main objectives were clear. </a:t>
            </a:r>
          </a:p>
          <a:p>
            <a:pPr marL="0" marR="0" lvl="0" indent="0" algn="l" defTabSz="914400" eaLnBrk="1" fontAlgn="auto" latinLnBrk="0" hangingPunct="1">
              <a:lnSpc>
                <a:spcPct val="100000"/>
              </a:lnSpc>
              <a:spcBef>
                <a:spcPts val="0"/>
              </a:spcBef>
              <a:spcAft>
                <a:spcPts val="0"/>
              </a:spcAft>
              <a:buClrTx/>
              <a:buSzTx/>
              <a:buFontTx/>
              <a:buNone/>
              <a:tabLst/>
              <a:defRPr/>
            </a:pPr>
            <a:r>
              <a:rPr lang="en-US" dirty="0"/>
              <a:t>First, build a real-time agent using Windows native tools like WMI (</a:t>
            </a:r>
            <a:r>
              <a:rPr lang="en-IN" dirty="0"/>
              <a:t>Windows Management Instrumentation</a:t>
            </a:r>
            <a:r>
              <a:rPr lang="en-US" dirty="0"/>
              <a:t>) and ETW (</a:t>
            </a:r>
            <a:r>
              <a:rPr lang="en-IN" dirty="0"/>
              <a:t>Event Tracing for Windows</a:t>
            </a:r>
            <a:r>
              <a:rPr lang="en-US" dirty="0"/>
              <a:t>) for lightweight monitoring. </a:t>
            </a:r>
          </a:p>
          <a:p>
            <a:pPr marL="0" marR="0" lvl="0" indent="0" algn="l" defTabSz="914400" eaLnBrk="1" fontAlgn="auto" latinLnBrk="0" hangingPunct="1">
              <a:lnSpc>
                <a:spcPct val="100000"/>
              </a:lnSpc>
              <a:spcBef>
                <a:spcPts val="0"/>
              </a:spcBef>
              <a:spcAft>
                <a:spcPts val="0"/>
              </a:spcAft>
              <a:buClrTx/>
              <a:buSzTx/>
              <a:buFontTx/>
              <a:buNone/>
              <a:tabLst/>
              <a:defRPr/>
            </a:pPr>
            <a:r>
              <a:rPr lang="en-US" dirty="0"/>
              <a:t>Second, use machine learning models like Isolation Forest and fine-tuned </a:t>
            </a:r>
            <a:r>
              <a:rPr lang="en-US" dirty="0" err="1"/>
              <a:t>LLaMA</a:t>
            </a:r>
            <a:r>
              <a:rPr lang="en-US" dirty="0"/>
              <a:t> for anomaly detection. </a:t>
            </a:r>
          </a:p>
          <a:p>
            <a:pPr marL="0" marR="0" lvl="0" indent="0" algn="l" defTabSz="914400" eaLnBrk="1" fontAlgn="auto" latinLnBrk="0" hangingPunct="1">
              <a:lnSpc>
                <a:spcPct val="100000"/>
              </a:lnSpc>
              <a:spcBef>
                <a:spcPts val="0"/>
              </a:spcBef>
              <a:spcAft>
                <a:spcPts val="0"/>
              </a:spcAft>
              <a:buClrTx/>
              <a:buSzTx/>
              <a:buFontTx/>
              <a:buNone/>
              <a:tabLst/>
              <a:defRPr/>
            </a:pPr>
            <a:r>
              <a:rPr lang="en-US" dirty="0"/>
              <a:t>Third, integrate MITRE ATT&amp;CK not just for classification—but for automated, context-aware responses— like IP blocking, isolation, and log-off. </a:t>
            </a:r>
          </a:p>
          <a:p>
            <a:pPr marL="0" marR="0" lvl="0" indent="0" algn="l" defTabSz="914400" eaLnBrk="1" fontAlgn="auto" latinLnBrk="0" hangingPunct="1">
              <a:lnSpc>
                <a:spcPct val="100000"/>
              </a:lnSpc>
              <a:spcBef>
                <a:spcPts val="0"/>
              </a:spcBef>
              <a:spcAft>
                <a:spcPts val="0"/>
              </a:spcAft>
              <a:buClrTx/>
              <a:buSzTx/>
              <a:buFontTx/>
              <a:buNone/>
              <a:tabLst/>
              <a:defRPr/>
            </a:pPr>
            <a:r>
              <a:rPr lang="en-US" dirty="0"/>
              <a:t>And all of this, under 2 seconds response time, with less than 25% CPU usage. </a:t>
            </a:r>
          </a:p>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eaLnBrk="1" fontAlgn="auto" latinLnBrk="0" hangingPunct="1">
              <a:lnSpc>
                <a:spcPct val="100000"/>
              </a:lnSpc>
              <a:spcBef>
                <a:spcPts val="0"/>
              </a:spcBef>
              <a:spcAft>
                <a:spcPts val="0"/>
              </a:spcAft>
              <a:buClrTx/>
              <a:buSzTx/>
              <a:buFontTx/>
              <a:buNone/>
              <a:tabLst/>
              <a:defRPr/>
            </a:pPr>
            <a:r>
              <a:rPr lang="en-US" dirty="0"/>
              <a:t>To explain how we built this, I invite Usman.</a:t>
            </a:r>
            <a:endParaRPr lang="en-IN"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827543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This is the architecture of our endpoint security agent. It starts with lightweight monitoring using WMI and ETW to capture process creation, network behavior, registry edits, file manipulation, and user behavior. This gives us full visibility—but without heavy system load. Then comes Data Collection, where system metadata and event logs are collected. In the Analysis Layer, we use three engines— </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en-US" dirty="0"/>
              <a:t>Isolation Forest (92.1% accuracy) for behavior-based anomaly detection </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en-US" dirty="0"/>
              <a:t>Fine-tuned </a:t>
            </a:r>
            <a:r>
              <a:rPr lang="en-US" dirty="0" err="1"/>
              <a:t>LLaMA</a:t>
            </a:r>
            <a:r>
              <a:rPr lang="en-US" dirty="0"/>
              <a:t> with MITRE ATT&amp;CK mapping (92.7% accuracy for APT detection) </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en-US" dirty="0"/>
              <a:t>Risk Scoring Engine that calculates final threat level based on anomaly score, severity, frequency, and asset importance. </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Based on the risk level, the Response System takes automated actions: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1. Low risk: monitor only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2. Medium: isolate host or force password reset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3. High: block IP or disable account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4. Critical: terminate process, network isolation, and log-off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All actions are mapped directly to MITRE tactics like lateral movement, privilege escalation, and execution</a:t>
            </a:r>
            <a:endParaRPr dirty="0"/>
          </a:p>
        </p:txBody>
      </p:sp>
    </p:spTree>
    <p:extLst>
      <p:ext uri="{BB962C8B-B14F-4D97-AF65-F5344CB8AC3E}">
        <p14:creationId xmlns:p14="http://schemas.microsoft.com/office/powerpoint/2010/main" val="2942855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implemented this as a modular Windows agent, built using Python, Flask API, scikit-learn, and </a:t>
            </a:r>
            <a:r>
              <a:rPr lang="en-US" dirty="0" err="1"/>
              <a:t>PyTorch</a:t>
            </a:r>
            <a:r>
              <a:rPr lang="en-US" dirty="0"/>
              <a:t>. </a:t>
            </a:r>
          </a:p>
          <a:p>
            <a:pPr marL="0" lvl="0" indent="0" algn="l" rtl="0">
              <a:spcBef>
                <a:spcPts val="0"/>
              </a:spcBef>
              <a:spcAft>
                <a:spcPts val="0"/>
              </a:spcAft>
              <a:buNone/>
            </a:pPr>
            <a:r>
              <a:rPr lang="en-US" dirty="0"/>
              <a:t>It captures events continuously, processes around 1000 to 1500 events per second, and responds in less than 2 seconds, even during active attacks.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Performance: </a:t>
            </a:r>
          </a:p>
          <a:p>
            <a:pPr marL="0" lvl="0" indent="0" algn="l" rtl="0">
              <a:spcBef>
                <a:spcPts val="0"/>
              </a:spcBef>
              <a:spcAft>
                <a:spcPts val="0"/>
              </a:spcAft>
              <a:buNone/>
            </a:pPr>
            <a:r>
              <a:rPr lang="en-US" dirty="0"/>
              <a:t>CPU consumption stays between 15% to 25%, </a:t>
            </a:r>
          </a:p>
          <a:p>
            <a:pPr marL="0" lvl="0" indent="0" algn="l" rtl="0">
              <a:spcBef>
                <a:spcPts val="0"/>
              </a:spcBef>
              <a:spcAft>
                <a:spcPts val="0"/>
              </a:spcAft>
              <a:buNone/>
            </a:pPr>
            <a:r>
              <a:rPr lang="en-US" dirty="0"/>
              <a:t>Memory around 1.2GB to 1.8GB, which is within enterprise acceptable range.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Detection Accuracy: </a:t>
            </a:r>
          </a:p>
          <a:p>
            <a:pPr marL="0" lvl="0" indent="0" algn="l" rtl="0">
              <a:spcBef>
                <a:spcPts val="0"/>
              </a:spcBef>
              <a:spcAft>
                <a:spcPts val="0"/>
              </a:spcAft>
              <a:buNone/>
            </a:pPr>
            <a:r>
              <a:rPr lang="en-US" dirty="0"/>
              <a:t>Known threats: 99.2% </a:t>
            </a:r>
          </a:p>
          <a:p>
            <a:pPr marL="0" lvl="0" indent="0" algn="l" rtl="0">
              <a:spcBef>
                <a:spcPts val="0"/>
              </a:spcBef>
              <a:spcAft>
                <a:spcPts val="0"/>
              </a:spcAft>
              <a:buNone/>
            </a:pPr>
            <a:r>
              <a:rPr lang="en-US" dirty="0"/>
              <a:t>Zero-day attacks: 85.7% </a:t>
            </a:r>
          </a:p>
          <a:p>
            <a:pPr marL="0" lvl="0" indent="0" algn="l" rtl="0">
              <a:spcBef>
                <a:spcPts val="0"/>
              </a:spcBef>
              <a:spcAft>
                <a:spcPts val="0"/>
              </a:spcAft>
              <a:buNone/>
            </a:pPr>
            <a:r>
              <a:rPr lang="en-US" dirty="0"/>
              <a:t>Fileless malware: 92.3% </a:t>
            </a:r>
          </a:p>
          <a:p>
            <a:pPr marL="0" lvl="0" indent="0" algn="l" rtl="0">
              <a:spcBef>
                <a:spcPts val="0"/>
              </a:spcBef>
              <a:spcAft>
                <a:spcPts val="0"/>
              </a:spcAft>
              <a:buNone/>
            </a:pPr>
            <a:r>
              <a:rPr lang="en-US" dirty="0"/>
              <a:t>Overall accuracy: 92.1%, which is higher than McAfee or Windows Defender.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proves our agent can run in real-world enterprise environments without slowing systems or generating excessive alerts.</a:t>
            </a:r>
            <a:endParaRPr dirty="0"/>
          </a:p>
        </p:txBody>
      </p:sp>
    </p:spTree>
    <p:extLst>
      <p:ext uri="{BB962C8B-B14F-4D97-AF65-F5344CB8AC3E}">
        <p14:creationId xmlns:p14="http://schemas.microsoft.com/office/powerpoint/2010/main" val="1522583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dirty="0"/>
              <a:t>Our testing shows that our solution significantly outperforms traditional security tools. </a:t>
            </a:r>
          </a:p>
          <a:p>
            <a:pPr marL="0" marR="0" lvl="0" indent="0" algn="l" defTabSz="914400" eaLnBrk="1" fontAlgn="auto" latinLnBrk="0" hangingPunct="1">
              <a:lnSpc>
                <a:spcPct val="100000"/>
              </a:lnSpc>
              <a:spcBef>
                <a:spcPts val="0"/>
              </a:spcBef>
              <a:spcAft>
                <a:spcPts val="0"/>
              </a:spcAft>
              <a:buClrTx/>
              <a:buSzTx/>
              <a:buFontTx/>
              <a:buNone/>
              <a:tabLst/>
              <a:defRPr/>
            </a:pPr>
            <a:r>
              <a:rPr lang="en-US" dirty="0"/>
              <a:t>Known threats: 99.2% accuracy, almost perfect isolation. </a:t>
            </a:r>
          </a:p>
          <a:p>
            <a:pPr marL="0" marR="0" lvl="0" indent="0" algn="l" defTabSz="914400" eaLnBrk="1" fontAlgn="auto" latinLnBrk="0" hangingPunct="1">
              <a:lnSpc>
                <a:spcPct val="100000"/>
              </a:lnSpc>
              <a:spcBef>
                <a:spcPts val="0"/>
              </a:spcBef>
              <a:spcAft>
                <a:spcPts val="0"/>
              </a:spcAft>
              <a:buClrTx/>
              <a:buSzTx/>
              <a:buFontTx/>
              <a:buNone/>
              <a:tabLst/>
              <a:defRPr/>
            </a:pPr>
            <a:r>
              <a:rPr lang="en-US" dirty="0"/>
              <a:t>Zero-day detection: 85.7%—much higher than signature-based systems. </a:t>
            </a:r>
          </a:p>
          <a:p>
            <a:pPr marL="0" marR="0" lvl="0" indent="0" algn="l" defTabSz="914400" eaLnBrk="1" fontAlgn="auto" latinLnBrk="0" hangingPunct="1">
              <a:lnSpc>
                <a:spcPct val="100000"/>
              </a:lnSpc>
              <a:spcBef>
                <a:spcPts val="0"/>
              </a:spcBef>
              <a:spcAft>
                <a:spcPts val="0"/>
              </a:spcAft>
              <a:buClrTx/>
              <a:buSzTx/>
              <a:buFontTx/>
              <a:buNone/>
              <a:tabLst/>
              <a:defRPr/>
            </a:pPr>
            <a:r>
              <a:rPr lang="en-US" dirty="0"/>
              <a:t>Fileless malware detection: 92.3% accuracy—critical because fileless malware leaves no trace. </a:t>
            </a:r>
          </a:p>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eaLnBrk="1" fontAlgn="auto" latinLnBrk="0" hangingPunct="1">
              <a:lnSpc>
                <a:spcPct val="100000"/>
              </a:lnSpc>
              <a:spcBef>
                <a:spcPts val="0"/>
              </a:spcBef>
              <a:spcAft>
                <a:spcPts val="0"/>
              </a:spcAft>
              <a:buClrTx/>
              <a:buSzTx/>
              <a:buFontTx/>
              <a:buNone/>
              <a:tabLst/>
              <a:defRPr/>
            </a:pPr>
            <a:r>
              <a:rPr lang="en-US" dirty="0"/>
              <a:t>We also reduced false positives to under 8%, which is a major achievement, compared to 15–20% in traditional AV. </a:t>
            </a:r>
          </a:p>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eaLnBrk="1" fontAlgn="auto" latinLnBrk="0" hangingPunct="1">
              <a:lnSpc>
                <a:spcPct val="100000"/>
              </a:lnSpc>
              <a:spcBef>
                <a:spcPts val="0"/>
              </a:spcBef>
              <a:spcAft>
                <a:spcPts val="0"/>
              </a:spcAft>
              <a:buClrTx/>
              <a:buSzTx/>
              <a:buFontTx/>
              <a:buNone/>
              <a:tabLst/>
              <a:defRPr/>
            </a:pPr>
            <a:r>
              <a:rPr lang="en-US" dirty="0"/>
              <a:t>Response time is less than 2 seconds, while most endpoint security systems take 5–10 seconds, or require manual approval.</a:t>
            </a:r>
          </a:p>
          <a:p>
            <a:pPr marL="0" marR="0" lvl="0" indent="0" algn="l" defTabSz="91440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eaLnBrk="1" fontAlgn="auto" latinLnBrk="0" hangingPunct="1">
              <a:lnSpc>
                <a:spcPct val="100000"/>
              </a:lnSpc>
              <a:spcBef>
                <a:spcPts val="0"/>
              </a:spcBef>
              <a:spcAft>
                <a:spcPts val="0"/>
              </a:spcAft>
              <a:buClrTx/>
              <a:buSzTx/>
              <a:buFontTx/>
              <a:buNone/>
              <a:tabLst/>
              <a:defRPr/>
            </a:pPr>
            <a:r>
              <a:rPr lang="en-US" dirty="0"/>
              <a:t>The automated IP blocking achieved 98.2% success, and account lockdown was the fastest, just 0.8 seconds.</a:t>
            </a:r>
            <a:endParaRPr lang="en-IN"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591966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dirty="0"/>
              <a:t>To conclude, our endpoint agent is not just a detection tool, it is a real-time, intelligent risk management system. </a:t>
            </a:r>
          </a:p>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eaLnBrk="1" fontAlgn="auto" latinLnBrk="0" hangingPunct="1">
              <a:lnSpc>
                <a:spcPct val="100000"/>
              </a:lnSpc>
              <a:spcBef>
                <a:spcPts val="0"/>
              </a:spcBef>
              <a:spcAft>
                <a:spcPts val="0"/>
              </a:spcAft>
              <a:buClrTx/>
              <a:buSzTx/>
              <a:buFontTx/>
              <a:buNone/>
              <a:tabLst/>
              <a:defRPr/>
            </a:pPr>
            <a:r>
              <a:rPr lang="en-US" dirty="0"/>
              <a:t>It combines MITRE ATT&amp;CK, ML-based anomaly detection, behavioral analysis, and risk scoring to deliver precise responses—not just blocking everything, but responding smartly based on severity. </a:t>
            </a:r>
          </a:p>
          <a:p>
            <a:pPr marL="0" marR="0" lvl="0" indent="0" algn="l" defTabSz="91440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eaLnBrk="1" fontAlgn="auto" latinLnBrk="0" hangingPunct="1">
              <a:lnSpc>
                <a:spcPct val="100000"/>
              </a:lnSpc>
              <a:spcBef>
                <a:spcPts val="0"/>
              </a:spcBef>
              <a:spcAft>
                <a:spcPts val="0"/>
              </a:spcAft>
              <a:buClrTx/>
              <a:buSzTx/>
              <a:buFontTx/>
              <a:buNone/>
              <a:tabLst/>
              <a:defRPr/>
            </a:pPr>
            <a:r>
              <a:rPr lang="en-US" dirty="0"/>
              <a:t>In the future, we aim to integrate deep learning models, support macOS, Linux, IoT, and build predictive, self-healing security systems that can automatically adjust defense levels</a:t>
            </a:r>
            <a:endParaRPr lang="en-IN"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522960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These are some of the references used in the paper</a:t>
            </a:r>
            <a:endParaRPr dirty="0"/>
          </a:p>
        </p:txBody>
      </p:sp>
    </p:spTree>
    <p:extLst>
      <p:ext uri="{BB962C8B-B14F-4D97-AF65-F5344CB8AC3E}">
        <p14:creationId xmlns:p14="http://schemas.microsoft.com/office/powerpoint/2010/main" val="2877734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We would like to thank our faculty mentor Dr. Ayesha Taranum for her guidance, Presidency University for resources and support, and IEEE CSITSS 2025 organizers for providing this opportunity.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We also thank our families and mentors for their constant encouragement.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Thank you for listening. We welcome your questions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676443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dirty="0"/>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a:t>Click to edit Master subtitle style</a:t>
            </a:r>
            <a:endParaRPr/>
          </a:p>
        </p:txBody>
      </p:sp>
      <p:pic>
        <p:nvPicPr>
          <p:cNvPr id="14" name="Google Shape;14;p2"/>
          <p:cNvPicPr preferRelativeResize="0"/>
          <p:nvPr/>
        </p:nvPicPr>
        <p:blipFill>
          <a:blip r:embed="rId2">
            <a:alphaModFix/>
          </a:blip>
          <a:stretch>
            <a:fillRect/>
          </a:stretch>
        </p:blipFill>
        <p:spPr>
          <a:xfrm>
            <a:off x="3463213" y="4730051"/>
            <a:ext cx="2217574" cy="337250"/>
          </a:xfrm>
          <a:prstGeom prst="rect">
            <a:avLst/>
          </a:prstGeom>
          <a:noFill/>
          <a:ln>
            <a:noFill/>
          </a:ln>
        </p:spPr>
      </p:pic>
    </p:spTree>
    <p:extLst>
      <p:ext uri="{BB962C8B-B14F-4D97-AF65-F5344CB8AC3E}">
        <p14:creationId xmlns:p14="http://schemas.microsoft.com/office/powerpoint/2010/main" val="376347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53250" y="222097"/>
            <a:ext cx="85206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dirty="0"/>
          </a:p>
        </p:txBody>
      </p:sp>
      <p:sp>
        <p:nvSpPr>
          <p:cNvPr id="17" name="Google Shape;17;p3"/>
          <p:cNvSpPr txBox="1">
            <a:spLocks noGrp="1"/>
          </p:cNvSpPr>
          <p:nvPr>
            <p:ph type="body" idx="1"/>
          </p:nvPr>
        </p:nvSpPr>
        <p:spPr>
          <a:xfrm>
            <a:off x="253250" y="1857500"/>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pic>
        <p:nvPicPr>
          <p:cNvPr id="19" name="Google Shape;19;p3"/>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8" name="Group 7">
            <a:extLst>
              <a:ext uri="{FF2B5EF4-FFF2-40B4-BE49-F238E27FC236}">
                <a16:creationId xmlns:a16="http://schemas.microsoft.com/office/drawing/2014/main" id="{1A191C25-1A3C-0ABA-1BDF-1963DBAC3409}"/>
              </a:ext>
            </a:extLst>
          </p:cNvPr>
          <p:cNvGrpSpPr/>
          <p:nvPr/>
        </p:nvGrpSpPr>
        <p:grpSpPr>
          <a:xfrm>
            <a:off x="0" y="0"/>
            <a:ext cx="9144000" cy="5143500"/>
            <a:chOff x="0" y="0"/>
            <a:chExt cx="9144000" cy="5143500"/>
          </a:xfrm>
        </p:grpSpPr>
        <p:sp>
          <p:nvSpPr>
            <p:cNvPr id="7" name="Rectangle 6">
              <a:extLst>
                <a:ext uri="{FF2B5EF4-FFF2-40B4-BE49-F238E27FC236}">
                  <a16:creationId xmlns:a16="http://schemas.microsoft.com/office/drawing/2014/main" id="{C8D4B067-D304-59F5-C1BC-25D90471A9F8}"/>
                </a:ext>
              </a:extLst>
            </p:cNvPr>
            <p:cNvSpPr/>
            <p:nvPr/>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3" name="Straight Connector 2">
              <a:extLst>
                <a:ext uri="{FF2B5EF4-FFF2-40B4-BE49-F238E27FC236}">
                  <a16:creationId xmlns:a16="http://schemas.microsoft.com/office/drawing/2014/main" id="{88F6D0E5-7268-8606-D4CC-27D4078965D9}"/>
                </a:ext>
              </a:extLst>
            </p:cNvPr>
            <p:cNvCxnSpPr>
              <a:cxnSpLocks/>
            </p:cNvCxnSpPr>
            <p:nvPr/>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grpSp>
        <p:nvGrpSpPr>
          <p:cNvPr id="2" name="Group 1">
            <a:extLst>
              <a:ext uri="{FF2B5EF4-FFF2-40B4-BE49-F238E27FC236}">
                <a16:creationId xmlns:a16="http://schemas.microsoft.com/office/drawing/2014/main" id="{0263CC78-10B0-E5BA-47F5-15C9B748347C}"/>
              </a:ext>
            </a:extLst>
          </p:cNvPr>
          <p:cNvGrpSpPr/>
          <p:nvPr userDrawn="1"/>
        </p:nvGrpSpPr>
        <p:grpSpPr>
          <a:xfrm>
            <a:off x="0" y="0"/>
            <a:ext cx="9144000" cy="5143500"/>
            <a:chOff x="0" y="0"/>
            <a:chExt cx="9144000" cy="5143500"/>
          </a:xfrm>
        </p:grpSpPr>
        <p:sp>
          <p:nvSpPr>
            <p:cNvPr id="4" name="Rectangle 3">
              <a:extLst>
                <a:ext uri="{FF2B5EF4-FFF2-40B4-BE49-F238E27FC236}">
                  <a16:creationId xmlns:a16="http://schemas.microsoft.com/office/drawing/2014/main" id="{6FC4629D-AC23-853E-90AD-56F0AD376787}"/>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BE963C52-968A-2F5C-BDC2-4D4CD578373B}"/>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6" name="Google Shape;8;p1">
            <a:extLst>
              <a:ext uri="{FF2B5EF4-FFF2-40B4-BE49-F238E27FC236}">
                <a16:creationId xmlns:a16="http://schemas.microsoft.com/office/drawing/2014/main" id="{5EC3DC12-8BB2-79B9-3760-17C87E940529}"/>
              </a:ext>
            </a:extLst>
          </p:cNvPr>
          <p:cNvSpPr txBox="1">
            <a:spLocks/>
          </p:cNvSpPr>
          <p:nvPr userDrawn="1"/>
        </p:nvSpPr>
        <p:spPr>
          <a:xfrm>
            <a:off x="8614962" y="4830203"/>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tx1"/>
                </a:solidFill>
                <a:latin typeface="Times New Roman" panose="02020603050405020304" pitchFamily="18" charset="0"/>
                <a:ea typeface="Arial"/>
                <a:cs typeface="Times New Roman" panose="02020603050405020304" pitchFamily="18" charset="0"/>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
        <p:nvSpPr>
          <p:cNvPr id="9" name="Date Placeholder 2">
            <a:extLst>
              <a:ext uri="{FF2B5EF4-FFF2-40B4-BE49-F238E27FC236}">
                <a16:creationId xmlns:a16="http://schemas.microsoft.com/office/drawing/2014/main" id="{D4C9F16B-ACFC-12CA-3C33-C5437790CE26}"/>
              </a:ext>
            </a:extLst>
          </p:cNvPr>
          <p:cNvSpPr>
            <a:spLocks noGrp="1"/>
          </p:cNvSpPr>
          <p:nvPr>
            <p:ph type="dt" sz="half" idx="2"/>
          </p:nvPr>
        </p:nvSpPr>
        <p:spPr>
          <a:xfrm>
            <a:off x="270841" y="4852555"/>
            <a:ext cx="2057400" cy="274637"/>
          </a:xfrm>
          <a:prstGeom prst="rect">
            <a:avLst/>
          </a:prstGeom>
        </p:spPr>
        <p:txBody>
          <a:bodyPr vert="horz" lIns="91440" tIns="45720" rIns="91440" bIns="45720" rtlCol="0" anchor="ctr"/>
          <a:lstStyle>
            <a:lvl1pPr algn="l">
              <a:defRPr sz="1000" b="0">
                <a:solidFill>
                  <a:schemeClr val="tx1"/>
                </a:solidFill>
                <a:latin typeface="Times New Roman" panose="02020603050405020304" pitchFamily="18" charset="0"/>
                <a:cs typeface="Times New Roman" panose="02020603050405020304" pitchFamily="18" charset="0"/>
              </a:defRPr>
            </a:lvl1pPr>
          </a:lstStyle>
          <a:p>
            <a:fld id="{E2075C83-F5A6-4499-B959-6E74BC083D29}" type="datetime5">
              <a:rPr lang="en-IN" smtClean="0"/>
              <a:t>20-Nov-25</a:t>
            </a:fld>
            <a:endParaRPr lang="en-IN" dirty="0"/>
          </a:p>
        </p:txBody>
      </p:sp>
      <p:sp>
        <p:nvSpPr>
          <p:cNvPr id="10" name="Footer Placeholder 3">
            <a:extLst>
              <a:ext uri="{FF2B5EF4-FFF2-40B4-BE49-F238E27FC236}">
                <a16:creationId xmlns:a16="http://schemas.microsoft.com/office/drawing/2014/main" id="{041ECF7B-5B88-FE39-9C3F-2178C7A5F247}"/>
              </a:ext>
            </a:extLst>
          </p:cNvPr>
          <p:cNvSpPr>
            <a:spLocks noGrp="1"/>
          </p:cNvSpPr>
          <p:nvPr>
            <p:ph type="ftr" sz="quarter" idx="3"/>
          </p:nvPr>
        </p:nvSpPr>
        <p:spPr>
          <a:xfrm>
            <a:off x="3028950" y="4899646"/>
            <a:ext cx="3086100" cy="274637"/>
          </a:xfrm>
          <a:prstGeom prst="rect">
            <a:avLst/>
          </a:prstGeom>
        </p:spPr>
        <p:txBody>
          <a:bodyPr vert="horz" lIns="91440" tIns="45720" rIns="91440" bIns="45720" rtlCol="0" anchor="ctr"/>
          <a:lstStyle>
            <a:lvl1pPr algn="ctr">
              <a:defRPr sz="1000">
                <a:solidFill>
                  <a:schemeClr val="tx1"/>
                </a:solidFill>
                <a:latin typeface="Times New Roman" panose="02020603050405020304" pitchFamily="18" charset="0"/>
                <a:cs typeface="Times New Roman" panose="02020603050405020304" pitchFamily="18" charset="0"/>
              </a:defRPr>
            </a:lvl1p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3995734179"/>
      </p:ext>
    </p:extLst>
  </p:cSld>
  <p:clrMapOvr>
    <a:masterClrMapping/>
  </p:clrMapOvr>
  <p:extLst>
    <p:ext uri="{DCECCB84-F9BA-43D5-87BE-67443E8EF086}">
      <p15:sldGuideLst xmlns:p15="http://schemas.microsoft.com/office/powerpoint/2012/main">
        <p15:guide id="1" orient="horz" pos="41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71238" y="219909"/>
            <a:ext cx="85206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dirty="0"/>
          </a:p>
        </p:txBody>
      </p:sp>
      <p:sp>
        <p:nvSpPr>
          <p:cNvPr id="22" name="Google Shape;22;p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3" name="Google Shape;23;p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pic>
        <p:nvPicPr>
          <p:cNvPr id="2" name="Google Shape;19;p3">
            <a:extLst>
              <a:ext uri="{FF2B5EF4-FFF2-40B4-BE49-F238E27FC236}">
                <a16:creationId xmlns:a16="http://schemas.microsoft.com/office/drawing/2014/main" id="{62A04933-B448-B54B-368F-D9864F99C3A4}"/>
              </a:ext>
            </a:extLst>
          </p:cNvPr>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id="{2A9F246C-D9AB-75C5-258E-893E4432839C}"/>
              </a:ext>
            </a:extLst>
          </p:cNvPr>
          <p:cNvGrpSpPr/>
          <p:nvPr/>
        </p:nvGrpSpPr>
        <p:grpSpPr>
          <a:xfrm>
            <a:off x="0" y="0"/>
            <a:ext cx="9144000" cy="5143500"/>
            <a:chOff x="0" y="0"/>
            <a:chExt cx="9144000" cy="5143500"/>
          </a:xfrm>
        </p:grpSpPr>
        <p:sp>
          <p:nvSpPr>
            <p:cNvPr id="4" name="Rectangle 3">
              <a:extLst>
                <a:ext uri="{FF2B5EF4-FFF2-40B4-BE49-F238E27FC236}">
                  <a16:creationId xmlns:a16="http://schemas.microsoft.com/office/drawing/2014/main" id="{8D5432EC-B246-6FD2-286E-8AEAD1C2DE16}"/>
                </a:ext>
              </a:extLst>
            </p:cNvPr>
            <p:cNvSpPr/>
            <p:nvPr/>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4A779A5B-3A79-3A99-AE59-E12991F27693}"/>
                </a:ext>
              </a:extLst>
            </p:cNvPr>
            <p:cNvCxnSpPr>
              <a:cxnSpLocks/>
            </p:cNvCxnSpPr>
            <p:nvPr/>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6" name="Google Shape;8;p1">
            <a:extLst>
              <a:ext uri="{FF2B5EF4-FFF2-40B4-BE49-F238E27FC236}">
                <a16:creationId xmlns:a16="http://schemas.microsoft.com/office/drawing/2014/main" id="{1D879D0A-7418-69CB-9A43-6BAFBAF496D7}"/>
              </a:ext>
            </a:extLst>
          </p:cNvPr>
          <p:cNvSpPr txBox="1">
            <a:spLocks/>
          </p:cNvSpPr>
          <p:nvPr userDrawn="1"/>
        </p:nvSpPr>
        <p:spPr>
          <a:xfrm>
            <a:off x="8614962" y="4826589"/>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tx1"/>
                </a:solidFill>
                <a:latin typeface="Times New Roman" panose="02020603050405020304" pitchFamily="18" charset="0"/>
                <a:ea typeface="Arial"/>
                <a:cs typeface="Times New Roman" panose="02020603050405020304" pitchFamily="18" charset="0"/>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
        <p:nvSpPr>
          <p:cNvPr id="7" name="Date Placeholder 2">
            <a:extLst>
              <a:ext uri="{FF2B5EF4-FFF2-40B4-BE49-F238E27FC236}">
                <a16:creationId xmlns:a16="http://schemas.microsoft.com/office/drawing/2014/main" id="{A24F48F9-497B-057E-C508-35B509C33590}"/>
              </a:ext>
            </a:extLst>
          </p:cNvPr>
          <p:cNvSpPr>
            <a:spLocks noGrp="1"/>
          </p:cNvSpPr>
          <p:nvPr>
            <p:ph type="dt" sz="half" idx="13"/>
          </p:nvPr>
        </p:nvSpPr>
        <p:spPr>
          <a:xfrm>
            <a:off x="270841" y="4848941"/>
            <a:ext cx="2057400" cy="274637"/>
          </a:xfrm>
          <a:prstGeom prst="rect">
            <a:avLst/>
          </a:prstGeom>
        </p:spPr>
        <p:txBody>
          <a:bodyPr vert="horz" lIns="91440" tIns="45720" rIns="91440" bIns="45720" rtlCol="0" anchor="ctr"/>
          <a:lstStyle>
            <a:lvl1pPr algn="l">
              <a:defRPr sz="1000" b="0">
                <a:solidFill>
                  <a:schemeClr val="tx1"/>
                </a:solidFill>
                <a:latin typeface="Times New Roman" panose="02020603050405020304" pitchFamily="18" charset="0"/>
                <a:cs typeface="Times New Roman" panose="02020603050405020304" pitchFamily="18" charset="0"/>
              </a:defRPr>
            </a:lvl1pPr>
          </a:lstStyle>
          <a:p>
            <a:fld id="{9680DAE9-301B-4FFB-A3E7-EB517FF29587}" type="datetime5">
              <a:rPr lang="en-IN" smtClean="0"/>
              <a:t>20-Nov-25</a:t>
            </a:fld>
            <a:endParaRPr lang="en-IN" dirty="0"/>
          </a:p>
        </p:txBody>
      </p:sp>
      <p:sp>
        <p:nvSpPr>
          <p:cNvPr id="8" name="Footer Placeholder 3">
            <a:extLst>
              <a:ext uri="{FF2B5EF4-FFF2-40B4-BE49-F238E27FC236}">
                <a16:creationId xmlns:a16="http://schemas.microsoft.com/office/drawing/2014/main" id="{7F4FD85A-A8C0-5B11-3794-7697B78AE6D6}"/>
              </a:ext>
            </a:extLst>
          </p:cNvPr>
          <p:cNvSpPr>
            <a:spLocks noGrp="1"/>
          </p:cNvSpPr>
          <p:nvPr>
            <p:ph type="ftr" sz="quarter" idx="3"/>
          </p:nvPr>
        </p:nvSpPr>
        <p:spPr>
          <a:xfrm>
            <a:off x="3028950" y="4896032"/>
            <a:ext cx="3086100" cy="274637"/>
          </a:xfrm>
          <a:prstGeom prst="rect">
            <a:avLst/>
          </a:prstGeom>
        </p:spPr>
        <p:txBody>
          <a:bodyPr vert="horz" lIns="91440" tIns="45720" rIns="91440" bIns="45720" rtlCol="0" anchor="ctr"/>
          <a:lstStyle>
            <a:lvl1pPr algn="ctr">
              <a:defRPr sz="1000">
                <a:solidFill>
                  <a:schemeClr val="tx1"/>
                </a:solidFill>
                <a:latin typeface="Times New Roman" panose="02020603050405020304" pitchFamily="18" charset="0"/>
                <a:cs typeface="Times New Roman" panose="02020603050405020304" pitchFamily="18" charset="0"/>
              </a:defRPr>
            </a:lvl1p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602459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pic>
        <p:nvPicPr>
          <p:cNvPr id="2" name="Google Shape;19;p3">
            <a:extLst>
              <a:ext uri="{FF2B5EF4-FFF2-40B4-BE49-F238E27FC236}">
                <a16:creationId xmlns:a16="http://schemas.microsoft.com/office/drawing/2014/main" id="{F4586A1D-9758-264A-C18A-C7281B9C77C6}"/>
              </a:ext>
            </a:extLst>
          </p:cNvPr>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id="{C6F9681E-7DB4-ECC6-58A3-5C8DA42E0C32}"/>
              </a:ext>
            </a:extLst>
          </p:cNvPr>
          <p:cNvGrpSpPr/>
          <p:nvPr/>
        </p:nvGrpSpPr>
        <p:grpSpPr>
          <a:xfrm>
            <a:off x="0" y="0"/>
            <a:ext cx="9144000" cy="5143500"/>
            <a:chOff x="0" y="0"/>
            <a:chExt cx="9144000" cy="5143500"/>
          </a:xfrm>
        </p:grpSpPr>
        <p:sp>
          <p:nvSpPr>
            <p:cNvPr id="4" name="Rectangle 3">
              <a:extLst>
                <a:ext uri="{FF2B5EF4-FFF2-40B4-BE49-F238E27FC236}">
                  <a16:creationId xmlns:a16="http://schemas.microsoft.com/office/drawing/2014/main" id="{830C0281-BB4E-BC14-1020-F038B28DD426}"/>
                </a:ext>
              </a:extLst>
            </p:cNvPr>
            <p:cNvSpPr/>
            <p:nvPr/>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30FD36F3-82E4-9820-7B3C-EEEDB9BF4D4E}"/>
                </a:ext>
              </a:extLst>
            </p:cNvPr>
            <p:cNvCxnSpPr>
              <a:cxnSpLocks/>
            </p:cNvCxnSpPr>
            <p:nvPr/>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pic>
        <p:nvPicPr>
          <p:cNvPr id="6" name="Google Shape;19;p3">
            <a:extLst>
              <a:ext uri="{FF2B5EF4-FFF2-40B4-BE49-F238E27FC236}">
                <a16:creationId xmlns:a16="http://schemas.microsoft.com/office/drawing/2014/main" id="{7073ACB2-A7FE-BCC9-AAFE-2D9398682FFE}"/>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7" name="Group 6">
            <a:extLst>
              <a:ext uri="{FF2B5EF4-FFF2-40B4-BE49-F238E27FC236}">
                <a16:creationId xmlns:a16="http://schemas.microsoft.com/office/drawing/2014/main" id="{5467D4B4-9E7D-0928-5440-2509619A5060}"/>
              </a:ext>
            </a:extLst>
          </p:cNvPr>
          <p:cNvGrpSpPr/>
          <p:nvPr userDrawn="1"/>
        </p:nvGrpSpPr>
        <p:grpSpPr>
          <a:xfrm>
            <a:off x="0" y="0"/>
            <a:ext cx="9144000" cy="5143500"/>
            <a:chOff x="0" y="0"/>
            <a:chExt cx="9144000" cy="5143500"/>
          </a:xfrm>
        </p:grpSpPr>
        <p:sp>
          <p:nvSpPr>
            <p:cNvPr id="8" name="Rectangle 7">
              <a:extLst>
                <a:ext uri="{FF2B5EF4-FFF2-40B4-BE49-F238E27FC236}">
                  <a16:creationId xmlns:a16="http://schemas.microsoft.com/office/drawing/2014/main" id="{B1A216BD-6124-D613-A6D5-50A83DF9EFBB}"/>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4849D483-8952-9118-C299-7DA9CBFC2310}"/>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10" name="Google Shape;8;p1">
            <a:extLst>
              <a:ext uri="{FF2B5EF4-FFF2-40B4-BE49-F238E27FC236}">
                <a16:creationId xmlns:a16="http://schemas.microsoft.com/office/drawing/2014/main" id="{A17D7C60-21AD-BA8A-0330-159A0DD5FB14}"/>
              </a:ext>
            </a:extLst>
          </p:cNvPr>
          <p:cNvSpPr txBox="1">
            <a:spLocks/>
          </p:cNvSpPr>
          <p:nvPr userDrawn="1"/>
        </p:nvSpPr>
        <p:spPr>
          <a:xfrm>
            <a:off x="8614962" y="4826589"/>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tx1"/>
                </a:solidFill>
                <a:latin typeface="Times New Roman" panose="02020603050405020304" pitchFamily="18" charset="0"/>
                <a:ea typeface="Arial"/>
                <a:cs typeface="Times New Roman" panose="02020603050405020304" pitchFamily="18" charset="0"/>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
        <p:nvSpPr>
          <p:cNvPr id="11" name="Date Placeholder 2">
            <a:extLst>
              <a:ext uri="{FF2B5EF4-FFF2-40B4-BE49-F238E27FC236}">
                <a16:creationId xmlns:a16="http://schemas.microsoft.com/office/drawing/2014/main" id="{4BFBA28E-8C67-BB07-0C3C-99D1FA5371FD}"/>
              </a:ext>
            </a:extLst>
          </p:cNvPr>
          <p:cNvSpPr>
            <a:spLocks noGrp="1"/>
          </p:cNvSpPr>
          <p:nvPr>
            <p:ph type="dt" sz="half" idx="2"/>
          </p:nvPr>
        </p:nvSpPr>
        <p:spPr>
          <a:xfrm>
            <a:off x="270841" y="4848941"/>
            <a:ext cx="2057400" cy="274637"/>
          </a:xfrm>
          <a:prstGeom prst="rect">
            <a:avLst/>
          </a:prstGeom>
        </p:spPr>
        <p:txBody>
          <a:bodyPr vert="horz" lIns="91440" tIns="45720" rIns="91440" bIns="45720" rtlCol="0" anchor="ctr"/>
          <a:lstStyle>
            <a:lvl1pPr algn="l">
              <a:defRPr sz="1000" b="0">
                <a:solidFill>
                  <a:schemeClr val="tx1"/>
                </a:solidFill>
                <a:latin typeface="Times New Roman" panose="02020603050405020304" pitchFamily="18" charset="0"/>
                <a:cs typeface="Times New Roman" panose="02020603050405020304" pitchFamily="18" charset="0"/>
              </a:defRPr>
            </a:lvl1pPr>
          </a:lstStyle>
          <a:p>
            <a:fld id="{8637B235-6163-4812-960B-949F7BF2AC5D}" type="datetime5">
              <a:rPr lang="en-IN" smtClean="0"/>
              <a:t>20-Nov-25</a:t>
            </a:fld>
            <a:endParaRPr lang="en-IN" dirty="0"/>
          </a:p>
        </p:txBody>
      </p:sp>
      <p:sp>
        <p:nvSpPr>
          <p:cNvPr id="12" name="Footer Placeholder 3">
            <a:extLst>
              <a:ext uri="{FF2B5EF4-FFF2-40B4-BE49-F238E27FC236}">
                <a16:creationId xmlns:a16="http://schemas.microsoft.com/office/drawing/2014/main" id="{DECFC863-C3E3-D3DC-72F2-819E30530F27}"/>
              </a:ext>
            </a:extLst>
          </p:cNvPr>
          <p:cNvSpPr>
            <a:spLocks noGrp="1"/>
          </p:cNvSpPr>
          <p:nvPr>
            <p:ph type="ftr" sz="quarter" idx="3"/>
          </p:nvPr>
        </p:nvSpPr>
        <p:spPr>
          <a:xfrm>
            <a:off x="3028950" y="4896032"/>
            <a:ext cx="3086100" cy="274637"/>
          </a:xfrm>
          <a:prstGeom prst="rect">
            <a:avLst/>
          </a:prstGeom>
        </p:spPr>
        <p:txBody>
          <a:bodyPr vert="horz" lIns="91440" tIns="45720" rIns="91440" bIns="45720" rtlCol="0" anchor="ctr"/>
          <a:lstStyle>
            <a:lvl1pPr algn="ctr">
              <a:defRPr sz="1000">
                <a:solidFill>
                  <a:schemeClr val="tx1"/>
                </a:solidFill>
                <a:latin typeface="Times New Roman" panose="02020603050405020304" pitchFamily="18" charset="0"/>
                <a:cs typeface="Times New Roman" panose="02020603050405020304" pitchFamily="18" charset="0"/>
              </a:defRPr>
            </a:lvl1p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2043685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30" name="Google Shape;30;p6"/>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pic>
        <p:nvPicPr>
          <p:cNvPr id="2" name="Google Shape;19;p3">
            <a:extLst>
              <a:ext uri="{FF2B5EF4-FFF2-40B4-BE49-F238E27FC236}">
                <a16:creationId xmlns:a16="http://schemas.microsoft.com/office/drawing/2014/main" id="{63E1900F-C300-4F53-0B26-090E6E9EE205}"/>
              </a:ext>
            </a:extLst>
          </p:cNvPr>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id="{620A2E88-C0C5-F3E1-BFDE-CCAFCC8CAECD}"/>
              </a:ext>
            </a:extLst>
          </p:cNvPr>
          <p:cNvGrpSpPr/>
          <p:nvPr/>
        </p:nvGrpSpPr>
        <p:grpSpPr>
          <a:xfrm>
            <a:off x="0" y="0"/>
            <a:ext cx="9144000" cy="5143500"/>
            <a:chOff x="0" y="0"/>
            <a:chExt cx="9144000" cy="5143500"/>
          </a:xfrm>
        </p:grpSpPr>
        <p:sp>
          <p:nvSpPr>
            <p:cNvPr id="4" name="Rectangle 3">
              <a:extLst>
                <a:ext uri="{FF2B5EF4-FFF2-40B4-BE49-F238E27FC236}">
                  <a16:creationId xmlns:a16="http://schemas.microsoft.com/office/drawing/2014/main" id="{78143065-A6F6-FC7E-E618-2984DF46D117}"/>
                </a:ext>
              </a:extLst>
            </p:cNvPr>
            <p:cNvSpPr/>
            <p:nvPr/>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1603F88D-723E-D5A2-5042-938B1131CB19}"/>
                </a:ext>
              </a:extLst>
            </p:cNvPr>
            <p:cNvCxnSpPr>
              <a:cxnSpLocks/>
            </p:cNvCxnSpPr>
            <p:nvPr/>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pic>
        <p:nvPicPr>
          <p:cNvPr id="6" name="Google Shape;19;p3">
            <a:extLst>
              <a:ext uri="{FF2B5EF4-FFF2-40B4-BE49-F238E27FC236}">
                <a16:creationId xmlns:a16="http://schemas.microsoft.com/office/drawing/2014/main" id="{7099DD98-CD03-E365-E6CA-A4811FAE3067}"/>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7" name="Group 6">
            <a:extLst>
              <a:ext uri="{FF2B5EF4-FFF2-40B4-BE49-F238E27FC236}">
                <a16:creationId xmlns:a16="http://schemas.microsoft.com/office/drawing/2014/main" id="{87172B23-99BC-B0F6-281F-CEA0D19AD725}"/>
              </a:ext>
            </a:extLst>
          </p:cNvPr>
          <p:cNvGrpSpPr/>
          <p:nvPr userDrawn="1"/>
        </p:nvGrpSpPr>
        <p:grpSpPr>
          <a:xfrm>
            <a:off x="0" y="0"/>
            <a:ext cx="9144000" cy="5143500"/>
            <a:chOff x="0" y="0"/>
            <a:chExt cx="9144000" cy="5143500"/>
          </a:xfrm>
        </p:grpSpPr>
        <p:sp>
          <p:nvSpPr>
            <p:cNvPr id="8" name="Rectangle 7">
              <a:extLst>
                <a:ext uri="{FF2B5EF4-FFF2-40B4-BE49-F238E27FC236}">
                  <a16:creationId xmlns:a16="http://schemas.microsoft.com/office/drawing/2014/main" id="{80AEFFB2-4B7C-9ACA-DD0E-E6FD153366BD}"/>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1927DBCC-7B2A-DFD2-F8A1-D37ECEDC9755}"/>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10" name="Google Shape;8;p1">
            <a:extLst>
              <a:ext uri="{FF2B5EF4-FFF2-40B4-BE49-F238E27FC236}">
                <a16:creationId xmlns:a16="http://schemas.microsoft.com/office/drawing/2014/main" id="{EAD15B80-365B-2B57-4ADD-41620D2CB236}"/>
              </a:ext>
            </a:extLst>
          </p:cNvPr>
          <p:cNvSpPr txBox="1">
            <a:spLocks/>
          </p:cNvSpPr>
          <p:nvPr userDrawn="1"/>
        </p:nvSpPr>
        <p:spPr>
          <a:xfrm>
            <a:off x="8614962" y="4826589"/>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tx1"/>
                </a:solidFill>
                <a:latin typeface="Times New Roman" panose="02020603050405020304" pitchFamily="18" charset="0"/>
                <a:ea typeface="Arial"/>
                <a:cs typeface="Times New Roman" panose="02020603050405020304" pitchFamily="18" charset="0"/>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
        <p:nvSpPr>
          <p:cNvPr id="11" name="Date Placeholder 2">
            <a:extLst>
              <a:ext uri="{FF2B5EF4-FFF2-40B4-BE49-F238E27FC236}">
                <a16:creationId xmlns:a16="http://schemas.microsoft.com/office/drawing/2014/main" id="{22AB06F7-A047-6413-979A-C07CC775C22F}"/>
              </a:ext>
            </a:extLst>
          </p:cNvPr>
          <p:cNvSpPr>
            <a:spLocks noGrp="1"/>
          </p:cNvSpPr>
          <p:nvPr>
            <p:ph type="dt" sz="half" idx="2"/>
          </p:nvPr>
        </p:nvSpPr>
        <p:spPr>
          <a:xfrm>
            <a:off x="270841" y="4848941"/>
            <a:ext cx="2057400" cy="274637"/>
          </a:xfrm>
          <a:prstGeom prst="rect">
            <a:avLst/>
          </a:prstGeom>
        </p:spPr>
        <p:txBody>
          <a:bodyPr vert="horz" lIns="91440" tIns="45720" rIns="91440" bIns="45720" rtlCol="0" anchor="ctr"/>
          <a:lstStyle>
            <a:lvl1pPr algn="l">
              <a:defRPr sz="1000" b="0">
                <a:solidFill>
                  <a:schemeClr val="tx1"/>
                </a:solidFill>
                <a:latin typeface="Times New Roman" panose="02020603050405020304" pitchFamily="18" charset="0"/>
                <a:cs typeface="Times New Roman" panose="02020603050405020304" pitchFamily="18" charset="0"/>
              </a:defRPr>
            </a:lvl1pPr>
          </a:lstStyle>
          <a:p>
            <a:fld id="{A20DEF24-C31D-45D4-8D9D-98B53784EE1B}" type="datetime5">
              <a:rPr lang="en-IN" smtClean="0"/>
              <a:t>20-Nov-25</a:t>
            </a:fld>
            <a:endParaRPr lang="en-IN" dirty="0"/>
          </a:p>
        </p:txBody>
      </p:sp>
      <p:sp>
        <p:nvSpPr>
          <p:cNvPr id="12" name="Footer Placeholder 3">
            <a:extLst>
              <a:ext uri="{FF2B5EF4-FFF2-40B4-BE49-F238E27FC236}">
                <a16:creationId xmlns:a16="http://schemas.microsoft.com/office/drawing/2014/main" id="{30A7DF04-C945-7424-8EA5-C6F98EAFFD79}"/>
              </a:ext>
            </a:extLst>
          </p:cNvPr>
          <p:cNvSpPr>
            <a:spLocks noGrp="1"/>
          </p:cNvSpPr>
          <p:nvPr>
            <p:ph type="ftr" sz="quarter" idx="3"/>
          </p:nvPr>
        </p:nvSpPr>
        <p:spPr>
          <a:xfrm>
            <a:off x="3028950" y="4896032"/>
            <a:ext cx="3086100" cy="274637"/>
          </a:xfrm>
          <a:prstGeom prst="rect">
            <a:avLst/>
          </a:prstGeom>
        </p:spPr>
        <p:txBody>
          <a:bodyPr vert="horz" lIns="91440" tIns="45720" rIns="91440" bIns="45720" rtlCol="0" anchor="ctr"/>
          <a:lstStyle>
            <a:lvl1pPr algn="ctr">
              <a:defRPr sz="1000">
                <a:solidFill>
                  <a:schemeClr val="tx1"/>
                </a:solidFill>
                <a:latin typeface="Times New Roman" panose="02020603050405020304" pitchFamily="18" charset="0"/>
                <a:cs typeface="Times New Roman" panose="02020603050405020304" pitchFamily="18" charset="0"/>
              </a:defRPr>
            </a:lvl1p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2661751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a:t>Click to edit Master title style</a:t>
            </a:r>
            <a:endParaRPr/>
          </a:p>
        </p:txBody>
      </p:sp>
      <p:pic>
        <p:nvPicPr>
          <p:cNvPr id="2" name="Google Shape;19;p3">
            <a:extLst>
              <a:ext uri="{FF2B5EF4-FFF2-40B4-BE49-F238E27FC236}">
                <a16:creationId xmlns:a16="http://schemas.microsoft.com/office/drawing/2014/main" id="{4C6107CA-D479-DBD9-442B-86DAA3339DF7}"/>
              </a:ext>
            </a:extLst>
          </p:cNvPr>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id="{DF8C45B5-43CE-0687-BBDC-28955F0D65E0}"/>
              </a:ext>
            </a:extLst>
          </p:cNvPr>
          <p:cNvGrpSpPr/>
          <p:nvPr/>
        </p:nvGrpSpPr>
        <p:grpSpPr>
          <a:xfrm>
            <a:off x="0" y="0"/>
            <a:ext cx="9144000" cy="5143500"/>
            <a:chOff x="0" y="0"/>
            <a:chExt cx="9144000" cy="5143500"/>
          </a:xfrm>
        </p:grpSpPr>
        <p:sp>
          <p:nvSpPr>
            <p:cNvPr id="4" name="Rectangle 3">
              <a:extLst>
                <a:ext uri="{FF2B5EF4-FFF2-40B4-BE49-F238E27FC236}">
                  <a16:creationId xmlns:a16="http://schemas.microsoft.com/office/drawing/2014/main" id="{5DF10958-A5EA-E472-8211-7F522F2CB3A3}"/>
                </a:ext>
              </a:extLst>
            </p:cNvPr>
            <p:cNvSpPr/>
            <p:nvPr/>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9E3FEB3E-4F61-44F2-9AAE-1A3F0BC4987E}"/>
                </a:ext>
              </a:extLst>
            </p:cNvPr>
            <p:cNvCxnSpPr>
              <a:cxnSpLocks/>
            </p:cNvCxnSpPr>
            <p:nvPr/>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pic>
        <p:nvPicPr>
          <p:cNvPr id="6" name="Google Shape;19;p3">
            <a:extLst>
              <a:ext uri="{FF2B5EF4-FFF2-40B4-BE49-F238E27FC236}">
                <a16:creationId xmlns:a16="http://schemas.microsoft.com/office/drawing/2014/main" id="{0A62CCA9-83E7-5917-888F-322F1C564F8E}"/>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7" name="Group 6">
            <a:extLst>
              <a:ext uri="{FF2B5EF4-FFF2-40B4-BE49-F238E27FC236}">
                <a16:creationId xmlns:a16="http://schemas.microsoft.com/office/drawing/2014/main" id="{B7313D71-753C-B876-01DF-EDDEEA190576}"/>
              </a:ext>
            </a:extLst>
          </p:cNvPr>
          <p:cNvGrpSpPr/>
          <p:nvPr userDrawn="1"/>
        </p:nvGrpSpPr>
        <p:grpSpPr>
          <a:xfrm>
            <a:off x="0" y="0"/>
            <a:ext cx="9144000" cy="5143500"/>
            <a:chOff x="0" y="0"/>
            <a:chExt cx="9144000" cy="5143500"/>
          </a:xfrm>
        </p:grpSpPr>
        <p:sp>
          <p:nvSpPr>
            <p:cNvPr id="8" name="Rectangle 7">
              <a:extLst>
                <a:ext uri="{FF2B5EF4-FFF2-40B4-BE49-F238E27FC236}">
                  <a16:creationId xmlns:a16="http://schemas.microsoft.com/office/drawing/2014/main" id="{8B58355E-3A9F-C1A3-5835-28C00ADF4287}"/>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5CF11DBC-CF9F-6444-15B8-6F28A5669370}"/>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10" name="Google Shape;8;p1">
            <a:extLst>
              <a:ext uri="{FF2B5EF4-FFF2-40B4-BE49-F238E27FC236}">
                <a16:creationId xmlns:a16="http://schemas.microsoft.com/office/drawing/2014/main" id="{0292B405-FF0E-8727-2923-ECC1B4DF9A8C}"/>
              </a:ext>
            </a:extLst>
          </p:cNvPr>
          <p:cNvSpPr txBox="1">
            <a:spLocks noGrp="1"/>
          </p:cNvSpPr>
          <p:nvPr>
            <p:ph type="sldNum" idx="12"/>
          </p:nvPr>
        </p:nvSpPr>
        <p:spPr>
          <a:xfrm>
            <a:off x="8614962" y="482658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tx1"/>
                </a:solidFill>
                <a:latin typeface="Times New Roman" panose="02020603050405020304" pitchFamily="18" charset="0"/>
                <a:cs typeface="Times New Roman" panose="02020603050405020304" pitchFamily="18" charset="0"/>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GB" smtClean="0"/>
              <a:pPr/>
              <a:t>‹#›</a:t>
            </a:fld>
            <a:endParaRPr lang="en-GB"/>
          </a:p>
        </p:txBody>
      </p:sp>
      <p:sp>
        <p:nvSpPr>
          <p:cNvPr id="11" name="Date Placeholder 2">
            <a:extLst>
              <a:ext uri="{FF2B5EF4-FFF2-40B4-BE49-F238E27FC236}">
                <a16:creationId xmlns:a16="http://schemas.microsoft.com/office/drawing/2014/main" id="{66EF8B19-4D7D-C76B-C1C6-4AFD40D27041}"/>
              </a:ext>
            </a:extLst>
          </p:cNvPr>
          <p:cNvSpPr>
            <a:spLocks noGrp="1"/>
          </p:cNvSpPr>
          <p:nvPr>
            <p:ph type="dt" sz="half" idx="2"/>
          </p:nvPr>
        </p:nvSpPr>
        <p:spPr>
          <a:xfrm>
            <a:off x="270841" y="4848941"/>
            <a:ext cx="2057400" cy="274637"/>
          </a:xfrm>
          <a:prstGeom prst="rect">
            <a:avLst/>
          </a:prstGeom>
        </p:spPr>
        <p:txBody>
          <a:bodyPr vert="horz" lIns="91440" tIns="45720" rIns="91440" bIns="45720" rtlCol="0" anchor="ctr"/>
          <a:lstStyle>
            <a:lvl1pPr algn="l">
              <a:defRPr sz="1000" b="0">
                <a:solidFill>
                  <a:schemeClr val="tx1"/>
                </a:solidFill>
                <a:latin typeface="Times New Roman" panose="02020603050405020304" pitchFamily="18" charset="0"/>
                <a:cs typeface="Times New Roman" panose="02020603050405020304" pitchFamily="18" charset="0"/>
              </a:defRPr>
            </a:lvl1pPr>
          </a:lstStyle>
          <a:p>
            <a:fld id="{2C40245A-D482-421C-8339-C2AC5CBA2E3E}" type="datetime5">
              <a:rPr lang="en-IN" smtClean="0"/>
              <a:t>20-Nov-25</a:t>
            </a:fld>
            <a:endParaRPr lang="en-IN" dirty="0"/>
          </a:p>
        </p:txBody>
      </p:sp>
      <p:sp>
        <p:nvSpPr>
          <p:cNvPr id="12" name="Footer Placeholder 3">
            <a:extLst>
              <a:ext uri="{FF2B5EF4-FFF2-40B4-BE49-F238E27FC236}">
                <a16:creationId xmlns:a16="http://schemas.microsoft.com/office/drawing/2014/main" id="{E5810659-FFA9-05FF-56FB-1DAB643046A5}"/>
              </a:ext>
            </a:extLst>
          </p:cNvPr>
          <p:cNvSpPr>
            <a:spLocks noGrp="1"/>
          </p:cNvSpPr>
          <p:nvPr>
            <p:ph type="ftr" sz="quarter" idx="3"/>
          </p:nvPr>
        </p:nvSpPr>
        <p:spPr>
          <a:xfrm>
            <a:off x="3028950" y="4896032"/>
            <a:ext cx="3086100" cy="274637"/>
          </a:xfrm>
          <a:prstGeom prst="rect">
            <a:avLst/>
          </a:prstGeom>
        </p:spPr>
        <p:txBody>
          <a:bodyPr vert="horz" lIns="91440" tIns="45720" rIns="91440" bIns="45720" rtlCol="0" anchor="ctr"/>
          <a:lstStyle>
            <a:lvl1pPr algn="ctr">
              <a:defRPr sz="1000">
                <a:solidFill>
                  <a:schemeClr val="tx1"/>
                </a:solidFill>
                <a:latin typeface="Times New Roman" panose="02020603050405020304" pitchFamily="18" charset="0"/>
                <a:cs typeface="Times New Roman" panose="02020603050405020304" pitchFamily="18" charset="0"/>
              </a:defRPr>
            </a:lvl1p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676545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38" name="Google Shape;38;p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sp>
        <p:nvSpPr>
          <p:cNvPr id="39" name="Google Shape;39;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pic>
        <p:nvPicPr>
          <p:cNvPr id="2" name="Google Shape;19;p3">
            <a:extLst>
              <a:ext uri="{FF2B5EF4-FFF2-40B4-BE49-F238E27FC236}">
                <a16:creationId xmlns:a16="http://schemas.microsoft.com/office/drawing/2014/main" id="{4B80D59B-9DFE-4595-F8A3-0013247AD4D0}"/>
              </a:ext>
            </a:extLst>
          </p:cNvPr>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id="{EE62799D-B28B-3CB1-D50D-DD86F6B6AF93}"/>
              </a:ext>
            </a:extLst>
          </p:cNvPr>
          <p:cNvGrpSpPr/>
          <p:nvPr/>
        </p:nvGrpSpPr>
        <p:grpSpPr>
          <a:xfrm>
            <a:off x="0" y="0"/>
            <a:ext cx="9144000" cy="5143500"/>
            <a:chOff x="0" y="0"/>
            <a:chExt cx="9144000" cy="5143500"/>
          </a:xfrm>
        </p:grpSpPr>
        <p:sp>
          <p:nvSpPr>
            <p:cNvPr id="4" name="Rectangle 3">
              <a:extLst>
                <a:ext uri="{FF2B5EF4-FFF2-40B4-BE49-F238E27FC236}">
                  <a16:creationId xmlns:a16="http://schemas.microsoft.com/office/drawing/2014/main" id="{7463A03A-9863-B929-6FD2-F2BEBAA76FAB}"/>
                </a:ext>
              </a:extLst>
            </p:cNvPr>
            <p:cNvSpPr/>
            <p:nvPr/>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EE93E7E5-1903-8F06-EB29-347874908DDD}"/>
                </a:ext>
              </a:extLst>
            </p:cNvPr>
            <p:cNvCxnSpPr>
              <a:cxnSpLocks/>
            </p:cNvCxnSpPr>
            <p:nvPr/>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pic>
        <p:nvPicPr>
          <p:cNvPr id="6" name="Google Shape;19;p3">
            <a:extLst>
              <a:ext uri="{FF2B5EF4-FFF2-40B4-BE49-F238E27FC236}">
                <a16:creationId xmlns:a16="http://schemas.microsoft.com/office/drawing/2014/main" id="{FDBCC62F-3165-3A84-44AB-346DBEB8D052}"/>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7" name="Group 6">
            <a:extLst>
              <a:ext uri="{FF2B5EF4-FFF2-40B4-BE49-F238E27FC236}">
                <a16:creationId xmlns:a16="http://schemas.microsoft.com/office/drawing/2014/main" id="{158CA8E6-87C4-9306-8EAC-DD01ED9161B7}"/>
              </a:ext>
            </a:extLst>
          </p:cNvPr>
          <p:cNvGrpSpPr/>
          <p:nvPr userDrawn="1"/>
        </p:nvGrpSpPr>
        <p:grpSpPr>
          <a:xfrm>
            <a:off x="0" y="0"/>
            <a:ext cx="9144000" cy="5143500"/>
            <a:chOff x="0" y="0"/>
            <a:chExt cx="9144000" cy="5143500"/>
          </a:xfrm>
        </p:grpSpPr>
        <p:sp>
          <p:nvSpPr>
            <p:cNvPr id="8" name="Rectangle 7">
              <a:extLst>
                <a:ext uri="{FF2B5EF4-FFF2-40B4-BE49-F238E27FC236}">
                  <a16:creationId xmlns:a16="http://schemas.microsoft.com/office/drawing/2014/main" id="{836A2034-88AC-F9CE-9CB2-77DF47251B36}"/>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7AA8572A-0391-FE04-DF05-B816A762B191}"/>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10" name="Google Shape;8;p1">
            <a:extLst>
              <a:ext uri="{FF2B5EF4-FFF2-40B4-BE49-F238E27FC236}">
                <a16:creationId xmlns:a16="http://schemas.microsoft.com/office/drawing/2014/main" id="{1A2119E3-471A-67ED-9BD5-C649B46A804A}"/>
              </a:ext>
            </a:extLst>
          </p:cNvPr>
          <p:cNvSpPr txBox="1">
            <a:spLocks noGrp="1"/>
          </p:cNvSpPr>
          <p:nvPr>
            <p:ph type="sldNum" idx="12"/>
          </p:nvPr>
        </p:nvSpPr>
        <p:spPr>
          <a:xfrm>
            <a:off x="8614962" y="482658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tx1"/>
                </a:solidFill>
                <a:latin typeface="Times New Roman" panose="02020603050405020304" pitchFamily="18" charset="0"/>
                <a:cs typeface="Times New Roman" panose="02020603050405020304" pitchFamily="18" charset="0"/>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GB" smtClean="0"/>
              <a:pPr/>
              <a:t>‹#›</a:t>
            </a:fld>
            <a:endParaRPr lang="en-GB"/>
          </a:p>
        </p:txBody>
      </p:sp>
      <p:sp>
        <p:nvSpPr>
          <p:cNvPr id="11" name="Date Placeholder 2">
            <a:extLst>
              <a:ext uri="{FF2B5EF4-FFF2-40B4-BE49-F238E27FC236}">
                <a16:creationId xmlns:a16="http://schemas.microsoft.com/office/drawing/2014/main" id="{36D6D369-536A-402D-CB58-4191C45BDC3A}"/>
              </a:ext>
            </a:extLst>
          </p:cNvPr>
          <p:cNvSpPr>
            <a:spLocks noGrp="1"/>
          </p:cNvSpPr>
          <p:nvPr>
            <p:ph type="dt" sz="half" idx="13"/>
          </p:nvPr>
        </p:nvSpPr>
        <p:spPr>
          <a:xfrm>
            <a:off x="270841" y="4848941"/>
            <a:ext cx="2057400" cy="274637"/>
          </a:xfrm>
          <a:prstGeom prst="rect">
            <a:avLst/>
          </a:prstGeom>
        </p:spPr>
        <p:txBody>
          <a:bodyPr vert="horz" lIns="91440" tIns="45720" rIns="91440" bIns="45720" rtlCol="0" anchor="ctr"/>
          <a:lstStyle>
            <a:lvl1pPr algn="l">
              <a:defRPr sz="1000" b="0">
                <a:solidFill>
                  <a:schemeClr val="tx1"/>
                </a:solidFill>
                <a:latin typeface="Times New Roman" panose="02020603050405020304" pitchFamily="18" charset="0"/>
                <a:cs typeface="Times New Roman" panose="02020603050405020304" pitchFamily="18" charset="0"/>
              </a:defRPr>
            </a:lvl1pPr>
          </a:lstStyle>
          <a:p>
            <a:fld id="{423D35D4-03CC-4E18-B834-C09754933360}" type="datetime5">
              <a:rPr lang="en-IN" smtClean="0"/>
              <a:t>20-Nov-25</a:t>
            </a:fld>
            <a:endParaRPr lang="en-IN" dirty="0"/>
          </a:p>
        </p:txBody>
      </p:sp>
      <p:sp>
        <p:nvSpPr>
          <p:cNvPr id="12" name="Footer Placeholder 3">
            <a:extLst>
              <a:ext uri="{FF2B5EF4-FFF2-40B4-BE49-F238E27FC236}">
                <a16:creationId xmlns:a16="http://schemas.microsoft.com/office/drawing/2014/main" id="{C8E7C829-606D-023C-2116-8647B9F96CCD}"/>
              </a:ext>
            </a:extLst>
          </p:cNvPr>
          <p:cNvSpPr>
            <a:spLocks noGrp="1"/>
          </p:cNvSpPr>
          <p:nvPr>
            <p:ph type="ftr" sz="quarter" idx="3"/>
          </p:nvPr>
        </p:nvSpPr>
        <p:spPr>
          <a:xfrm>
            <a:off x="3028950" y="4896032"/>
            <a:ext cx="3086100" cy="274637"/>
          </a:xfrm>
          <a:prstGeom prst="rect">
            <a:avLst/>
          </a:prstGeom>
        </p:spPr>
        <p:txBody>
          <a:bodyPr vert="horz" lIns="91440" tIns="45720" rIns="91440" bIns="45720" rtlCol="0" anchor="ctr"/>
          <a:lstStyle>
            <a:lvl1pPr algn="ctr">
              <a:defRPr sz="1000">
                <a:solidFill>
                  <a:schemeClr val="tx1"/>
                </a:solidFill>
                <a:latin typeface="Times New Roman" panose="02020603050405020304" pitchFamily="18" charset="0"/>
                <a:cs typeface="Times New Roman" panose="02020603050405020304" pitchFamily="18" charset="0"/>
              </a:defRPr>
            </a:lvl1p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10095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lvl="0"/>
            <a:r>
              <a:rPr lang="en-US"/>
              <a:t>Click to edit Master text styles</a:t>
            </a:r>
          </a:p>
        </p:txBody>
      </p:sp>
      <p:pic>
        <p:nvPicPr>
          <p:cNvPr id="2" name="Google Shape;19;p3">
            <a:extLst>
              <a:ext uri="{FF2B5EF4-FFF2-40B4-BE49-F238E27FC236}">
                <a16:creationId xmlns:a16="http://schemas.microsoft.com/office/drawing/2014/main" id="{29DD75D0-7AAD-DBAE-B237-73B7EEE84BA0}"/>
              </a:ext>
            </a:extLst>
          </p:cNvPr>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id="{61EBF5A7-032C-2FEC-A530-5DDAED5DFD38}"/>
              </a:ext>
            </a:extLst>
          </p:cNvPr>
          <p:cNvGrpSpPr/>
          <p:nvPr/>
        </p:nvGrpSpPr>
        <p:grpSpPr>
          <a:xfrm>
            <a:off x="0" y="0"/>
            <a:ext cx="9144000" cy="5143500"/>
            <a:chOff x="0" y="0"/>
            <a:chExt cx="9144000" cy="5143500"/>
          </a:xfrm>
        </p:grpSpPr>
        <p:sp>
          <p:nvSpPr>
            <p:cNvPr id="4" name="Rectangle 3">
              <a:extLst>
                <a:ext uri="{FF2B5EF4-FFF2-40B4-BE49-F238E27FC236}">
                  <a16:creationId xmlns:a16="http://schemas.microsoft.com/office/drawing/2014/main" id="{5D710205-E448-248A-F1A8-714D3E07A8E6}"/>
                </a:ext>
              </a:extLst>
            </p:cNvPr>
            <p:cNvSpPr/>
            <p:nvPr/>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C3ED8E06-7678-1E49-4DD3-8274B819AD4B}"/>
                </a:ext>
              </a:extLst>
            </p:cNvPr>
            <p:cNvCxnSpPr>
              <a:cxnSpLocks/>
            </p:cNvCxnSpPr>
            <p:nvPr/>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pic>
        <p:nvPicPr>
          <p:cNvPr id="6" name="Google Shape;19;p3">
            <a:extLst>
              <a:ext uri="{FF2B5EF4-FFF2-40B4-BE49-F238E27FC236}">
                <a16:creationId xmlns:a16="http://schemas.microsoft.com/office/drawing/2014/main" id="{F9C99C89-305D-5DB9-6BA2-C1FF507291A2}"/>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7" name="Group 6">
            <a:extLst>
              <a:ext uri="{FF2B5EF4-FFF2-40B4-BE49-F238E27FC236}">
                <a16:creationId xmlns:a16="http://schemas.microsoft.com/office/drawing/2014/main" id="{5F725EFC-2576-D2B8-DAA8-B93720EBBEC2}"/>
              </a:ext>
            </a:extLst>
          </p:cNvPr>
          <p:cNvGrpSpPr/>
          <p:nvPr userDrawn="1"/>
        </p:nvGrpSpPr>
        <p:grpSpPr>
          <a:xfrm>
            <a:off x="0" y="0"/>
            <a:ext cx="9144000" cy="5143500"/>
            <a:chOff x="0" y="0"/>
            <a:chExt cx="9144000" cy="5143500"/>
          </a:xfrm>
        </p:grpSpPr>
        <p:sp>
          <p:nvSpPr>
            <p:cNvPr id="8" name="Rectangle 7">
              <a:extLst>
                <a:ext uri="{FF2B5EF4-FFF2-40B4-BE49-F238E27FC236}">
                  <a16:creationId xmlns:a16="http://schemas.microsoft.com/office/drawing/2014/main" id="{6E9F6DB8-E7C3-AA8B-9876-54713D97AAC0}"/>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91D63220-AD4D-4D7F-B2FF-EF1ED767FC00}"/>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10" name="Google Shape;8;p1">
            <a:extLst>
              <a:ext uri="{FF2B5EF4-FFF2-40B4-BE49-F238E27FC236}">
                <a16:creationId xmlns:a16="http://schemas.microsoft.com/office/drawing/2014/main" id="{62188616-392A-9292-C97D-9790F8FA5396}"/>
              </a:ext>
            </a:extLst>
          </p:cNvPr>
          <p:cNvSpPr txBox="1">
            <a:spLocks noGrp="1"/>
          </p:cNvSpPr>
          <p:nvPr>
            <p:ph type="sldNum" idx="12"/>
          </p:nvPr>
        </p:nvSpPr>
        <p:spPr>
          <a:xfrm>
            <a:off x="8614962" y="482658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tx1"/>
                </a:solidFill>
                <a:latin typeface="Times New Roman" panose="02020603050405020304" pitchFamily="18" charset="0"/>
                <a:cs typeface="Times New Roman" panose="02020603050405020304" pitchFamily="18" charset="0"/>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GB" smtClean="0"/>
              <a:pPr/>
              <a:t>‹#›</a:t>
            </a:fld>
            <a:endParaRPr lang="en-GB"/>
          </a:p>
        </p:txBody>
      </p:sp>
      <p:sp>
        <p:nvSpPr>
          <p:cNvPr id="11" name="Date Placeholder 2">
            <a:extLst>
              <a:ext uri="{FF2B5EF4-FFF2-40B4-BE49-F238E27FC236}">
                <a16:creationId xmlns:a16="http://schemas.microsoft.com/office/drawing/2014/main" id="{A15573E0-966F-1865-488E-274E99778B0B}"/>
              </a:ext>
            </a:extLst>
          </p:cNvPr>
          <p:cNvSpPr>
            <a:spLocks noGrp="1"/>
          </p:cNvSpPr>
          <p:nvPr>
            <p:ph type="dt" sz="half" idx="2"/>
          </p:nvPr>
        </p:nvSpPr>
        <p:spPr>
          <a:xfrm>
            <a:off x="270841" y="4848941"/>
            <a:ext cx="2057400" cy="274637"/>
          </a:xfrm>
          <a:prstGeom prst="rect">
            <a:avLst/>
          </a:prstGeom>
        </p:spPr>
        <p:txBody>
          <a:bodyPr vert="horz" lIns="91440" tIns="45720" rIns="91440" bIns="45720" rtlCol="0" anchor="ctr"/>
          <a:lstStyle>
            <a:lvl1pPr algn="l">
              <a:defRPr sz="1000" b="0">
                <a:solidFill>
                  <a:schemeClr val="tx1"/>
                </a:solidFill>
                <a:latin typeface="Times New Roman" panose="02020603050405020304" pitchFamily="18" charset="0"/>
                <a:cs typeface="Times New Roman" panose="02020603050405020304" pitchFamily="18" charset="0"/>
              </a:defRPr>
            </a:lvl1pPr>
          </a:lstStyle>
          <a:p>
            <a:fld id="{C0D2929F-99A6-4295-85CD-8A8FE846DD67}" type="datetime5">
              <a:rPr lang="en-IN" smtClean="0"/>
              <a:t>20-Nov-25</a:t>
            </a:fld>
            <a:endParaRPr lang="en-IN" dirty="0"/>
          </a:p>
        </p:txBody>
      </p:sp>
      <p:sp>
        <p:nvSpPr>
          <p:cNvPr id="12" name="Footer Placeholder 3">
            <a:extLst>
              <a:ext uri="{FF2B5EF4-FFF2-40B4-BE49-F238E27FC236}">
                <a16:creationId xmlns:a16="http://schemas.microsoft.com/office/drawing/2014/main" id="{EB33DDA0-C560-B8B5-B4C8-7E89501D635F}"/>
              </a:ext>
            </a:extLst>
          </p:cNvPr>
          <p:cNvSpPr>
            <a:spLocks noGrp="1"/>
          </p:cNvSpPr>
          <p:nvPr>
            <p:ph type="ftr" sz="quarter" idx="3"/>
          </p:nvPr>
        </p:nvSpPr>
        <p:spPr>
          <a:xfrm>
            <a:off x="3028950" y="4896032"/>
            <a:ext cx="3086100" cy="274637"/>
          </a:xfrm>
          <a:prstGeom prst="rect">
            <a:avLst/>
          </a:prstGeom>
        </p:spPr>
        <p:txBody>
          <a:bodyPr vert="horz" lIns="91440" tIns="45720" rIns="91440" bIns="45720" rtlCol="0" anchor="ctr"/>
          <a:lstStyle>
            <a:lvl1pPr algn="ctr">
              <a:defRPr sz="1000">
                <a:solidFill>
                  <a:schemeClr val="tx1"/>
                </a:solidFill>
                <a:latin typeface="Times New Roman" panose="02020603050405020304" pitchFamily="18" charset="0"/>
                <a:cs typeface="Times New Roman" panose="02020603050405020304" pitchFamily="18" charset="0"/>
              </a:defRPr>
            </a:lvl1p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1588475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pic>
        <p:nvPicPr>
          <p:cNvPr id="2" name="Google Shape;19;p3">
            <a:extLst>
              <a:ext uri="{FF2B5EF4-FFF2-40B4-BE49-F238E27FC236}">
                <a16:creationId xmlns:a16="http://schemas.microsoft.com/office/drawing/2014/main" id="{8C6D8B5F-E71F-89BC-8E87-3A30BD1A4CC9}"/>
              </a:ext>
            </a:extLst>
          </p:cNvPr>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id="{C1D23F59-17D7-E341-3EEF-E0BB0BF998D9}"/>
              </a:ext>
            </a:extLst>
          </p:cNvPr>
          <p:cNvGrpSpPr/>
          <p:nvPr/>
        </p:nvGrpSpPr>
        <p:grpSpPr>
          <a:xfrm>
            <a:off x="0" y="0"/>
            <a:ext cx="9144000" cy="5143500"/>
            <a:chOff x="0" y="0"/>
            <a:chExt cx="9144000" cy="5143500"/>
          </a:xfrm>
        </p:grpSpPr>
        <p:sp>
          <p:nvSpPr>
            <p:cNvPr id="4" name="Rectangle 3">
              <a:extLst>
                <a:ext uri="{FF2B5EF4-FFF2-40B4-BE49-F238E27FC236}">
                  <a16:creationId xmlns:a16="http://schemas.microsoft.com/office/drawing/2014/main" id="{B515A719-DA34-2E01-979A-46397BB11384}"/>
                </a:ext>
              </a:extLst>
            </p:cNvPr>
            <p:cNvSpPr/>
            <p:nvPr/>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22B0660F-D9C4-5DA1-78EE-8553930B3A5E}"/>
                </a:ext>
              </a:extLst>
            </p:cNvPr>
            <p:cNvCxnSpPr>
              <a:cxnSpLocks/>
            </p:cNvCxnSpPr>
            <p:nvPr/>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pic>
        <p:nvPicPr>
          <p:cNvPr id="6" name="Google Shape;19;p3">
            <a:extLst>
              <a:ext uri="{FF2B5EF4-FFF2-40B4-BE49-F238E27FC236}">
                <a16:creationId xmlns:a16="http://schemas.microsoft.com/office/drawing/2014/main" id="{2EF52AC0-B0F7-2EAF-E157-39AE226B6D28}"/>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7" name="Group 6">
            <a:extLst>
              <a:ext uri="{FF2B5EF4-FFF2-40B4-BE49-F238E27FC236}">
                <a16:creationId xmlns:a16="http://schemas.microsoft.com/office/drawing/2014/main" id="{E8D7EEDD-745E-BBDA-BE93-47994CDF0E31}"/>
              </a:ext>
            </a:extLst>
          </p:cNvPr>
          <p:cNvGrpSpPr/>
          <p:nvPr userDrawn="1"/>
        </p:nvGrpSpPr>
        <p:grpSpPr>
          <a:xfrm>
            <a:off x="0" y="0"/>
            <a:ext cx="9144000" cy="5143500"/>
            <a:chOff x="0" y="0"/>
            <a:chExt cx="9144000" cy="5143500"/>
          </a:xfrm>
        </p:grpSpPr>
        <p:sp>
          <p:nvSpPr>
            <p:cNvPr id="8" name="Rectangle 7">
              <a:extLst>
                <a:ext uri="{FF2B5EF4-FFF2-40B4-BE49-F238E27FC236}">
                  <a16:creationId xmlns:a16="http://schemas.microsoft.com/office/drawing/2014/main" id="{E5732CAC-7BD5-FF84-893B-5D6BE4449111}"/>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7C50FD45-EF7C-6AEC-7910-EFAFD764C847}"/>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10" name="Google Shape;8;p1">
            <a:extLst>
              <a:ext uri="{FF2B5EF4-FFF2-40B4-BE49-F238E27FC236}">
                <a16:creationId xmlns:a16="http://schemas.microsoft.com/office/drawing/2014/main" id="{CAA486AC-8E3E-3668-04DF-500604F0CBF0}"/>
              </a:ext>
            </a:extLst>
          </p:cNvPr>
          <p:cNvSpPr txBox="1">
            <a:spLocks noGrp="1"/>
          </p:cNvSpPr>
          <p:nvPr>
            <p:ph type="sldNum" idx="12"/>
          </p:nvPr>
        </p:nvSpPr>
        <p:spPr>
          <a:xfrm>
            <a:off x="8614962" y="482658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tx1"/>
                </a:solidFill>
                <a:latin typeface="Times New Roman" panose="02020603050405020304" pitchFamily="18" charset="0"/>
                <a:cs typeface="Times New Roman" panose="02020603050405020304" pitchFamily="18" charset="0"/>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GB" smtClean="0"/>
              <a:pPr/>
              <a:t>‹#›</a:t>
            </a:fld>
            <a:endParaRPr lang="en-GB"/>
          </a:p>
        </p:txBody>
      </p:sp>
      <p:sp>
        <p:nvSpPr>
          <p:cNvPr id="11" name="Date Placeholder 2">
            <a:extLst>
              <a:ext uri="{FF2B5EF4-FFF2-40B4-BE49-F238E27FC236}">
                <a16:creationId xmlns:a16="http://schemas.microsoft.com/office/drawing/2014/main" id="{83C0763F-BFF9-02EC-4E33-EFFA27B6BE86}"/>
              </a:ext>
            </a:extLst>
          </p:cNvPr>
          <p:cNvSpPr>
            <a:spLocks noGrp="1"/>
          </p:cNvSpPr>
          <p:nvPr>
            <p:ph type="dt" sz="half" idx="2"/>
          </p:nvPr>
        </p:nvSpPr>
        <p:spPr>
          <a:xfrm>
            <a:off x="270841" y="4848941"/>
            <a:ext cx="2057400" cy="274637"/>
          </a:xfrm>
          <a:prstGeom prst="rect">
            <a:avLst/>
          </a:prstGeom>
        </p:spPr>
        <p:txBody>
          <a:bodyPr vert="horz" lIns="91440" tIns="45720" rIns="91440" bIns="45720" rtlCol="0" anchor="ctr"/>
          <a:lstStyle>
            <a:lvl1pPr algn="l">
              <a:defRPr sz="1000" b="0">
                <a:solidFill>
                  <a:schemeClr val="tx1"/>
                </a:solidFill>
                <a:latin typeface="Times New Roman" panose="02020603050405020304" pitchFamily="18" charset="0"/>
                <a:cs typeface="Times New Roman" panose="02020603050405020304" pitchFamily="18" charset="0"/>
              </a:defRPr>
            </a:lvl1pPr>
          </a:lstStyle>
          <a:p>
            <a:fld id="{7EF2A534-643A-487E-A2FD-FE983B9B5586}" type="datetime5">
              <a:rPr lang="en-IN" smtClean="0"/>
              <a:t>20-Nov-25</a:t>
            </a:fld>
            <a:endParaRPr lang="en-IN" dirty="0"/>
          </a:p>
        </p:txBody>
      </p:sp>
      <p:sp>
        <p:nvSpPr>
          <p:cNvPr id="12" name="Footer Placeholder 3">
            <a:extLst>
              <a:ext uri="{FF2B5EF4-FFF2-40B4-BE49-F238E27FC236}">
                <a16:creationId xmlns:a16="http://schemas.microsoft.com/office/drawing/2014/main" id="{1C88F1CD-9D69-B3C1-E309-63341388F95E}"/>
              </a:ext>
            </a:extLst>
          </p:cNvPr>
          <p:cNvSpPr>
            <a:spLocks noGrp="1"/>
          </p:cNvSpPr>
          <p:nvPr>
            <p:ph type="ftr" sz="quarter" idx="3"/>
          </p:nvPr>
        </p:nvSpPr>
        <p:spPr>
          <a:xfrm>
            <a:off x="3028950" y="4896032"/>
            <a:ext cx="3086100" cy="274637"/>
          </a:xfrm>
          <a:prstGeom prst="rect">
            <a:avLst/>
          </a:prstGeom>
        </p:spPr>
        <p:txBody>
          <a:bodyPr vert="horz" lIns="91440" tIns="45720" rIns="91440" bIns="45720" rtlCol="0" anchor="ctr"/>
          <a:lstStyle>
            <a:lvl1pPr algn="ctr">
              <a:defRPr sz="1000">
                <a:solidFill>
                  <a:schemeClr val="tx1"/>
                </a:solidFill>
                <a:latin typeface="Times New Roman" panose="02020603050405020304" pitchFamily="18" charset="0"/>
                <a:cs typeface="Times New Roman" panose="02020603050405020304" pitchFamily="18" charset="0"/>
              </a:defRPr>
            </a:lvl1p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418532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pic>
        <p:nvPicPr>
          <p:cNvPr id="2" name="Google Shape;19;p3">
            <a:extLst>
              <a:ext uri="{FF2B5EF4-FFF2-40B4-BE49-F238E27FC236}">
                <a16:creationId xmlns:a16="http://schemas.microsoft.com/office/drawing/2014/main" id="{FC28A863-5B0F-9BCA-A385-49253AD43076}"/>
              </a:ext>
            </a:extLst>
          </p:cNvPr>
          <p:cNvPicPr preferRelativeResize="0"/>
          <p:nvPr/>
        </p:nvPicPr>
        <p:blipFill>
          <a:blip r:embed="rId2">
            <a:alphaModFix/>
          </a:blip>
          <a:stretch>
            <a:fillRect/>
          </a:stretch>
        </p:blipFill>
        <p:spPr>
          <a:xfrm>
            <a:off x="6983600" y="415175"/>
            <a:ext cx="1974051" cy="300175"/>
          </a:xfrm>
          <a:prstGeom prst="rect">
            <a:avLst/>
          </a:prstGeom>
          <a:noFill/>
          <a:ln>
            <a:noFill/>
          </a:ln>
        </p:spPr>
      </p:pic>
      <p:grpSp>
        <p:nvGrpSpPr>
          <p:cNvPr id="3" name="Group 2">
            <a:extLst>
              <a:ext uri="{FF2B5EF4-FFF2-40B4-BE49-F238E27FC236}">
                <a16:creationId xmlns:a16="http://schemas.microsoft.com/office/drawing/2014/main" id="{D7D09F3A-36FC-0746-667D-6B93C1215C86}"/>
              </a:ext>
            </a:extLst>
          </p:cNvPr>
          <p:cNvGrpSpPr/>
          <p:nvPr/>
        </p:nvGrpSpPr>
        <p:grpSpPr>
          <a:xfrm>
            <a:off x="0" y="0"/>
            <a:ext cx="9144000" cy="5143500"/>
            <a:chOff x="0" y="0"/>
            <a:chExt cx="9144000" cy="5143500"/>
          </a:xfrm>
        </p:grpSpPr>
        <p:sp>
          <p:nvSpPr>
            <p:cNvPr id="4" name="Rectangle 3">
              <a:extLst>
                <a:ext uri="{FF2B5EF4-FFF2-40B4-BE49-F238E27FC236}">
                  <a16:creationId xmlns:a16="http://schemas.microsoft.com/office/drawing/2014/main" id="{778F927E-55A4-6336-27F0-54CC04169F90}"/>
                </a:ext>
              </a:extLst>
            </p:cNvPr>
            <p:cNvSpPr/>
            <p:nvPr/>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5E7FB4EA-C9D5-7BAD-842D-836A077342B2}"/>
                </a:ext>
              </a:extLst>
            </p:cNvPr>
            <p:cNvCxnSpPr>
              <a:cxnSpLocks/>
            </p:cNvCxnSpPr>
            <p:nvPr/>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pic>
        <p:nvPicPr>
          <p:cNvPr id="6" name="Google Shape;19;p3">
            <a:extLst>
              <a:ext uri="{FF2B5EF4-FFF2-40B4-BE49-F238E27FC236}">
                <a16:creationId xmlns:a16="http://schemas.microsoft.com/office/drawing/2014/main" id="{D0EE7C43-20A8-626B-8CF4-A10D2482BFC3}"/>
              </a:ext>
            </a:extLst>
          </p:cNvPr>
          <p:cNvPicPr preferRelativeResize="0"/>
          <p:nvPr userDrawn="1"/>
        </p:nvPicPr>
        <p:blipFill>
          <a:blip r:embed="rId2">
            <a:alphaModFix/>
          </a:blip>
          <a:stretch>
            <a:fillRect/>
          </a:stretch>
        </p:blipFill>
        <p:spPr>
          <a:xfrm>
            <a:off x="6983600" y="415175"/>
            <a:ext cx="1974051" cy="300175"/>
          </a:xfrm>
          <a:prstGeom prst="rect">
            <a:avLst/>
          </a:prstGeom>
          <a:noFill/>
          <a:ln>
            <a:noFill/>
          </a:ln>
        </p:spPr>
      </p:pic>
      <p:grpSp>
        <p:nvGrpSpPr>
          <p:cNvPr id="7" name="Group 6">
            <a:extLst>
              <a:ext uri="{FF2B5EF4-FFF2-40B4-BE49-F238E27FC236}">
                <a16:creationId xmlns:a16="http://schemas.microsoft.com/office/drawing/2014/main" id="{0D84E529-E446-7268-6DD3-2001B58D6E61}"/>
              </a:ext>
            </a:extLst>
          </p:cNvPr>
          <p:cNvGrpSpPr/>
          <p:nvPr userDrawn="1"/>
        </p:nvGrpSpPr>
        <p:grpSpPr>
          <a:xfrm>
            <a:off x="0" y="0"/>
            <a:ext cx="9144000" cy="5143500"/>
            <a:chOff x="0" y="0"/>
            <a:chExt cx="9144000" cy="5143500"/>
          </a:xfrm>
        </p:grpSpPr>
        <p:sp>
          <p:nvSpPr>
            <p:cNvPr id="8" name="Rectangle 7">
              <a:extLst>
                <a:ext uri="{FF2B5EF4-FFF2-40B4-BE49-F238E27FC236}">
                  <a16:creationId xmlns:a16="http://schemas.microsoft.com/office/drawing/2014/main" id="{45236A1A-A64F-CA4E-C9B4-860976231A07}"/>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17D66007-9970-F30A-0368-4C3F6BFCA585}"/>
                </a:ext>
              </a:extLst>
            </p:cNvPr>
            <p:cNvCxnSpPr>
              <a:cxnSpLocks/>
            </p:cNvCxnSpPr>
            <p:nvPr userDrawn="1"/>
          </p:nvCxnSpPr>
          <p:spPr>
            <a:xfrm>
              <a:off x="0" y="874641"/>
              <a:ext cx="914400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10" name="Google Shape;8;p1">
            <a:extLst>
              <a:ext uri="{FF2B5EF4-FFF2-40B4-BE49-F238E27FC236}">
                <a16:creationId xmlns:a16="http://schemas.microsoft.com/office/drawing/2014/main" id="{454B7EC3-A302-1718-9955-44772CB5B659}"/>
              </a:ext>
            </a:extLst>
          </p:cNvPr>
          <p:cNvSpPr txBox="1">
            <a:spLocks noGrp="1"/>
          </p:cNvSpPr>
          <p:nvPr>
            <p:ph type="sldNum" idx="12"/>
          </p:nvPr>
        </p:nvSpPr>
        <p:spPr>
          <a:xfrm>
            <a:off x="8614962" y="482658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tx1"/>
                </a:solidFill>
                <a:latin typeface="Times New Roman" panose="02020603050405020304" pitchFamily="18" charset="0"/>
                <a:cs typeface="Times New Roman" panose="02020603050405020304" pitchFamily="18" charset="0"/>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GB" smtClean="0"/>
              <a:pPr/>
              <a:t>‹#›</a:t>
            </a:fld>
            <a:endParaRPr lang="en-GB"/>
          </a:p>
        </p:txBody>
      </p:sp>
      <p:sp>
        <p:nvSpPr>
          <p:cNvPr id="11" name="Date Placeholder 2">
            <a:extLst>
              <a:ext uri="{FF2B5EF4-FFF2-40B4-BE49-F238E27FC236}">
                <a16:creationId xmlns:a16="http://schemas.microsoft.com/office/drawing/2014/main" id="{50987C3C-CE5C-07E0-71BA-C8F5C576E500}"/>
              </a:ext>
            </a:extLst>
          </p:cNvPr>
          <p:cNvSpPr>
            <a:spLocks noGrp="1"/>
          </p:cNvSpPr>
          <p:nvPr>
            <p:ph type="dt" sz="half" idx="2"/>
          </p:nvPr>
        </p:nvSpPr>
        <p:spPr>
          <a:xfrm>
            <a:off x="270841" y="4848941"/>
            <a:ext cx="2057400" cy="274637"/>
          </a:xfrm>
          <a:prstGeom prst="rect">
            <a:avLst/>
          </a:prstGeom>
        </p:spPr>
        <p:txBody>
          <a:bodyPr vert="horz" lIns="91440" tIns="45720" rIns="91440" bIns="45720" rtlCol="0" anchor="ctr"/>
          <a:lstStyle>
            <a:lvl1pPr algn="l">
              <a:defRPr sz="1000" b="0">
                <a:solidFill>
                  <a:schemeClr val="tx1"/>
                </a:solidFill>
                <a:latin typeface="Times New Roman" panose="02020603050405020304" pitchFamily="18" charset="0"/>
                <a:cs typeface="Times New Roman" panose="02020603050405020304" pitchFamily="18" charset="0"/>
              </a:defRPr>
            </a:lvl1pPr>
          </a:lstStyle>
          <a:p>
            <a:fld id="{CAE6C102-1041-4931-893B-4DCC04D505BB}" type="datetime5">
              <a:rPr lang="en-IN" smtClean="0"/>
              <a:t>20-Nov-25</a:t>
            </a:fld>
            <a:endParaRPr lang="en-IN" dirty="0"/>
          </a:p>
        </p:txBody>
      </p:sp>
      <p:sp>
        <p:nvSpPr>
          <p:cNvPr id="12" name="Footer Placeholder 3">
            <a:extLst>
              <a:ext uri="{FF2B5EF4-FFF2-40B4-BE49-F238E27FC236}">
                <a16:creationId xmlns:a16="http://schemas.microsoft.com/office/drawing/2014/main" id="{190282BE-AB29-6827-9217-65D2ED2FEE73}"/>
              </a:ext>
            </a:extLst>
          </p:cNvPr>
          <p:cNvSpPr>
            <a:spLocks noGrp="1"/>
          </p:cNvSpPr>
          <p:nvPr>
            <p:ph type="ftr" sz="quarter" idx="3"/>
          </p:nvPr>
        </p:nvSpPr>
        <p:spPr>
          <a:xfrm>
            <a:off x="3028950" y="4896032"/>
            <a:ext cx="3086100" cy="274637"/>
          </a:xfrm>
          <a:prstGeom prst="rect">
            <a:avLst/>
          </a:prstGeom>
        </p:spPr>
        <p:txBody>
          <a:bodyPr vert="horz" lIns="91440" tIns="45720" rIns="91440" bIns="45720" rtlCol="0" anchor="ctr"/>
          <a:lstStyle>
            <a:lvl1pPr algn="ctr">
              <a:defRPr sz="1000">
                <a:solidFill>
                  <a:schemeClr val="tx1"/>
                </a:solidFill>
                <a:latin typeface="Times New Roman" panose="02020603050405020304" pitchFamily="18" charset="0"/>
                <a:cs typeface="Times New Roman" panose="02020603050405020304" pitchFamily="18" charset="0"/>
              </a:defRPr>
            </a:lvl1p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3109649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37051" y="168324"/>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06800"/>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614962" y="482658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tx1"/>
                </a:solidFill>
                <a:latin typeface="Times New Roman" panose="02020603050405020304" pitchFamily="18" charset="0"/>
                <a:cs typeface="Times New Roman" panose="02020603050405020304" pitchFamily="18" charset="0"/>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GB" smtClean="0"/>
              <a:pPr/>
              <a:t>‹#›</a:t>
            </a:fld>
            <a:endParaRPr lang="en-GB"/>
          </a:p>
        </p:txBody>
      </p:sp>
      <p:pic>
        <p:nvPicPr>
          <p:cNvPr id="9" name="Google Shape;9;p1"/>
          <p:cNvPicPr preferRelativeResize="0"/>
          <p:nvPr/>
        </p:nvPicPr>
        <p:blipFill>
          <a:blip r:embed="rId13">
            <a:alphaModFix/>
          </a:blip>
          <a:stretch>
            <a:fillRect/>
          </a:stretch>
        </p:blipFill>
        <p:spPr>
          <a:xfrm>
            <a:off x="216000" y="216000"/>
            <a:ext cx="1507681" cy="647999"/>
          </a:xfrm>
          <a:prstGeom prst="rect">
            <a:avLst/>
          </a:prstGeom>
          <a:noFill/>
          <a:ln>
            <a:noFill/>
          </a:ln>
        </p:spPr>
      </p:pic>
      <p:sp>
        <p:nvSpPr>
          <p:cNvPr id="5" name="Rectangle 4">
            <a:extLst>
              <a:ext uri="{FF2B5EF4-FFF2-40B4-BE49-F238E27FC236}">
                <a16:creationId xmlns:a16="http://schemas.microsoft.com/office/drawing/2014/main" id="{6E59EC21-A6EB-AA16-2565-465E8F414E64}"/>
              </a:ext>
            </a:extLst>
          </p:cNvPr>
          <p:cNvSpPr/>
          <p:nvPr/>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5E18B405-0069-E3E3-331E-5D60EC77B6D4}"/>
              </a:ext>
            </a:extLst>
          </p:cNvPr>
          <p:cNvSpPr/>
          <p:nvPr userDrawn="1"/>
        </p:nvSpPr>
        <p:spPr>
          <a:xfrm>
            <a:off x="0" y="0"/>
            <a:ext cx="9144000" cy="5143500"/>
          </a:xfrm>
          <a:prstGeom prst="rect">
            <a:avLst/>
          </a:prstGeom>
          <a:noFill/>
          <a:ln w="12700">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3" name="Date Placeholder 2">
            <a:extLst>
              <a:ext uri="{FF2B5EF4-FFF2-40B4-BE49-F238E27FC236}">
                <a16:creationId xmlns:a16="http://schemas.microsoft.com/office/drawing/2014/main" id="{50AA4686-EE04-AA18-C8A0-57D9CE6494F8}"/>
              </a:ext>
            </a:extLst>
          </p:cNvPr>
          <p:cNvSpPr>
            <a:spLocks noGrp="1"/>
          </p:cNvSpPr>
          <p:nvPr>
            <p:ph type="dt" sz="half" idx="2"/>
          </p:nvPr>
        </p:nvSpPr>
        <p:spPr>
          <a:xfrm>
            <a:off x="270841" y="4848941"/>
            <a:ext cx="2057400" cy="274637"/>
          </a:xfrm>
          <a:prstGeom prst="rect">
            <a:avLst/>
          </a:prstGeom>
        </p:spPr>
        <p:txBody>
          <a:bodyPr vert="horz" lIns="91440" tIns="45720" rIns="91440" bIns="45720" rtlCol="0" anchor="ctr"/>
          <a:lstStyle>
            <a:lvl1pPr algn="l">
              <a:defRPr sz="1000" b="0">
                <a:solidFill>
                  <a:schemeClr val="tx1"/>
                </a:solidFill>
                <a:latin typeface="Times New Roman" panose="02020603050405020304" pitchFamily="18" charset="0"/>
                <a:cs typeface="Times New Roman" panose="02020603050405020304" pitchFamily="18" charset="0"/>
              </a:defRPr>
            </a:lvl1pPr>
          </a:lstStyle>
          <a:p>
            <a:fld id="{22DA817D-CB48-4E7F-A101-5E6C8564E957}" type="datetime5">
              <a:rPr lang="en-IN" smtClean="0"/>
              <a:t>20-Nov-25</a:t>
            </a:fld>
            <a:endParaRPr lang="en-IN" dirty="0"/>
          </a:p>
        </p:txBody>
      </p:sp>
      <p:sp>
        <p:nvSpPr>
          <p:cNvPr id="4" name="Footer Placeholder 3">
            <a:extLst>
              <a:ext uri="{FF2B5EF4-FFF2-40B4-BE49-F238E27FC236}">
                <a16:creationId xmlns:a16="http://schemas.microsoft.com/office/drawing/2014/main" id="{2731A312-F79C-B201-B832-9B662F44E5E1}"/>
              </a:ext>
            </a:extLst>
          </p:cNvPr>
          <p:cNvSpPr>
            <a:spLocks noGrp="1"/>
          </p:cNvSpPr>
          <p:nvPr>
            <p:ph type="ftr" sz="quarter" idx="3"/>
          </p:nvPr>
        </p:nvSpPr>
        <p:spPr>
          <a:xfrm>
            <a:off x="3028950" y="4896032"/>
            <a:ext cx="3086100" cy="274637"/>
          </a:xfrm>
          <a:prstGeom prst="rect">
            <a:avLst/>
          </a:prstGeom>
        </p:spPr>
        <p:txBody>
          <a:bodyPr vert="horz" lIns="91440" tIns="45720" rIns="91440" bIns="45720" rtlCol="0" anchor="ctr"/>
          <a:lstStyle>
            <a:lvl1pPr algn="ctr">
              <a:defRPr sz="1000">
                <a:solidFill>
                  <a:schemeClr val="tx1"/>
                </a:solidFill>
                <a:latin typeface="Times New Roman" panose="02020603050405020304" pitchFamily="18" charset="0"/>
                <a:cs typeface="Times New Roman" panose="02020603050405020304" pitchFamily="18" charset="0"/>
              </a:defRPr>
            </a:lvl1p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3152738061"/>
      </p:ext>
    </p:extLst>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hdr="0"/>
  <p:txStyles>
    <p:titleStyle>
      <a:defPPr marR="0" lvl="0" algn="l" rtl="0">
        <a:lnSpc>
          <a:spcPct val="100000"/>
        </a:lnSpc>
        <a:spcBef>
          <a:spcPts val="0"/>
        </a:spcBef>
        <a:spcAft>
          <a:spcPts val="0"/>
        </a:spcAft>
      </a:defPPr>
      <a:lvl1pPr marR="0" lvl="0" algn="ctr"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arxiv.org/abs/1506.04200" TargetMode="External"/><Relationship Id="rId3" Type="http://schemas.openxmlformats.org/officeDocument/2006/relationships/image" Target="../media/image6.png"/><Relationship Id="rId7" Type="http://schemas.openxmlformats.org/officeDocument/2006/relationships/hyperlink" Target="https://arxiv.org/abs/2103.15194"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attack.mitre.org/" TargetMode="External"/><Relationship Id="rId5" Type="http://schemas.openxmlformats.org/officeDocument/2006/relationships/hyperlink" Target="https://arxiv.org/abs/2106.09685" TargetMode="External"/><Relationship Id="rId10" Type="http://schemas.openxmlformats.org/officeDocument/2006/relationships/hyperlink" Target="https://arxiv.org/abs/1710.00811" TargetMode="External"/><Relationship Id="rId4" Type="http://schemas.openxmlformats.org/officeDocument/2006/relationships/hyperlink" Target="https://arxiv.org/abs/2302.13971" TargetMode="External"/><Relationship Id="rId9" Type="http://schemas.openxmlformats.org/officeDocument/2006/relationships/hyperlink" Target="https://arxiv.org/abs/2206.02733"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22122"/>
            <a:ext cx="5558971"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pPr algn="ctr"/>
            <a:r>
              <a:rPr lang="en-IN" sz="2400" b="1" dirty="0">
                <a:solidFill>
                  <a:srgbClr val="002060"/>
                </a:solidFill>
                <a:latin typeface="Times New Roman" panose="02020603050405020304" pitchFamily="18" charset="0"/>
                <a:cs typeface="Times New Roman" panose="02020603050405020304" pitchFamily="18" charset="0"/>
              </a:rPr>
              <a:t>     </a:t>
            </a:r>
          </a:p>
        </p:txBody>
      </p:sp>
      <p:sp>
        <p:nvSpPr>
          <p:cNvPr id="3" name="Rectangle 2"/>
          <p:cNvSpPr/>
          <p:nvPr/>
        </p:nvSpPr>
        <p:spPr>
          <a:xfrm>
            <a:off x="87086" y="928915"/>
            <a:ext cx="8904513" cy="523220"/>
          </a:xfrm>
          <a:prstGeom prst="rect">
            <a:avLst/>
          </a:prstGeom>
        </p:spPr>
        <p:txBody>
          <a:bodyPr wrap="square">
            <a:spAutoFit/>
          </a:bodyPr>
          <a:lstStyle/>
          <a:p>
            <a:pPr marL="285750" indent="-285750">
              <a:buFont typeface="Arial" panose="020B0604020202020204" pitchFamily="34" charset="0"/>
              <a:buChar char="•"/>
            </a:pPr>
            <a:endParaRPr lang="en-IN" dirty="0">
              <a:solidFill>
                <a:srgbClr val="C00000"/>
              </a:solidFill>
            </a:endParaRPr>
          </a:p>
          <a:p>
            <a:pPr marL="285750" indent="-285750">
              <a:buFont typeface="Arial" panose="020B0604020202020204" pitchFamily="34" charset="0"/>
              <a:buChar char="•"/>
            </a:pPr>
            <a:endParaRPr lang="en-IN" dirty="0">
              <a:solidFill>
                <a:srgbClr val="C00000"/>
              </a:solidFill>
            </a:endParaRPr>
          </a:p>
        </p:txBody>
      </p:sp>
      <p:sp>
        <p:nvSpPr>
          <p:cNvPr id="4" name="TextBox 3"/>
          <p:cNvSpPr txBox="1"/>
          <p:nvPr/>
        </p:nvSpPr>
        <p:spPr>
          <a:xfrm>
            <a:off x="1305233" y="1777181"/>
            <a:ext cx="7057102" cy="181588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Paper Title with Paper id         : </a:t>
            </a:r>
            <a:r>
              <a:rPr lang="en-US" dirty="0">
                <a:latin typeface="Times New Roman" panose="02020603050405020304" pitchFamily="18" charset="0"/>
                <a:cs typeface="Times New Roman" panose="02020603050405020304" pitchFamily="18" charset="0"/>
              </a:rPr>
              <a:t>Endpoint Security Agent: A Comprehensive Approach to Real-time System Monitoring and Threat Detection and Paper id 53</a:t>
            </a:r>
          </a:p>
          <a:p>
            <a:endParaRPr lang="en-US" b="1" dirty="0">
              <a:solidFill>
                <a:srgbClr val="C00000"/>
              </a:solidFill>
              <a:latin typeface="Times New Roman" panose="02020603050405020304" pitchFamily="18" charset="0"/>
              <a:cs typeface="Times New Roman" panose="02020603050405020304" pitchFamily="18" charset="0"/>
            </a:endParaRPr>
          </a:p>
          <a:p>
            <a:endParaRPr lang="en-US" b="1" dirty="0">
              <a:solidFill>
                <a:srgbClr val="C00000"/>
              </a:solidFill>
              <a:latin typeface="Times New Roman" panose="02020603050405020304" pitchFamily="18" charset="0"/>
              <a:cs typeface="Times New Roman" panose="02020603050405020304" pitchFamily="18" charset="0"/>
            </a:endParaRPr>
          </a:p>
          <a:p>
            <a:r>
              <a:rPr lang="en-US" b="1" dirty="0">
                <a:solidFill>
                  <a:srgbClr val="C00000"/>
                </a:solidFill>
                <a:latin typeface="Times New Roman" panose="02020603050405020304" pitchFamily="18" charset="0"/>
                <a:cs typeface="Times New Roman" panose="02020603050405020304" pitchFamily="18" charset="0"/>
              </a:rPr>
              <a:t>Author and Co-Authors            : </a:t>
            </a:r>
            <a:r>
              <a:rPr lang="en-US" dirty="0">
                <a:solidFill>
                  <a:schemeClr val="tx1"/>
                </a:solidFill>
                <a:latin typeface="Times New Roman" panose="02020603050405020304" pitchFamily="18" charset="0"/>
                <a:cs typeface="Times New Roman" panose="02020603050405020304" pitchFamily="18" charset="0"/>
              </a:rPr>
              <a:t>Srihari R, </a:t>
            </a:r>
            <a:r>
              <a:rPr lang="en-IN">
                <a:solidFill>
                  <a:schemeClr val="tx1"/>
                </a:solidFill>
                <a:latin typeface="Times New Roman" panose="02020603050405020304" pitchFamily="18" charset="0"/>
                <a:cs typeface="Times New Roman" panose="02020603050405020304" pitchFamily="18" charset="0"/>
              </a:rPr>
              <a:t>Mohammed </a:t>
            </a:r>
            <a:r>
              <a:rPr lang="en-IN" dirty="0">
                <a:solidFill>
                  <a:schemeClr val="tx1"/>
                </a:solidFill>
                <a:latin typeface="Times New Roman" panose="02020603050405020304" pitchFamily="18" charset="0"/>
                <a:cs typeface="Times New Roman" panose="02020603050405020304" pitchFamily="18" charset="0"/>
              </a:rPr>
              <a:t>Usman Hussain</a:t>
            </a:r>
            <a:r>
              <a:rPr lang="en-IN">
                <a:solidFill>
                  <a:schemeClr val="tx1"/>
                </a:solidFill>
                <a:latin typeface="Times New Roman" panose="02020603050405020304" pitchFamily="18" charset="0"/>
                <a:cs typeface="Times New Roman" panose="02020603050405020304" pitchFamily="18" charset="0"/>
              </a:rPr>
              <a:t>, Karthik, Ayesha Taranum</a:t>
            </a:r>
            <a:endParaRPr lang="en-US" b="1" dirty="0">
              <a:solidFill>
                <a:schemeClr val="tx1"/>
              </a:solidFill>
              <a:latin typeface="Times New Roman" panose="02020603050405020304" pitchFamily="18" charset="0"/>
              <a:cs typeface="Times New Roman" panose="02020603050405020304" pitchFamily="18" charset="0"/>
            </a:endParaRPr>
          </a:p>
          <a:p>
            <a:endParaRPr lang="en-US" b="1" dirty="0">
              <a:solidFill>
                <a:srgbClr val="C00000"/>
              </a:solidFill>
              <a:latin typeface="Times New Roman" panose="02020603050405020304" pitchFamily="18" charset="0"/>
              <a:cs typeface="Times New Roman" panose="02020603050405020304" pitchFamily="18" charset="0"/>
            </a:endParaRPr>
          </a:p>
          <a:p>
            <a:r>
              <a:rPr lang="en-US" b="1" dirty="0">
                <a:solidFill>
                  <a:srgbClr val="C00000"/>
                </a:solidFill>
                <a:latin typeface="Times New Roman" panose="02020603050405020304" pitchFamily="18" charset="0"/>
                <a:cs typeface="Times New Roman" panose="02020603050405020304" pitchFamily="18" charset="0"/>
              </a:rPr>
              <a:t>Associated University / College : </a:t>
            </a:r>
            <a:r>
              <a:rPr lang="en-US" dirty="0">
                <a:solidFill>
                  <a:schemeClr val="tx1"/>
                </a:solidFill>
                <a:latin typeface="Times New Roman" panose="02020603050405020304" pitchFamily="18" charset="0"/>
                <a:cs typeface="Times New Roman" panose="02020603050405020304" pitchFamily="18" charset="0"/>
              </a:rPr>
              <a:t>Presidency University</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2081059" y="29496"/>
            <a:ext cx="2881773" cy="435077"/>
          </a:xfrm>
          <a:prstGeom prst="rect">
            <a:avLst/>
          </a:prstGeom>
        </p:spPr>
      </p:pic>
      <p:pic>
        <p:nvPicPr>
          <p:cNvPr id="7" name="Picture 6"/>
          <p:cNvPicPr>
            <a:picLocks noChangeAspect="1"/>
          </p:cNvPicPr>
          <p:nvPr/>
        </p:nvPicPr>
        <p:blipFill>
          <a:blip r:embed="rId4"/>
          <a:stretch>
            <a:fillRect/>
          </a:stretch>
        </p:blipFill>
        <p:spPr>
          <a:xfrm>
            <a:off x="5085313" y="51620"/>
            <a:ext cx="3704727" cy="435076"/>
          </a:xfrm>
          <a:prstGeom prst="rect">
            <a:avLst/>
          </a:prstGeom>
        </p:spPr>
      </p:pic>
      <p:sp>
        <p:nvSpPr>
          <p:cNvPr id="8" name="Date Placeholder 7">
            <a:extLst>
              <a:ext uri="{FF2B5EF4-FFF2-40B4-BE49-F238E27FC236}">
                <a16:creationId xmlns:a16="http://schemas.microsoft.com/office/drawing/2014/main" id="{64FDCD10-9426-31BB-7DD8-A0E79D5EAB14}"/>
              </a:ext>
            </a:extLst>
          </p:cNvPr>
          <p:cNvSpPr>
            <a:spLocks noGrp="1"/>
          </p:cNvSpPr>
          <p:nvPr>
            <p:ph type="dt" sz="half" idx="2"/>
          </p:nvPr>
        </p:nvSpPr>
        <p:spPr/>
        <p:txBody>
          <a:bodyPr/>
          <a:lstStyle/>
          <a:p>
            <a:fld id="{75D3ECDA-B259-4D18-8F43-94B57261161C}" type="datetime5">
              <a:rPr lang="en-IN" smtClean="0"/>
              <a:t>20-Nov-25</a:t>
            </a:fld>
            <a:endParaRPr lang="en-IN" dirty="0"/>
          </a:p>
        </p:txBody>
      </p:sp>
      <p:sp>
        <p:nvSpPr>
          <p:cNvPr id="9" name="Footer Placeholder 8">
            <a:extLst>
              <a:ext uri="{FF2B5EF4-FFF2-40B4-BE49-F238E27FC236}">
                <a16:creationId xmlns:a16="http://schemas.microsoft.com/office/drawing/2014/main" id="{1F1AC5DD-3A34-B86D-76E9-4AF1D3ED1150}"/>
              </a:ext>
            </a:extLst>
          </p:cNvPr>
          <p:cNvSpPr>
            <a:spLocks noGrp="1"/>
          </p:cNvSpPr>
          <p:nvPr>
            <p:ph type="ftr" sz="quarter" idx="3"/>
          </p:nvPr>
        </p:nvSpPr>
        <p:spPr/>
        <p:txBody>
          <a:body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308216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1"/>
            <a:ext cx="5558971" cy="1200329"/>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pPr algn="ctr"/>
            <a:r>
              <a:rPr lang="en-IN" sz="2400" b="1" dirty="0">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             </a:t>
            </a:r>
            <a:r>
              <a:rPr lang="en-IN" sz="2400" b="1" dirty="0">
                <a:solidFill>
                  <a:srgbClr val="002060"/>
                </a:solidFill>
                <a:latin typeface="Times New Roman" panose="02020603050405020304" pitchFamily="18" charset="0"/>
                <a:cs typeface="Times New Roman" panose="02020603050405020304" pitchFamily="18" charset="0"/>
              </a:rPr>
              <a:t>Research</a:t>
            </a:r>
            <a:r>
              <a:rPr lang="en-IN" sz="2000" b="1" dirty="0">
                <a:solidFill>
                  <a:srgbClr val="002060"/>
                </a:solidFill>
                <a:latin typeface="Times New Roman" panose="02020603050405020304" pitchFamily="18" charset="0"/>
                <a:cs typeface="Times New Roman" panose="02020603050405020304" pitchFamily="18" charset="0"/>
              </a:rPr>
              <a:t> </a:t>
            </a:r>
            <a:r>
              <a:rPr lang="en-IN" sz="2400" b="1" dirty="0">
                <a:solidFill>
                  <a:srgbClr val="002060"/>
                </a:solidFill>
                <a:latin typeface="Times New Roman" panose="02020603050405020304" pitchFamily="18" charset="0"/>
                <a:cs typeface="Times New Roman" panose="02020603050405020304" pitchFamily="18" charset="0"/>
              </a:rPr>
              <a:t>Presentation Outline</a:t>
            </a:r>
          </a:p>
          <a:p>
            <a:pPr algn="ctr"/>
            <a:r>
              <a:rPr lang="en-IN" sz="2400" b="1" dirty="0">
                <a:solidFill>
                  <a:srgbClr val="002060"/>
                </a:solidFill>
                <a:latin typeface="Times New Roman" panose="02020603050405020304" pitchFamily="18" charset="0"/>
                <a:cs typeface="Times New Roman" panose="02020603050405020304" pitchFamily="18" charset="0"/>
              </a:rPr>
              <a:t>     </a:t>
            </a:r>
          </a:p>
        </p:txBody>
      </p:sp>
      <p:sp>
        <p:nvSpPr>
          <p:cNvPr id="3" name="Rectangle 2"/>
          <p:cNvSpPr/>
          <p:nvPr/>
        </p:nvSpPr>
        <p:spPr>
          <a:xfrm>
            <a:off x="87086" y="928915"/>
            <a:ext cx="8904513" cy="3970318"/>
          </a:xfrm>
          <a:prstGeom prst="rect">
            <a:avLst/>
          </a:prstGeom>
        </p:spPr>
        <p:txBody>
          <a:bodyPr wrap="square">
            <a:spAutoFit/>
          </a:bodyPr>
          <a:lstStyle/>
          <a:p>
            <a:pPr marL="285750" indent="-285750" eaLnBrk="0" fontAlgn="base" hangingPunct="0">
              <a:spcBef>
                <a:spcPct val="0"/>
              </a:spcBef>
              <a:spcAft>
                <a:spcPct val="0"/>
              </a:spcAft>
              <a:buClrTx/>
              <a:buFontTx/>
              <a:buChar char="•"/>
            </a:pPr>
            <a:r>
              <a:rPr lang="en-US" b="1" dirty="0">
                <a:solidFill>
                  <a:srgbClr val="C00000"/>
                </a:solidFill>
                <a:latin typeface="Times New Roman" panose="02020603050405020304" pitchFamily="18" charset="0"/>
                <a:cs typeface="Times New Roman" panose="02020603050405020304" pitchFamily="18" charset="0"/>
              </a:rPr>
              <a:t>Introduction  </a:t>
            </a:r>
          </a:p>
          <a:p>
            <a:pPr marL="285750" indent="-285750" eaLnBrk="0" fontAlgn="base" hangingPunct="0">
              <a:spcBef>
                <a:spcPct val="0"/>
              </a:spcBef>
              <a:spcAft>
                <a:spcPct val="0"/>
              </a:spcAft>
              <a:buClrTx/>
              <a:buFontTx/>
              <a:buChar char="•"/>
            </a:pPr>
            <a:endParaRPr lang="en-US" b="1" dirty="0">
              <a:solidFill>
                <a:srgbClr val="C00000"/>
              </a:solidFill>
              <a:latin typeface="Times New Roman" panose="02020603050405020304" pitchFamily="18" charset="0"/>
              <a:cs typeface="Times New Roman" panose="02020603050405020304" pitchFamily="18" charset="0"/>
            </a:endParaRPr>
          </a:p>
          <a:p>
            <a:pPr marL="285750" indent="-285750" eaLnBrk="0" fontAlgn="base" hangingPunct="0">
              <a:spcBef>
                <a:spcPct val="0"/>
              </a:spcBef>
              <a:spcAft>
                <a:spcPct val="0"/>
              </a:spcAft>
              <a:buClrTx/>
              <a:buFontTx/>
              <a:buChar char="•"/>
            </a:pPr>
            <a:r>
              <a:rPr lang="en-US" b="1" dirty="0">
                <a:solidFill>
                  <a:srgbClr val="C00000"/>
                </a:solidFill>
                <a:latin typeface="Times New Roman" panose="02020603050405020304" pitchFamily="18" charset="0"/>
                <a:cs typeface="Times New Roman" panose="02020603050405020304" pitchFamily="18" charset="0"/>
              </a:rPr>
              <a:t>Literature Review</a:t>
            </a:r>
          </a:p>
          <a:p>
            <a:pPr marL="285750" indent="-285750" eaLnBrk="0" fontAlgn="base" hangingPunct="0">
              <a:spcBef>
                <a:spcPct val="0"/>
              </a:spcBef>
              <a:spcAft>
                <a:spcPct val="0"/>
              </a:spcAft>
              <a:buClrTx/>
              <a:buFontTx/>
              <a:buChar char="•"/>
            </a:pPr>
            <a:endParaRPr lang="en-US" b="1" dirty="0">
              <a:solidFill>
                <a:srgbClr val="C00000"/>
              </a:solidFill>
              <a:latin typeface="Times New Roman" panose="02020603050405020304" pitchFamily="18" charset="0"/>
              <a:cs typeface="Times New Roman" panose="02020603050405020304" pitchFamily="18" charset="0"/>
            </a:endParaRPr>
          </a:p>
          <a:p>
            <a:pPr marL="285750" indent="-285750" eaLnBrk="0" fontAlgn="base" hangingPunct="0">
              <a:spcBef>
                <a:spcPct val="0"/>
              </a:spcBef>
              <a:spcAft>
                <a:spcPct val="0"/>
              </a:spcAft>
              <a:buClrTx/>
              <a:buFontTx/>
              <a:buChar char="•"/>
            </a:pPr>
            <a:r>
              <a:rPr lang="en-US" b="1" dirty="0">
                <a:solidFill>
                  <a:srgbClr val="C00000"/>
                </a:solidFill>
                <a:latin typeface="Times New Roman" panose="02020603050405020304" pitchFamily="18" charset="0"/>
                <a:cs typeface="Times New Roman" panose="02020603050405020304" pitchFamily="18" charset="0"/>
              </a:rPr>
              <a:t>Research gaps and Objectives</a:t>
            </a:r>
          </a:p>
          <a:p>
            <a:pPr marL="285750" indent="-285750">
              <a:buFont typeface="Arial" panose="020B0604020202020204" pitchFamily="34" charset="0"/>
              <a:buChar char="•"/>
            </a:pPr>
            <a:endParaRPr lang="en-US" b="1" dirty="0">
              <a:solidFill>
                <a:srgbClr val="C0000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b="1" dirty="0">
                <a:solidFill>
                  <a:srgbClr val="C00000"/>
                </a:solidFill>
                <a:latin typeface="Times New Roman" panose="02020603050405020304" pitchFamily="18" charset="0"/>
                <a:cs typeface="Times New Roman" panose="02020603050405020304" pitchFamily="18" charset="0"/>
              </a:rPr>
              <a:t>     Methodology and  System Design </a:t>
            </a:r>
          </a:p>
          <a:p>
            <a:pPr lvl="0" eaLnBrk="0" fontAlgn="base" hangingPunct="0">
              <a:spcBef>
                <a:spcPct val="0"/>
              </a:spcBef>
              <a:spcAft>
                <a:spcPct val="0"/>
              </a:spcAft>
              <a:buClrTx/>
              <a:buFontTx/>
              <a:buChar char="•"/>
            </a:pPr>
            <a:endParaRPr lang="en-US" altLang="en-US" b="1" dirty="0">
              <a:solidFill>
                <a:srgbClr val="C0000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b="1" dirty="0">
                <a:solidFill>
                  <a:srgbClr val="C00000"/>
                </a:solidFill>
                <a:latin typeface="Times New Roman" panose="02020603050405020304" pitchFamily="18" charset="0"/>
                <a:cs typeface="Times New Roman" panose="02020603050405020304" pitchFamily="18" charset="0"/>
              </a:rPr>
              <a:t>     Implementation </a:t>
            </a:r>
          </a:p>
          <a:p>
            <a:pPr lvl="0" eaLnBrk="0" fontAlgn="base" hangingPunct="0">
              <a:spcBef>
                <a:spcPct val="0"/>
              </a:spcBef>
              <a:spcAft>
                <a:spcPct val="0"/>
              </a:spcAft>
              <a:buClrTx/>
            </a:pPr>
            <a:endParaRPr lang="en-US" altLang="en-US" b="1" dirty="0">
              <a:solidFill>
                <a:srgbClr val="C0000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b="1" dirty="0">
                <a:solidFill>
                  <a:srgbClr val="C00000"/>
                </a:solidFill>
                <a:latin typeface="Times New Roman" panose="02020603050405020304" pitchFamily="18" charset="0"/>
                <a:cs typeface="Times New Roman" panose="02020603050405020304" pitchFamily="18" charset="0"/>
              </a:rPr>
              <a:t>     Results and Analysis</a:t>
            </a:r>
          </a:p>
          <a:p>
            <a:pPr lvl="0" eaLnBrk="0" fontAlgn="base" hangingPunct="0">
              <a:spcBef>
                <a:spcPct val="0"/>
              </a:spcBef>
              <a:spcAft>
                <a:spcPct val="0"/>
              </a:spcAft>
              <a:buClrTx/>
              <a:buFontTx/>
              <a:buChar char="•"/>
            </a:pPr>
            <a:endParaRPr lang="en-US" altLang="en-US" b="1" dirty="0">
              <a:solidFill>
                <a:srgbClr val="C0000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b="1" dirty="0">
                <a:solidFill>
                  <a:srgbClr val="C00000"/>
                </a:solidFill>
                <a:latin typeface="Times New Roman" panose="02020603050405020304" pitchFamily="18" charset="0"/>
                <a:cs typeface="Times New Roman" panose="02020603050405020304" pitchFamily="18" charset="0"/>
              </a:rPr>
              <a:t>     Conclusion and Future work</a:t>
            </a:r>
          </a:p>
          <a:p>
            <a:pPr lvl="0" eaLnBrk="0" fontAlgn="base" hangingPunct="0">
              <a:spcBef>
                <a:spcPct val="0"/>
              </a:spcBef>
              <a:spcAft>
                <a:spcPct val="0"/>
              </a:spcAft>
              <a:buClrTx/>
              <a:buFontTx/>
              <a:buChar char="•"/>
            </a:pPr>
            <a:endParaRPr lang="en-US" altLang="en-US" b="1" dirty="0">
              <a:solidFill>
                <a:srgbClr val="C0000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b="1" dirty="0">
                <a:solidFill>
                  <a:srgbClr val="C00000"/>
                </a:solidFill>
                <a:latin typeface="Times New Roman" panose="02020603050405020304" pitchFamily="18" charset="0"/>
                <a:cs typeface="Times New Roman" panose="02020603050405020304" pitchFamily="18" charset="0"/>
              </a:rPr>
              <a:t>     References</a:t>
            </a:r>
          </a:p>
          <a:p>
            <a:pPr lvl="0" eaLnBrk="0" fontAlgn="base" hangingPunct="0">
              <a:spcBef>
                <a:spcPct val="0"/>
              </a:spcBef>
              <a:spcAft>
                <a:spcPct val="0"/>
              </a:spcAft>
              <a:buClrTx/>
              <a:buFontTx/>
              <a:buChar char="•"/>
            </a:pPr>
            <a:endParaRPr lang="en-US" altLang="en-US" b="1" dirty="0">
              <a:solidFill>
                <a:srgbClr val="C00000"/>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altLang="en-US" b="1" dirty="0">
                <a:solidFill>
                  <a:srgbClr val="C00000"/>
                </a:solidFill>
                <a:latin typeface="Times New Roman" panose="02020603050405020304" pitchFamily="18" charset="0"/>
                <a:cs typeface="Times New Roman" panose="02020603050405020304" pitchFamily="18" charset="0"/>
              </a:rPr>
              <a:t>     Acknowledgements and Thank you</a:t>
            </a:r>
          </a:p>
          <a:p>
            <a:endParaRPr lang="en-IN" dirty="0">
              <a:solidFill>
                <a:srgbClr val="C00000"/>
              </a:solidFill>
            </a:endParaRPr>
          </a:p>
        </p:txBody>
      </p:sp>
      <p:sp>
        <p:nvSpPr>
          <p:cNvPr id="7"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Picture 10"/>
          <p:cNvPicPr/>
          <p:nvPr/>
        </p:nvPicPr>
        <p:blipFill>
          <a:blip r:embed="rId3" cstate="print">
            <a:extLst>
              <a:ext uri="{28A0092B-C50C-407E-A947-70E740481C1C}">
                <a14:useLocalDpi xmlns:a14="http://schemas.microsoft.com/office/drawing/2010/main" val="0"/>
              </a:ext>
            </a:extLst>
          </a:blip>
          <a:stretch>
            <a:fillRect/>
          </a:stretch>
        </p:blipFill>
        <p:spPr>
          <a:xfrm>
            <a:off x="7392015" y="1"/>
            <a:ext cx="1409700" cy="466724"/>
          </a:xfrm>
          <a:prstGeom prst="rect">
            <a:avLst/>
          </a:prstGeom>
        </p:spPr>
      </p:pic>
      <p:sp>
        <p:nvSpPr>
          <p:cNvPr id="5" name="Date Placeholder 4">
            <a:extLst>
              <a:ext uri="{FF2B5EF4-FFF2-40B4-BE49-F238E27FC236}">
                <a16:creationId xmlns:a16="http://schemas.microsoft.com/office/drawing/2014/main" id="{1D6C5C33-CD60-4460-66D2-B3B58A7EFD1F}"/>
              </a:ext>
            </a:extLst>
          </p:cNvPr>
          <p:cNvSpPr>
            <a:spLocks noGrp="1"/>
          </p:cNvSpPr>
          <p:nvPr>
            <p:ph type="dt" sz="half" idx="2"/>
          </p:nvPr>
        </p:nvSpPr>
        <p:spPr/>
        <p:txBody>
          <a:bodyPr/>
          <a:lstStyle/>
          <a:p>
            <a:fld id="{0D9AB860-838D-418A-96EB-0E8CA5240532}" type="datetime5">
              <a:rPr lang="en-IN" smtClean="0"/>
              <a:t>20-Nov-25</a:t>
            </a:fld>
            <a:endParaRPr lang="en-IN" dirty="0"/>
          </a:p>
        </p:txBody>
      </p:sp>
      <p:sp>
        <p:nvSpPr>
          <p:cNvPr id="6" name="Footer Placeholder 5">
            <a:extLst>
              <a:ext uri="{FF2B5EF4-FFF2-40B4-BE49-F238E27FC236}">
                <a16:creationId xmlns:a16="http://schemas.microsoft.com/office/drawing/2014/main" id="{C05FCDC4-C5DE-2AD1-42F0-C01591B929A8}"/>
              </a:ext>
            </a:extLst>
          </p:cNvPr>
          <p:cNvSpPr>
            <a:spLocks noGrp="1"/>
          </p:cNvSpPr>
          <p:nvPr>
            <p:ph type="ftr" sz="quarter" idx="3"/>
          </p:nvPr>
        </p:nvSpPr>
        <p:spPr/>
        <p:txBody>
          <a:bodyPr/>
          <a:lstStyle/>
          <a:p>
            <a:r>
              <a:rPr lang="en-IN"/>
              <a:t>9</a:t>
            </a:r>
            <a:r>
              <a:rPr lang="en-IN" baseline="30000"/>
              <a:t>th</a:t>
            </a:r>
            <a:r>
              <a:rPr lang="en-IN"/>
              <a:t> CSITSS - 2025</a:t>
            </a:r>
            <a:endParaRPr lang="en-IN" dirty="0"/>
          </a:p>
        </p:txBody>
      </p:sp>
    </p:spTree>
    <p:extLst>
      <p:ext uri="{BB962C8B-B14F-4D97-AF65-F5344CB8AC3E}">
        <p14:creationId xmlns:p14="http://schemas.microsoft.com/office/powerpoint/2010/main" val="2258613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1"/>
            <a:ext cx="5558971" cy="1138773"/>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Introduction  </a:t>
            </a:r>
          </a:p>
          <a:p>
            <a:r>
              <a:rPr lang="en-IN" sz="2000" b="1" dirty="0">
                <a:solidFill>
                  <a:srgbClr val="002060"/>
                </a:solidFill>
                <a:latin typeface="Times New Roman" panose="02020603050405020304" pitchFamily="18" charset="0"/>
                <a:cs typeface="Times New Roman" panose="02020603050405020304" pitchFamily="18" charset="0"/>
              </a:rPr>
              <a:t>     </a:t>
            </a:r>
          </a:p>
        </p:txBody>
      </p:sp>
      <p:sp>
        <p:nvSpPr>
          <p:cNvPr id="7"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7392015" y="1"/>
            <a:ext cx="1409700" cy="466724"/>
          </a:xfrm>
          <a:prstGeom prst="rect">
            <a:avLst/>
          </a:prstGeom>
        </p:spPr>
      </p:pic>
      <p:sp>
        <p:nvSpPr>
          <p:cNvPr id="4" name="Date Placeholder 3">
            <a:extLst>
              <a:ext uri="{FF2B5EF4-FFF2-40B4-BE49-F238E27FC236}">
                <a16:creationId xmlns:a16="http://schemas.microsoft.com/office/drawing/2014/main" id="{8493AC7B-7502-C856-4087-25ABD05D254A}"/>
              </a:ext>
            </a:extLst>
          </p:cNvPr>
          <p:cNvSpPr>
            <a:spLocks noGrp="1"/>
          </p:cNvSpPr>
          <p:nvPr>
            <p:ph type="dt" sz="half" idx="2"/>
          </p:nvPr>
        </p:nvSpPr>
        <p:spPr/>
        <p:txBody>
          <a:bodyPr/>
          <a:lstStyle/>
          <a:p>
            <a:fld id="{DD76D141-0CE3-42EC-9F3F-931A6EDB2931}" type="datetime5">
              <a:rPr lang="en-IN" smtClean="0"/>
              <a:t>20-Nov-25</a:t>
            </a:fld>
            <a:endParaRPr lang="en-IN" dirty="0"/>
          </a:p>
        </p:txBody>
      </p:sp>
      <p:sp>
        <p:nvSpPr>
          <p:cNvPr id="6" name="Footer Placeholder 5">
            <a:extLst>
              <a:ext uri="{FF2B5EF4-FFF2-40B4-BE49-F238E27FC236}">
                <a16:creationId xmlns:a16="http://schemas.microsoft.com/office/drawing/2014/main" id="{F78F5D50-565B-DA77-4671-603807EC1F5D}"/>
              </a:ext>
            </a:extLst>
          </p:cNvPr>
          <p:cNvSpPr>
            <a:spLocks noGrp="1"/>
          </p:cNvSpPr>
          <p:nvPr>
            <p:ph type="ftr" sz="quarter" idx="3"/>
          </p:nvPr>
        </p:nvSpPr>
        <p:spPr/>
        <p:txBody>
          <a:bodyPr/>
          <a:lstStyle/>
          <a:p>
            <a:r>
              <a:rPr lang="en-IN"/>
              <a:t>9</a:t>
            </a:r>
            <a:r>
              <a:rPr lang="en-IN" baseline="30000"/>
              <a:t>th</a:t>
            </a:r>
            <a:r>
              <a:rPr lang="en-IN"/>
              <a:t> CSITSS - 2025</a:t>
            </a:r>
            <a:endParaRPr lang="en-IN" dirty="0"/>
          </a:p>
        </p:txBody>
      </p:sp>
      <p:sp>
        <p:nvSpPr>
          <p:cNvPr id="8" name="TextBox 7">
            <a:extLst>
              <a:ext uri="{FF2B5EF4-FFF2-40B4-BE49-F238E27FC236}">
                <a16:creationId xmlns:a16="http://schemas.microsoft.com/office/drawing/2014/main" id="{149AC3A7-50BE-6BF4-5C2B-D526C3DBECFA}"/>
              </a:ext>
            </a:extLst>
          </p:cNvPr>
          <p:cNvSpPr txBox="1"/>
          <p:nvPr/>
        </p:nvSpPr>
        <p:spPr>
          <a:xfrm>
            <a:off x="140124" y="1330645"/>
            <a:ext cx="4583574" cy="3539430"/>
          </a:xfrm>
          <a:prstGeom prst="rect">
            <a:avLst/>
          </a:prstGeom>
          <a:noFill/>
        </p:spPr>
        <p:txBody>
          <a:bodyPr wrap="square">
            <a:spAutoFit/>
          </a:bodyPr>
          <a:lstStyle/>
          <a:p>
            <a:r>
              <a:rPr lang="en-US" b="1" dirty="0"/>
              <a:t>❖  Current Threat Landscape</a:t>
            </a:r>
            <a:br>
              <a:rPr lang="en-US" b="1" dirty="0"/>
            </a:br>
            <a:r>
              <a:rPr lang="en-US" b="1" dirty="0"/>
              <a:t>➣  </a:t>
            </a:r>
            <a:r>
              <a:rPr lang="en-US" dirty="0"/>
              <a:t>Advanced cyberattacks exploit endpoints as entry points</a:t>
            </a:r>
            <a:br>
              <a:rPr lang="en-US" dirty="0"/>
            </a:br>
            <a:r>
              <a:rPr lang="en-US" dirty="0"/>
              <a:t>➣  Traditional tools lack real-time visibility</a:t>
            </a:r>
            <a:br>
              <a:rPr lang="en-US" dirty="0"/>
            </a:br>
            <a:r>
              <a:rPr lang="en-US" dirty="0"/>
              <a:t>➣  High false positives (15–20%) reduce reliability</a:t>
            </a:r>
            <a:br>
              <a:rPr lang="en-US" dirty="0"/>
            </a:br>
            <a:r>
              <a:rPr lang="en-US" dirty="0"/>
              <a:t>➣  Remote work &amp; cloud adoption expand attack surfaces</a:t>
            </a:r>
            <a:br>
              <a:rPr lang="en-US" dirty="0"/>
            </a:br>
            <a:r>
              <a:rPr lang="en-US" dirty="0"/>
              <a:t>➣  Signature-based detection fails against modern threats</a:t>
            </a:r>
            <a:br>
              <a:rPr lang="en-US" dirty="0"/>
            </a:br>
            <a:br>
              <a:rPr lang="en-US" dirty="0"/>
            </a:br>
            <a:r>
              <a:rPr lang="en-US" dirty="0"/>
              <a:t>❖  </a:t>
            </a:r>
            <a:r>
              <a:rPr lang="en-US" b="1" dirty="0"/>
              <a:t>Research Motivation</a:t>
            </a:r>
            <a:br>
              <a:rPr lang="en-US" b="1" dirty="0"/>
            </a:br>
            <a:r>
              <a:rPr lang="en-US" b="1" dirty="0"/>
              <a:t>➣  </a:t>
            </a:r>
            <a:r>
              <a:rPr lang="en-US" dirty="0"/>
              <a:t>Need for intelligent endpoint protection that:</a:t>
            </a:r>
            <a:br>
              <a:rPr lang="en-US" dirty="0"/>
            </a:br>
            <a:r>
              <a:rPr lang="en-US" dirty="0"/>
              <a:t>➣  Detects known &amp; zero-day threats in real time</a:t>
            </a:r>
            <a:br>
              <a:rPr lang="en-US" dirty="0"/>
            </a:br>
            <a:r>
              <a:rPr lang="en-US" dirty="0"/>
              <a:t>➣  Responds proportionally to risk severity</a:t>
            </a:r>
            <a:br>
              <a:rPr lang="en-US" dirty="0"/>
            </a:br>
            <a:r>
              <a:rPr lang="en-US" dirty="0"/>
              <a:t>➣  Reduces false positives &amp; performance overhead</a:t>
            </a:r>
            <a:br>
              <a:rPr lang="en-US" dirty="0"/>
            </a:br>
            <a:r>
              <a:rPr lang="en-US" dirty="0"/>
              <a:t>➣  Ensures standardized threat classification</a:t>
            </a:r>
            <a:endParaRPr lang="en-IN" dirty="0"/>
          </a:p>
        </p:txBody>
      </p:sp>
      <p:sp>
        <p:nvSpPr>
          <p:cNvPr id="10" name="TextBox 9">
            <a:extLst>
              <a:ext uri="{FF2B5EF4-FFF2-40B4-BE49-F238E27FC236}">
                <a16:creationId xmlns:a16="http://schemas.microsoft.com/office/drawing/2014/main" id="{4EA7DD6B-4C06-6785-EFF7-A0247B510782}"/>
              </a:ext>
            </a:extLst>
          </p:cNvPr>
          <p:cNvSpPr txBox="1"/>
          <p:nvPr/>
        </p:nvSpPr>
        <p:spPr>
          <a:xfrm>
            <a:off x="4791184" y="1386431"/>
            <a:ext cx="4583574" cy="1815882"/>
          </a:xfrm>
          <a:prstGeom prst="rect">
            <a:avLst/>
          </a:prstGeom>
          <a:noFill/>
        </p:spPr>
        <p:txBody>
          <a:bodyPr wrap="square">
            <a:spAutoFit/>
          </a:bodyPr>
          <a:lstStyle/>
          <a:p>
            <a:r>
              <a:rPr lang="en-US" b="1" dirty="0"/>
              <a:t>❖  Our Contribution</a:t>
            </a:r>
            <a:br>
              <a:rPr lang="en-US" b="1" dirty="0"/>
            </a:br>
            <a:r>
              <a:rPr lang="en-US" dirty="0"/>
              <a:t>An </a:t>
            </a:r>
            <a:r>
              <a:rPr lang="en-US" b="1" dirty="0"/>
              <a:t>AI-driven endpoint security agent</a:t>
            </a:r>
            <a:r>
              <a:rPr lang="en-US" dirty="0"/>
              <a:t> integrating:</a:t>
            </a:r>
            <a:br>
              <a:rPr lang="en-US" dirty="0"/>
            </a:br>
            <a:r>
              <a:rPr lang="en-US" dirty="0"/>
              <a:t>➣  Real-time monitoring (WMI &amp; ETW)</a:t>
            </a:r>
            <a:br>
              <a:rPr lang="en-US" dirty="0"/>
            </a:br>
            <a:r>
              <a:rPr lang="en-US" dirty="0"/>
              <a:t>➣  ML-based anomaly detection (Isolation Forest, </a:t>
            </a:r>
            <a:r>
              <a:rPr lang="en-US" dirty="0" err="1"/>
              <a:t>LLaMA</a:t>
            </a:r>
            <a:r>
              <a:rPr lang="en-US" dirty="0"/>
              <a:t>)</a:t>
            </a:r>
            <a:br>
              <a:rPr lang="en-US" dirty="0"/>
            </a:br>
            <a:r>
              <a:rPr lang="en-US" dirty="0"/>
              <a:t>➣  Automated threat response</a:t>
            </a:r>
            <a:br>
              <a:rPr lang="en-US" dirty="0"/>
            </a:br>
            <a:r>
              <a:rPr lang="en-US" dirty="0"/>
              <a:t>➣  </a:t>
            </a:r>
            <a:r>
              <a:rPr lang="en-US" b="1" dirty="0"/>
              <a:t>Mapped to MITRE ATT&amp;CK</a:t>
            </a:r>
            <a:r>
              <a:rPr lang="en-US" dirty="0"/>
              <a:t> for standardized intelligence</a:t>
            </a:r>
            <a:endParaRPr lang="en-US" kern="0" dirty="0">
              <a:solidFill>
                <a:sysClr val="windowText" lastClr="000000"/>
              </a:solidFill>
            </a:endParaRPr>
          </a:p>
        </p:txBody>
      </p:sp>
      <p:sp>
        <p:nvSpPr>
          <p:cNvPr id="12" name="TextBox 11">
            <a:extLst>
              <a:ext uri="{FF2B5EF4-FFF2-40B4-BE49-F238E27FC236}">
                <a16:creationId xmlns:a16="http://schemas.microsoft.com/office/drawing/2014/main" id="{D3BFE05D-40EB-8967-7FFA-F72877710183}"/>
              </a:ext>
            </a:extLst>
          </p:cNvPr>
          <p:cNvSpPr txBox="1"/>
          <p:nvPr/>
        </p:nvSpPr>
        <p:spPr>
          <a:xfrm>
            <a:off x="123694" y="993298"/>
            <a:ext cx="5584784" cy="307777"/>
          </a:xfrm>
          <a:prstGeom prst="rect">
            <a:avLst/>
          </a:prstGeom>
          <a:noFill/>
        </p:spPr>
        <p:txBody>
          <a:bodyPr wrap="square">
            <a:spAutoFit/>
          </a:bodyPr>
          <a:lstStyle/>
          <a:p>
            <a:r>
              <a:rPr lang="en-US" sz="1400" b="1" dirty="0">
                <a:latin typeface="Calibri" panose="020F0502020204030204" pitchFamily="34" charset="0"/>
                <a:ea typeface="Calibri" panose="020F0502020204030204" pitchFamily="34" charset="0"/>
                <a:cs typeface="Calibri" panose="020F0502020204030204" pitchFamily="34" charset="0"/>
              </a:rPr>
              <a:t>The Growing Endpoint Security Challenge</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4823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1"/>
            <a:ext cx="5558971" cy="1200329"/>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Literature Review</a:t>
            </a:r>
          </a:p>
          <a:p>
            <a:r>
              <a:rPr lang="en-IN" sz="2400" b="1" dirty="0">
                <a:solidFill>
                  <a:srgbClr val="002060"/>
                </a:solidFill>
                <a:latin typeface="Times New Roman" panose="02020603050405020304" pitchFamily="18" charset="0"/>
                <a:cs typeface="Times New Roman" panose="02020603050405020304" pitchFamily="18" charset="0"/>
              </a:rPr>
              <a:t>     </a:t>
            </a:r>
          </a:p>
        </p:txBody>
      </p:sp>
      <p:sp>
        <p:nvSpPr>
          <p:cNvPr id="7"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7392015" y="1"/>
            <a:ext cx="1409700" cy="466724"/>
          </a:xfrm>
          <a:prstGeom prst="rect">
            <a:avLst/>
          </a:prstGeom>
        </p:spPr>
      </p:pic>
      <p:sp>
        <p:nvSpPr>
          <p:cNvPr id="4" name="Date Placeholder 3">
            <a:extLst>
              <a:ext uri="{FF2B5EF4-FFF2-40B4-BE49-F238E27FC236}">
                <a16:creationId xmlns:a16="http://schemas.microsoft.com/office/drawing/2014/main" id="{F06EDFE5-00D3-431E-D67E-E92F34BA18FC}"/>
              </a:ext>
            </a:extLst>
          </p:cNvPr>
          <p:cNvSpPr>
            <a:spLocks noGrp="1"/>
          </p:cNvSpPr>
          <p:nvPr>
            <p:ph type="dt" sz="half" idx="2"/>
          </p:nvPr>
        </p:nvSpPr>
        <p:spPr/>
        <p:txBody>
          <a:bodyPr/>
          <a:lstStyle/>
          <a:p>
            <a:fld id="{7A9823A5-BDA8-4DB9-9728-D897EABE5937}" type="datetime5">
              <a:rPr lang="en-IN" smtClean="0"/>
              <a:t>20-Nov-25</a:t>
            </a:fld>
            <a:endParaRPr lang="en-IN" dirty="0"/>
          </a:p>
        </p:txBody>
      </p:sp>
      <p:sp>
        <p:nvSpPr>
          <p:cNvPr id="6" name="Footer Placeholder 5">
            <a:extLst>
              <a:ext uri="{FF2B5EF4-FFF2-40B4-BE49-F238E27FC236}">
                <a16:creationId xmlns:a16="http://schemas.microsoft.com/office/drawing/2014/main" id="{B4757DD9-E793-1485-0F20-32ED3C6BEADE}"/>
              </a:ext>
            </a:extLst>
          </p:cNvPr>
          <p:cNvSpPr>
            <a:spLocks noGrp="1"/>
          </p:cNvSpPr>
          <p:nvPr>
            <p:ph type="ftr" sz="quarter" idx="3"/>
          </p:nvPr>
        </p:nvSpPr>
        <p:spPr/>
        <p:txBody>
          <a:bodyPr/>
          <a:lstStyle/>
          <a:p>
            <a:r>
              <a:rPr lang="en-IN"/>
              <a:t>9</a:t>
            </a:r>
            <a:r>
              <a:rPr lang="en-IN" baseline="30000"/>
              <a:t>th</a:t>
            </a:r>
            <a:r>
              <a:rPr lang="en-IN"/>
              <a:t> CSITSS - 2025</a:t>
            </a:r>
            <a:endParaRPr lang="en-IN" dirty="0"/>
          </a:p>
        </p:txBody>
      </p:sp>
      <p:sp>
        <p:nvSpPr>
          <p:cNvPr id="8" name="TextBox 7">
            <a:extLst>
              <a:ext uri="{FF2B5EF4-FFF2-40B4-BE49-F238E27FC236}">
                <a16:creationId xmlns:a16="http://schemas.microsoft.com/office/drawing/2014/main" id="{EE5FAEE0-FF61-217D-9DA3-9A5EC16C1DE5}"/>
              </a:ext>
            </a:extLst>
          </p:cNvPr>
          <p:cNvSpPr txBox="1"/>
          <p:nvPr/>
        </p:nvSpPr>
        <p:spPr>
          <a:xfrm>
            <a:off x="10173" y="998099"/>
            <a:ext cx="9133827" cy="3754874"/>
          </a:xfrm>
          <a:prstGeom prst="rect">
            <a:avLst/>
          </a:prstGeom>
          <a:noFill/>
        </p:spPr>
        <p:txBody>
          <a:bodyPr wrap="square">
            <a:spAutoFit/>
          </a:bodyPr>
          <a:lstStyle/>
          <a:p>
            <a:r>
              <a:rPr lang="en-US" b="1" dirty="0"/>
              <a:t>Evolution of Endpoint Security Approaches</a:t>
            </a:r>
            <a:br>
              <a:rPr lang="en-US" b="1" dirty="0"/>
            </a:br>
            <a:br>
              <a:rPr lang="en-US" b="1" dirty="0"/>
            </a:br>
            <a:r>
              <a:rPr lang="en-US" b="1" dirty="0"/>
              <a:t>Traditional Methods &amp; Gaps</a:t>
            </a:r>
            <a:br>
              <a:rPr lang="en-US" dirty="0"/>
            </a:br>
            <a:r>
              <a:rPr lang="en-US" dirty="0"/>
              <a:t>➣ </a:t>
            </a:r>
            <a:r>
              <a:rPr lang="en-US" b="1" dirty="0"/>
              <a:t>Signature-Based:</a:t>
            </a:r>
            <a:r>
              <a:rPr lang="en-US" dirty="0"/>
              <a:t> Accurate for known threats but fails on zero-days; high false negatives.</a:t>
            </a:r>
            <a:br>
              <a:rPr lang="en-US" dirty="0"/>
            </a:br>
            <a:r>
              <a:rPr lang="en-US" dirty="0"/>
              <a:t>➣ </a:t>
            </a:r>
            <a:r>
              <a:rPr lang="en-US" b="1" dirty="0"/>
              <a:t>Behavior-Based:</a:t>
            </a:r>
            <a:r>
              <a:rPr lang="en-US" dirty="0"/>
              <a:t> Detects anomalies but prone to false positives without ML tuning.</a:t>
            </a:r>
            <a:br>
              <a:rPr lang="en-US" dirty="0"/>
            </a:br>
            <a:r>
              <a:rPr lang="en-US" dirty="0"/>
              <a:t>➣ </a:t>
            </a:r>
            <a:r>
              <a:rPr lang="en-US" b="1" dirty="0"/>
              <a:t>Machine Learning:</a:t>
            </a:r>
            <a:r>
              <a:rPr lang="en-US" dirty="0"/>
              <a:t> Improves unseen threat detection; needs large labeled datasets.</a:t>
            </a:r>
            <a:br>
              <a:rPr lang="en-US" dirty="0"/>
            </a:br>
            <a:r>
              <a:rPr lang="en-US" dirty="0"/>
              <a:t>➣ </a:t>
            </a:r>
            <a:r>
              <a:rPr lang="en-US" b="1" dirty="0"/>
              <a:t>Real-Time Monitoring:</a:t>
            </a:r>
            <a:r>
              <a:rPr lang="en-US" dirty="0"/>
              <a:t> Continuous analysis; resource-intensive at scale.</a:t>
            </a:r>
            <a:br>
              <a:rPr lang="en-US" dirty="0"/>
            </a:br>
            <a:r>
              <a:rPr lang="en-US" dirty="0"/>
              <a:t>➣ </a:t>
            </a:r>
            <a:r>
              <a:rPr lang="en-US" b="1" dirty="0"/>
              <a:t>Integrated Models:</a:t>
            </a:r>
            <a:r>
              <a:rPr lang="en-US" dirty="0"/>
              <a:t> Multi-layer protection; efficiency trade-offs.</a:t>
            </a:r>
            <a:br>
              <a:rPr lang="en-US" dirty="0"/>
            </a:br>
            <a:r>
              <a:rPr lang="en-US" dirty="0"/>
              <a:t>➣ </a:t>
            </a:r>
            <a:r>
              <a:rPr lang="en-US" b="1" dirty="0"/>
              <a:t>MITRE ATT&amp;CK Use:</a:t>
            </a:r>
            <a:r>
              <a:rPr lang="en-US" dirty="0"/>
              <a:t> Standardized taxonomy; limited, manual integrations.</a:t>
            </a:r>
            <a:br>
              <a:rPr lang="en-US" dirty="0"/>
            </a:br>
            <a:br>
              <a:rPr lang="en-US" dirty="0"/>
            </a:br>
            <a:r>
              <a:rPr lang="en-US" b="1" dirty="0"/>
              <a:t>Persistent Limitations</a:t>
            </a:r>
            <a:br>
              <a:rPr lang="en-US" dirty="0"/>
            </a:br>
            <a:r>
              <a:rPr lang="en-US" dirty="0"/>
              <a:t>⚠️ High false positives ⚠️ Heavy resource use ⚠️ Weak zero-day defense ⚠️ Shallow ATT&amp;CK mapping</a:t>
            </a:r>
            <a:br>
              <a:rPr lang="en-US" dirty="0"/>
            </a:br>
            <a:br>
              <a:rPr lang="en-US" dirty="0"/>
            </a:br>
            <a:r>
              <a:rPr lang="en-US" b="1" dirty="0"/>
              <a:t>Our Innovation</a:t>
            </a:r>
            <a:br>
              <a:rPr lang="en-US" dirty="0"/>
            </a:br>
            <a:r>
              <a:rPr lang="en-US" b="1" dirty="0"/>
              <a:t>→</a:t>
            </a:r>
            <a:r>
              <a:rPr lang="en-US" dirty="0"/>
              <a:t> Full MITRE ATT&amp;CK integration as a </a:t>
            </a:r>
            <a:r>
              <a:rPr lang="en-US" b="1" dirty="0"/>
              <a:t>core intelligence layer</a:t>
            </a:r>
            <a:r>
              <a:rPr lang="en-US" dirty="0"/>
              <a:t>, enabling </a:t>
            </a:r>
            <a:r>
              <a:rPr lang="en-US" b="1" dirty="0"/>
              <a:t>end-to-end detection-to-remediation</a:t>
            </a:r>
            <a:r>
              <a:rPr lang="en-US" dirty="0"/>
              <a:t> with </a:t>
            </a:r>
            <a:r>
              <a:rPr lang="en-US" b="1" dirty="0"/>
              <a:t>high accuracy and balanced efficiency</a:t>
            </a:r>
            <a:r>
              <a:rPr lang="en-US" dirty="0"/>
              <a:t>.</a:t>
            </a:r>
            <a:br>
              <a:rPr lang="en-US" dirty="0"/>
            </a:br>
            <a:endParaRPr lang="en-IN" dirty="0"/>
          </a:p>
        </p:txBody>
      </p:sp>
    </p:spTree>
    <p:extLst>
      <p:ext uri="{BB962C8B-B14F-4D97-AF65-F5344CB8AC3E}">
        <p14:creationId xmlns:p14="http://schemas.microsoft.com/office/powerpoint/2010/main" val="717798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1"/>
            <a:ext cx="5558971" cy="193899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pPr eaLnBrk="0" fontAlgn="base" hangingPunct="0"/>
            <a:r>
              <a:rPr lang="en-IN" sz="2400" b="1" dirty="0">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Research Gaps and Objectives</a:t>
            </a:r>
          </a:p>
          <a:p>
            <a:pPr marL="285750" indent="-285750">
              <a:buFont typeface="Arial" panose="020B0604020202020204" pitchFamily="34" charset="0"/>
              <a:buChar char="•"/>
            </a:pPr>
            <a:endParaRPr lang="en-US" sz="2400" b="1" dirty="0">
              <a:solidFill>
                <a:srgbClr val="C00000"/>
              </a:solidFill>
              <a:latin typeface="Times New Roman" panose="02020603050405020304" pitchFamily="18" charset="0"/>
              <a:cs typeface="Times New Roman" panose="02020603050405020304" pitchFamily="18" charset="0"/>
            </a:endParaRPr>
          </a:p>
          <a:p>
            <a:r>
              <a:rPr lang="en-US" sz="2400" b="1" dirty="0">
                <a:solidFill>
                  <a:srgbClr val="C00000"/>
                </a:solidFill>
                <a:latin typeface="Times New Roman" panose="02020603050405020304" pitchFamily="18" charset="0"/>
                <a:cs typeface="Times New Roman" panose="02020603050405020304" pitchFamily="18" charset="0"/>
              </a:rPr>
              <a:t> </a:t>
            </a:r>
          </a:p>
          <a:p>
            <a:r>
              <a:rPr lang="en-IN" sz="2400" b="1" dirty="0">
                <a:solidFill>
                  <a:srgbClr val="002060"/>
                </a:solidFill>
                <a:latin typeface="Times New Roman" panose="02020603050405020304" pitchFamily="18" charset="0"/>
                <a:cs typeface="Times New Roman" panose="02020603050405020304" pitchFamily="18" charset="0"/>
              </a:rPr>
              <a:t>     </a:t>
            </a:r>
          </a:p>
        </p:txBody>
      </p:sp>
      <p:sp>
        <p:nvSpPr>
          <p:cNvPr id="7"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7392015" y="1"/>
            <a:ext cx="1409700" cy="466724"/>
          </a:xfrm>
          <a:prstGeom prst="rect">
            <a:avLst/>
          </a:prstGeom>
        </p:spPr>
      </p:pic>
      <p:sp>
        <p:nvSpPr>
          <p:cNvPr id="4" name="Date Placeholder 3">
            <a:extLst>
              <a:ext uri="{FF2B5EF4-FFF2-40B4-BE49-F238E27FC236}">
                <a16:creationId xmlns:a16="http://schemas.microsoft.com/office/drawing/2014/main" id="{BFCE42EB-D052-9DE0-6297-6B851A2B56A3}"/>
              </a:ext>
            </a:extLst>
          </p:cNvPr>
          <p:cNvSpPr>
            <a:spLocks noGrp="1"/>
          </p:cNvSpPr>
          <p:nvPr>
            <p:ph type="dt" sz="half" idx="2"/>
          </p:nvPr>
        </p:nvSpPr>
        <p:spPr/>
        <p:txBody>
          <a:bodyPr/>
          <a:lstStyle/>
          <a:p>
            <a:fld id="{F3BF14ED-479F-47C1-9799-31AA2FCC252B}" type="datetime5">
              <a:rPr lang="en-IN" smtClean="0"/>
              <a:t>20-Nov-25</a:t>
            </a:fld>
            <a:endParaRPr lang="en-IN" dirty="0"/>
          </a:p>
        </p:txBody>
      </p:sp>
      <p:sp>
        <p:nvSpPr>
          <p:cNvPr id="6" name="Footer Placeholder 5">
            <a:extLst>
              <a:ext uri="{FF2B5EF4-FFF2-40B4-BE49-F238E27FC236}">
                <a16:creationId xmlns:a16="http://schemas.microsoft.com/office/drawing/2014/main" id="{7470EB1B-1704-7C52-D1A5-30A7C178AA5D}"/>
              </a:ext>
            </a:extLst>
          </p:cNvPr>
          <p:cNvSpPr>
            <a:spLocks noGrp="1"/>
          </p:cNvSpPr>
          <p:nvPr>
            <p:ph type="ftr" sz="quarter" idx="3"/>
          </p:nvPr>
        </p:nvSpPr>
        <p:spPr/>
        <p:txBody>
          <a:bodyPr/>
          <a:lstStyle/>
          <a:p>
            <a:r>
              <a:rPr lang="en-IN"/>
              <a:t>9</a:t>
            </a:r>
            <a:r>
              <a:rPr lang="en-IN" baseline="30000"/>
              <a:t>th</a:t>
            </a:r>
            <a:r>
              <a:rPr lang="en-IN"/>
              <a:t> CSITSS - 2025</a:t>
            </a:r>
            <a:endParaRPr lang="en-IN" dirty="0"/>
          </a:p>
        </p:txBody>
      </p:sp>
      <p:sp>
        <p:nvSpPr>
          <p:cNvPr id="8" name="TextBox 7">
            <a:extLst>
              <a:ext uri="{FF2B5EF4-FFF2-40B4-BE49-F238E27FC236}">
                <a16:creationId xmlns:a16="http://schemas.microsoft.com/office/drawing/2014/main" id="{B03369B4-BC6D-2591-4CDF-98367922A3DF}"/>
              </a:ext>
            </a:extLst>
          </p:cNvPr>
          <p:cNvSpPr txBox="1"/>
          <p:nvPr/>
        </p:nvSpPr>
        <p:spPr>
          <a:xfrm>
            <a:off x="207610" y="1179782"/>
            <a:ext cx="4583574" cy="3108543"/>
          </a:xfrm>
          <a:prstGeom prst="rect">
            <a:avLst/>
          </a:prstGeom>
          <a:noFill/>
        </p:spPr>
        <p:txBody>
          <a:bodyPr wrap="square">
            <a:spAutoFit/>
          </a:bodyPr>
          <a:lstStyle/>
          <a:p>
            <a:r>
              <a:rPr lang="en-IN" b="1" dirty="0"/>
              <a:t>Primary Research Objectives</a:t>
            </a:r>
            <a:br>
              <a:rPr lang="en-IN" b="1" dirty="0"/>
            </a:br>
            <a:br>
              <a:rPr lang="en-IN" b="1" dirty="0"/>
            </a:br>
            <a:r>
              <a:rPr lang="en-IN" b="1" dirty="0"/>
              <a:t>❖ Modular Real-Time Security Agent</a:t>
            </a:r>
            <a:br>
              <a:rPr lang="en-IN" dirty="0"/>
            </a:br>
            <a:r>
              <a:rPr lang="en-IN" dirty="0"/>
              <a:t>➣ Windows monitoring via WMI &amp; ETW</a:t>
            </a:r>
            <a:br>
              <a:rPr lang="en-IN" dirty="0"/>
            </a:br>
            <a:r>
              <a:rPr lang="en-IN" dirty="0"/>
              <a:t>➣ Lightweight, extensible architecture</a:t>
            </a:r>
            <a:br>
              <a:rPr lang="en-IN" dirty="0"/>
            </a:br>
            <a:br>
              <a:rPr lang="en-IN" dirty="0"/>
            </a:br>
            <a:r>
              <a:rPr lang="en-IN" dirty="0"/>
              <a:t>❖ </a:t>
            </a:r>
            <a:r>
              <a:rPr lang="en-IN" b="1" dirty="0"/>
              <a:t>Multi-Layer Threat Detection</a:t>
            </a:r>
            <a:br>
              <a:rPr lang="en-IN" dirty="0"/>
            </a:br>
            <a:r>
              <a:rPr lang="en-IN" dirty="0"/>
              <a:t>➣ ML-based anomaly detection (Isolation Forest)</a:t>
            </a:r>
            <a:br>
              <a:rPr lang="en-IN" dirty="0"/>
            </a:br>
            <a:r>
              <a:rPr lang="en-IN" dirty="0"/>
              <a:t>➣ Fine-tuned </a:t>
            </a:r>
            <a:r>
              <a:rPr lang="en-IN" dirty="0" err="1"/>
              <a:t>LLaMA</a:t>
            </a:r>
            <a:r>
              <a:rPr lang="en-IN" dirty="0"/>
              <a:t> on MITRE ATT&amp;CK</a:t>
            </a:r>
            <a:br>
              <a:rPr lang="en-IN" dirty="0"/>
            </a:br>
            <a:r>
              <a:rPr lang="en-IN" dirty="0"/>
              <a:t>➣ Behavioural + signature-based analysis</a:t>
            </a:r>
            <a:br>
              <a:rPr lang="en-IN" dirty="0"/>
            </a:br>
            <a:br>
              <a:rPr lang="en-IN" dirty="0"/>
            </a:br>
            <a:r>
              <a:rPr lang="en-IN" dirty="0"/>
              <a:t>❖ </a:t>
            </a:r>
            <a:r>
              <a:rPr lang="en-IN" b="1" dirty="0"/>
              <a:t>MITRE ATT&amp;CK Integration</a:t>
            </a:r>
            <a:br>
              <a:rPr lang="en-IN" dirty="0"/>
            </a:br>
            <a:r>
              <a:rPr lang="en-IN" dirty="0"/>
              <a:t>➣ Maps to 14 tactics, 193 techniques</a:t>
            </a:r>
            <a:br>
              <a:rPr lang="en-IN" dirty="0"/>
            </a:br>
            <a:r>
              <a:rPr lang="en-IN" dirty="0"/>
              <a:t>➣ Enables standardized, context-aware detection</a:t>
            </a:r>
          </a:p>
        </p:txBody>
      </p:sp>
      <p:sp>
        <p:nvSpPr>
          <p:cNvPr id="10" name="TextBox 9">
            <a:extLst>
              <a:ext uri="{FF2B5EF4-FFF2-40B4-BE49-F238E27FC236}">
                <a16:creationId xmlns:a16="http://schemas.microsoft.com/office/drawing/2014/main" id="{FF50D35D-90BA-15B6-C629-78A3CF1A73CA}"/>
              </a:ext>
            </a:extLst>
          </p:cNvPr>
          <p:cNvSpPr txBox="1"/>
          <p:nvPr/>
        </p:nvSpPr>
        <p:spPr>
          <a:xfrm>
            <a:off x="4791184" y="1604070"/>
            <a:ext cx="4352816" cy="1600438"/>
          </a:xfrm>
          <a:prstGeom prst="rect">
            <a:avLst/>
          </a:prstGeom>
          <a:noFill/>
        </p:spPr>
        <p:txBody>
          <a:bodyPr wrap="square">
            <a:spAutoFit/>
          </a:bodyPr>
          <a:lstStyle/>
          <a:p>
            <a:r>
              <a:rPr lang="en-IN" b="1" dirty="0"/>
              <a:t>❖ Automated Threat Response</a:t>
            </a:r>
          </a:p>
          <a:p>
            <a:r>
              <a:rPr lang="en-IN" dirty="0"/>
              <a:t>➣ Risk-based actions (IP block, isolation, disable)</a:t>
            </a:r>
          </a:p>
          <a:p>
            <a:r>
              <a:rPr lang="en-IN" dirty="0"/>
              <a:t>➣ &lt;2s latency, centralized alerts &amp; forensics</a:t>
            </a:r>
          </a:p>
          <a:p>
            <a:endParaRPr lang="en-IN" dirty="0"/>
          </a:p>
          <a:p>
            <a:r>
              <a:rPr lang="en-IN" b="1" dirty="0"/>
              <a:t>❖ System Validation</a:t>
            </a:r>
          </a:p>
          <a:p>
            <a:r>
              <a:rPr lang="en-IN" dirty="0"/>
              <a:t>➣ 85% detection accuracy, &lt;8% false positives</a:t>
            </a:r>
          </a:p>
          <a:p>
            <a:r>
              <a:rPr lang="en-IN" dirty="0"/>
              <a:t>➣ &lt;25% CPU, &lt;2GB RAM, real-time (1K–1.5K </a:t>
            </a:r>
            <a:r>
              <a:rPr lang="en-IN" dirty="0" err="1"/>
              <a:t>ev</a:t>
            </a:r>
            <a:r>
              <a:rPr lang="en-IN" dirty="0"/>
              <a:t>/s)</a:t>
            </a:r>
          </a:p>
        </p:txBody>
      </p:sp>
    </p:spTree>
    <p:extLst>
      <p:ext uri="{BB962C8B-B14F-4D97-AF65-F5344CB8AC3E}">
        <p14:creationId xmlns:p14="http://schemas.microsoft.com/office/powerpoint/2010/main" val="1994608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1"/>
            <a:ext cx="5558971" cy="1200329"/>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Methodology and  System Design </a:t>
            </a:r>
          </a:p>
          <a:p>
            <a:r>
              <a:rPr lang="en-IN" sz="2400" b="1" dirty="0">
                <a:solidFill>
                  <a:srgbClr val="002060"/>
                </a:solidFill>
                <a:latin typeface="Times New Roman" panose="02020603050405020304" pitchFamily="18" charset="0"/>
                <a:cs typeface="Times New Roman" panose="02020603050405020304" pitchFamily="18" charset="0"/>
              </a:rPr>
              <a:t>     </a:t>
            </a:r>
          </a:p>
        </p:txBody>
      </p:sp>
      <p:sp>
        <p:nvSpPr>
          <p:cNvPr id="7"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7392015" y="1"/>
            <a:ext cx="1409700" cy="466724"/>
          </a:xfrm>
          <a:prstGeom prst="rect">
            <a:avLst/>
          </a:prstGeom>
        </p:spPr>
      </p:pic>
      <p:sp>
        <p:nvSpPr>
          <p:cNvPr id="5" name="Date Placeholder 4">
            <a:extLst>
              <a:ext uri="{FF2B5EF4-FFF2-40B4-BE49-F238E27FC236}">
                <a16:creationId xmlns:a16="http://schemas.microsoft.com/office/drawing/2014/main" id="{7EF354A3-CE7A-BEFA-F012-C6B4BB7D7FA8}"/>
              </a:ext>
            </a:extLst>
          </p:cNvPr>
          <p:cNvSpPr>
            <a:spLocks noGrp="1"/>
          </p:cNvSpPr>
          <p:nvPr>
            <p:ph type="dt" sz="half" idx="2"/>
          </p:nvPr>
        </p:nvSpPr>
        <p:spPr/>
        <p:txBody>
          <a:bodyPr/>
          <a:lstStyle/>
          <a:p>
            <a:fld id="{F451FC17-F010-4EA0-A307-8E88425750CB}" type="datetime5">
              <a:rPr lang="en-IN" smtClean="0"/>
              <a:t>20-Nov-25</a:t>
            </a:fld>
            <a:endParaRPr lang="en-IN" dirty="0"/>
          </a:p>
        </p:txBody>
      </p:sp>
      <p:sp>
        <p:nvSpPr>
          <p:cNvPr id="6" name="Footer Placeholder 5">
            <a:extLst>
              <a:ext uri="{FF2B5EF4-FFF2-40B4-BE49-F238E27FC236}">
                <a16:creationId xmlns:a16="http://schemas.microsoft.com/office/drawing/2014/main" id="{FBD2A871-1DF9-AF30-2F5A-FEF21C9B7835}"/>
              </a:ext>
            </a:extLst>
          </p:cNvPr>
          <p:cNvSpPr>
            <a:spLocks noGrp="1"/>
          </p:cNvSpPr>
          <p:nvPr>
            <p:ph type="ftr" sz="quarter" idx="3"/>
          </p:nvPr>
        </p:nvSpPr>
        <p:spPr/>
        <p:txBody>
          <a:bodyPr/>
          <a:lstStyle/>
          <a:p>
            <a:r>
              <a:rPr lang="en-IN"/>
              <a:t>9</a:t>
            </a:r>
            <a:r>
              <a:rPr lang="en-IN" baseline="30000"/>
              <a:t>th</a:t>
            </a:r>
            <a:r>
              <a:rPr lang="en-IN"/>
              <a:t> CSITSS - 2025</a:t>
            </a:r>
            <a:endParaRPr lang="en-IN" dirty="0"/>
          </a:p>
        </p:txBody>
      </p:sp>
      <p:sp>
        <p:nvSpPr>
          <p:cNvPr id="8" name="TextBox 7">
            <a:extLst>
              <a:ext uri="{FF2B5EF4-FFF2-40B4-BE49-F238E27FC236}">
                <a16:creationId xmlns:a16="http://schemas.microsoft.com/office/drawing/2014/main" id="{DFAACBC2-52F3-C573-FC13-AD41AB43C145}"/>
              </a:ext>
            </a:extLst>
          </p:cNvPr>
          <p:cNvSpPr txBox="1"/>
          <p:nvPr/>
        </p:nvSpPr>
        <p:spPr>
          <a:xfrm>
            <a:off x="81023" y="882237"/>
            <a:ext cx="8981953" cy="3970318"/>
          </a:xfrm>
          <a:prstGeom prst="rect">
            <a:avLst/>
          </a:prstGeom>
          <a:noFill/>
        </p:spPr>
        <p:txBody>
          <a:bodyPr wrap="square">
            <a:spAutoFit/>
          </a:bodyPr>
          <a:lstStyle/>
          <a:p>
            <a:r>
              <a:rPr lang="en-IN" sz="1400" b="1" dirty="0"/>
              <a:t>Comprehensive Multi-Layer Security Architecture</a:t>
            </a:r>
            <a:br>
              <a:rPr lang="en-IN" sz="1400" b="1" dirty="0"/>
            </a:br>
            <a:br>
              <a:rPr lang="en-IN" sz="1400" b="1" dirty="0"/>
            </a:br>
            <a:r>
              <a:rPr lang="en-IN" sz="1400" b="1" dirty="0" err="1"/>
              <a:t>Architecture</a:t>
            </a:r>
            <a:r>
              <a:rPr lang="en-IN" sz="1400" b="1" dirty="0"/>
              <a:t> Overview</a:t>
            </a:r>
            <a:br>
              <a:rPr lang="en-IN" sz="1400" dirty="0"/>
            </a:br>
            <a:r>
              <a:rPr lang="en-IN" sz="1400" dirty="0"/>
              <a:t>❖ </a:t>
            </a:r>
            <a:r>
              <a:rPr lang="en-IN" sz="1400" b="1" dirty="0"/>
              <a:t>Monitoring:</a:t>
            </a:r>
            <a:r>
              <a:rPr lang="en-IN" sz="1400" dirty="0"/>
              <a:t> Real-time tracking (processes, network, files, registry) via lightweight OS hooks.</a:t>
            </a:r>
            <a:br>
              <a:rPr lang="en-IN" sz="1400" dirty="0"/>
            </a:br>
            <a:r>
              <a:rPr lang="en-IN" sz="1400" dirty="0"/>
              <a:t>❖ </a:t>
            </a:r>
            <a:r>
              <a:rPr lang="en-IN" sz="1400" b="1" dirty="0"/>
              <a:t>Data Collection:</a:t>
            </a:r>
            <a:r>
              <a:rPr lang="en-IN" sz="1400" dirty="0"/>
              <a:t> Hardware/software configs; low-overhead visibility.</a:t>
            </a:r>
            <a:br>
              <a:rPr lang="en-IN" sz="1400" dirty="0"/>
            </a:br>
            <a:r>
              <a:rPr lang="en-IN" sz="1400" dirty="0"/>
              <a:t>❖ </a:t>
            </a:r>
            <a:r>
              <a:rPr lang="en-IN" sz="1400" b="1" dirty="0"/>
              <a:t>Analysis (3 Layers):</a:t>
            </a:r>
            <a:br>
              <a:rPr lang="en-IN" sz="1400" dirty="0"/>
            </a:br>
            <a:r>
              <a:rPr lang="en-IN" sz="1400" dirty="0"/>
              <a:t>➣ </a:t>
            </a:r>
            <a:r>
              <a:rPr lang="en-IN" sz="1400" i="1" dirty="0"/>
              <a:t>Isolation Forest</a:t>
            </a:r>
            <a:r>
              <a:rPr lang="en-IN" sz="1400" dirty="0"/>
              <a:t> – 92.1% </a:t>
            </a:r>
            <a:r>
              <a:rPr lang="en-IN" sz="1400" dirty="0" err="1"/>
              <a:t>Acc</a:t>
            </a:r>
            <a:r>
              <a:rPr lang="en-IN" sz="1400" dirty="0"/>
              <a:t>, F1 91.5</a:t>
            </a:r>
            <a:br>
              <a:rPr lang="en-IN" sz="1400" dirty="0"/>
            </a:br>
            <a:r>
              <a:rPr lang="en-IN" sz="1400" dirty="0"/>
              <a:t>➣ </a:t>
            </a:r>
            <a:r>
              <a:rPr lang="en-IN" sz="1400" i="1" dirty="0"/>
              <a:t>Fine-Tuned </a:t>
            </a:r>
            <a:r>
              <a:rPr lang="en-IN" sz="1400" i="1" dirty="0" err="1"/>
              <a:t>LLaMA</a:t>
            </a:r>
            <a:r>
              <a:rPr lang="en-IN" sz="1400" i="1" dirty="0"/>
              <a:t> (</a:t>
            </a:r>
            <a:r>
              <a:rPr lang="en-IN" sz="1400" i="1" dirty="0" err="1"/>
              <a:t>LoRA</a:t>
            </a:r>
            <a:r>
              <a:rPr lang="en-IN" sz="1400" i="1" dirty="0"/>
              <a:t>)</a:t>
            </a:r>
            <a:r>
              <a:rPr lang="en-IN" sz="1400" dirty="0"/>
              <a:t> – 88.3% </a:t>
            </a:r>
            <a:r>
              <a:rPr lang="en-IN" sz="1400" dirty="0" err="1"/>
              <a:t>Acc</a:t>
            </a:r>
            <a:r>
              <a:rPr lang="en-IN" sz="1400" dirty="0"/>
              <a:t>, F1 88.2, APT 92.7</a:t>
            </a:r>
            <a:br>
              <a:rPr lang="en-IN" sz="1400" dirty="0"/>
            </a:br>
            <a:r>
              <a:rPr lang="en-IN" sz="1400" dirty="0"/>
              <a:t>➣ </a:t>
            </a:r>
            <a:r>
              <a:rPr lang="en-IN" sz="1400" i="1" dirty="0"/>
              <a:t>Risk Scoring</a:t>
            </a:r>
            <a:r>
              <a:rPr lang="en-IN" sz="1400" dirty="0"/>
              <a:t> – Weighted anomaly + severity + criticality (90.5% </a:t>
            </a:r>
            <a:r>
              <a:rPr lang="en-IN" sz="1400" dirty="0" err="1"/>
              <a:t>Acc</a:t>
            </a:r>
            <a:r>
              <a:rPr lang="en-IN" sz="1400" dirty="0"/>
              <a:t>)</a:t>
            </a:r>
            <a:br>
              <a:rPr lang="en-IN" sz="1400" dirty="0"/>
            </a:br>
            <a:r>
              <a:rPr lang="en-IN" sz="1400" dirty="0"/>
              <a:t>❖ </a:t>
            </a:r>
            <a:r>
              <a:rPr lang="en-IN" sz="1400" b="1" dirty="0"/>
              <a:t>Response:</a:t>
            </a:r>
            <a:r>
              <a:rPr lang="en-IN" sz="1400" dirty="0"/>
              <a:t> Context-aware MITRE ATT&amp;CK actions (block, isolate, quarantine) &lt; 2 s.</a:t>
            </a:r>
            <a:br>
              <a:rPr lang="en-IN" sz="1400" dirty="0"/>
            </a:br>
            <a:r>
              <a:rPr lang="en-IN" sz="1400" dirty="0"/>
              <a:t>❖ </a:t>
            </a:r>
            <a:r>
              <a:rPr lang="en-IN" sz="1400" b="1" dirty="0"/>
              <a:t>Communication:</a:t>
            </a:r>
            <a:r>
              <a:rPr lang="en-IN" sz="1400" dirty="0"/>
              <a:t> Secure SSL/TLS + HMAC channel integrity.</a:t>
            </a:r>
            <a:br>
              <a:rPr lang="en-IN" sz="1400" dirty="0"/>
            </a:br>
            <a:br>
              <a:rPr lang="en-IN" sz="1400" dirty="0"/>
            </a:br>
            <a:r>
              <a:rPr lang="en-IN" sz="1400" b="1" dirty="0"/>
              <a:t>Threat Detection Pipeline</a:t>
            </a:r>
            <a:br>
              <a:rPr lang="en-IN" sz="1400" dirty="0"/>
            </a:br>
            <a:r>
              <a:rPr lang="en-IN" sz="1400" dirty="0"/>
              <a:t>1️⃣ Event Collection → 2️⃣ Preprocessing → 3️⃣ Parallel Detection → 4️⃣ Risk &amp; Response</a:t>
            </a:r>
            <a:br>
              <a:rPr lang="en-IN" sz="1400" dirty="0"/>
            </a:br>
            <a:r>
              <a:rPr lang="en-IN" sz="1400" i="1" dirty="0"/>
              <a:t>Throughput:</a:t>
            </a:r>
            <a:r>
              <a:rPr lang="en-IN" sz="1400" dirty="0"/>
              <a:t> 1000–1500 events/s </a:t>
            </a:r>
            <a:r>
              <a:rPr lang="en-IN" sz="1400" i="1" dirty="0"/>
              <a:t>Latency:</a:t>
            </a:r>
            <a:r>
              <a:rPr lang="en-IN" sz="1400" dirty="0"/>
              <a:t> &lt; 2 s</a:t>
            </a:r>
            <a:br>
              <a:rPr lang="en-IN" sz="1400" dirty="0"/>
            </a:br>
            <a:br>
              <a:rPr lang="en-IN" sz="1400" dirty="0"/>
            </a:br>
            <a:r>
              <a:rPr lang="en-IN" sz="1400" b="1" dirty="0"/>
              <a:t>Training Data</a:t>
            </a:r>
            <a:br>
              <a:rPr lang="en-IN" sz="1400" dirty="0"/>
            </a:br>
            <a:r>
              <a:rPr lang="en-IN" sz="1400" dirty="0"/>
              <a:t>1 M events | 45 features | Mapped to MITRE ATT&amp;CK | 70/15/15 split</a:t>
            </a:r>
            <a:endParaRPr lang="en-IN" dirty="0"/>
          </a:p>
        </p:txBody>
      </p:sp>
    </p:spTree>
    <p:extLst>
      <p:ext uri="{BB962C8B-B14F-4D97-AF65-F5344CB8AC3E}">
        <p14:creationId xmlns:p14="http://schemas.microsoft.com/office/powerpoint/2010/main" val="3088825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1"/>
            <a:ext cx="5558971"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pPr eaLnBrk="0" fontAlgn="base" hangingPunct="0">
              <a:spcBef>
                <a:spcPct val="0"/>
              </a:spcBef>
              <a:spcAft>
                <a:spcPct val="0"/>
              </a:spcAft>
              <a:buClrTx/>
            </a:pPr>
            <a:r>
              <a:rPr lang="en-US" altLang="en-US" sz="2400" b="1" dirty="0">
                <a:solidFill>
                  <a:srgbClr val="C00000"/>
                </a:solidFill>
                <a:latin typeface="Times New Roman" panose="02020603050405020304" pitchFamily="18" charset="0"/>
                <a:cs typeface="Times New Roman" panose="02020603050405020304" pitchFamily="18" charset="0"/>
              </a:rPr>
              <a:t>     </a:t>
            </a:r>
            <a:r>
              <a:rPr lang="en-US" altLang="en-US" sz="2400" b="1" dirty="0">
                <a:solidFill>
                  <a:srgbClr val="002060"/>
                </a:solidFill>
                <a:latin typeface="Times New Roman" panose="02020603050405020304" pitchFamily="18" charset="0"/>
                <a:cs typeface="Times New Roman" panose="02020603050405020304" pitchFamily="18" charset="0"/>
              </a:rPr>
              <a:t>Implementation / Experimental Set up </a:t>
            </a:r>
            <a:r>
              <a:rPr lang="en-IN" sz="2400" b="1" dirty="0">
                <a:solidFill>
                  <a:srgbClr val="002060"/>
                </a:solidFill>
                <a:latin typeface="Times New Roman" panose="02020603050405020304" pitchFamily="18" charset="0"/>
                <a:cs typeface="Times New Roman" panose="02020603050405020304" pitchFamily="18" charset="0"/>
              </a:rPr>
              <a:t> </a:t>
            </a:r>
          </a:p>
        </p:txBody>
      </p:sp>
      <p:sp>
        <p:nvSpPr>
          <p:cNvPr id="7"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7392015" y="1"/>
            <a:ext cx="1409700" cy="466724"/>
          </a:xfrm>
          <a:prstGeom prst="rect">
            <a:avLst/>
          </a:prstGeom>
        </p:spPr>
      </p:pic>
      <p:sp>
        <p:nvSpPr>
          <p:cNvPr id="5" name="Date Placeholder 4">
            <a:extLst>
              <a:ext uri="{FF2B5EF4-FFF2-40B4-BE49-F238E27FC236}">
                <a16:creationId xmlns:a16="http://schemas.microsoft.com/office/drawing/2014/main" id="{A56DF94D-74BE-E175-218A-8FC94A8A2DCB}"/>
              </a:ext>
            </a:extLst>
          </p:cNvPr>
          <p:cNvSpPr>
            <a:spLocks noGrp="1"/>
          </p:cNvSpPr>
          <p:nvPr>
            <p:ph type="dt" sz="half" idx="2"/>
          </p:nvPr>
        </p:nvSpPr>
        <p:spPr/>
        <p:txBody>
          <a:bodyPr/>
          <a:lstStyle/>
          <a:p>
            <a:fld id="{3707812C-E66C-47EE-9B23-AF68D3EE7E34}" type="datetime5">
              <a:rPr lang="en-IN" smtClean="0"/>
              <a:t>20-Nov-25</a:t>
            </a:fld>
            <a:endParaRPr lang="en-IN" dirty="0"/>
          </a:p>
        </p:txBody>
      </p:sp>
      <p:sp>
        <p:nvSpPr>
          <p:cNvPr id="6" name="Footer Placeholder 5">
            <a:extLst>
              <a:ext uri="{FF2B5EF4-FFF2-40B4-BE49-F238E27FC236}">
                <a16:creationId xmlns:a16="http://schemas.microsoft.com/office/drawing/2014/main" id="{D4C22CEA-5AE1-1807-5EB6-9E43E2E86D55}"/>
              </a:ext>
            </a:extLst>
          </p:cNvPr>
          <p:cNvSpPr>
            <a:spLocks noGrp="1"/>
          </p:cNvSpPr>
          <p:nvPr>
            <p:ph type="ftr" sz="quarter" idx="3"/>
          </p:nvPr>
        </p:nvSpPr>
        <p:spPr/>
        <p:txBody>
          <a:bodyPr/>
          <a:lstStyle/>
          <a:p>
            <a:r>
              <a:rPr lang="en-IN"/>
              <a:t>9</a:t>
            </a:r>
            <a:r>
              <a:rPr lang="en-IN" baseline="30000"/>
              <a:t>th</a:t>
            </a:r>
            <a:r>
              <a:rPr lang="en-IN"/>
              <a:t> CSITSS - 2025</a:t>
            </a:r>
            <a:endParaRPr lang="en-IN" dirty="0"/>
          </a:p>
        </p:txBody>
      </p:sp>
      <p:sp>
        <p:nvSpPr>
          <p:cNvPr id="8" name="TextBox 7">
            <a:extLst>
              <a:ext uri="{FF2B5EF4-FFF2-40B4-BE49-F238E27FC236}">
                <a16:creationId xmlns:a16="http://schemas.microsoft.com/office/drawing/2014/main" id="{92B1FC30-BD7D-D73B-7FF2-132B79052A46}"/>
              </a:ext>
            </a:extLst>
          </p:cNvPr>
          <p:cNvSpPr txBox="1"/>
          <p:nvPr/>
        </p:nvSpPr>
        <p:spPr>
          <a:xfrm>
            <a:off x="132408" y="964339"/>
            <a:ext cx="8831482" cy="3539430"/>
          </a:xfrm>
          <a:prstGeom prst="rect">
            <a:avLst/>
          </a:prstGeom>
          <a:noFill/>
        </p:spPr>
        <p:txBody>
          <a:bodyPr wrap="square">
            <a:spAutoFit/>
          </a:bodyPr>
          <a:lstStyle/>
          <a:p>
            <a:pPr>
              <a:buNone/>
            </a:pPr>
            <a:r>
              <a:rPr lang="en-IN" dirty="0"/>
              <a:t>A modular, real-time Windows endpoint security agent using lightweight OS hooks (WMI + ETW) for continuous process, network, file, and registry monitoring.</a:t>
            </a:r>
          </a:p>
          <a:p>
            <a:pPr>
              <a:buNone/>
            </a:pPr>
            <a:endParaRPr lang="en-IN" dirty="0"/>
          </a:p>
          <a:p>
            <a:pPr>
              <a:buNone/>
            </a:pPr>
            <a:r>
              <a:rPr lang="en-IN" b="1" dirty="0"/>
              <a:t>Threat Detection Pipeline</a:t>
            </a:r>
            <a:br>
              <a:rPr lang="en-IN" dirty="0"/>
            </a:br>
            <a:r>
              <a:rPr lang="en-IN" dirty="0"/>
              <a:t>• </a:t>
            </a:r>
            <a:r>
              <a:rPr lang="en-IN" b="1" dirty="0"/>
              <a:t>Event Collection → Preprocessing → Parallel Detection</a:t>
            </a:r>
            <a:br>
              <a:rPr lang="en-IN" dirty="0"/>
            </a:br>
            <a:r>
              <a:rPr lang="en-IN" dirty="0"/>
              <a:t>• </a:t>
            </a:r>
            <a:r>
              <a:rPr lang="en-IN" b="1" dirty="0"/>
              <a:t>Isolation Forest:</a:t>
            </a:r>
            <a:r>
              <a:rPr lang="en-IN" dirty="0"/>
              <a:t> 92.1% accuracy</a:t>
            </a:r>
            <a:br>
              <a:rPr lang="en-IN" dirty="0"/>
            </a:br>
            <a:r>
              <a:rPr lang="en-IN" dirty="0"/>
              <a:t>• </a:t>
            </a:r>
            <a:r>
              <a:rPr lang="en-IN" b="1" dirty="0"/>
              <a:t>Fine-tuned </a:t>
            </a:r>
            <a:r>
              <a:rPr lang="en-IN" b="1" dirty="0" err="1"/>
              <a:t>LLaMA</a:t>
            </a:r>
            <a:r>
              <a:rPr lang="en-IN" b="1" dirty="0"/>
              <a:t> (</a:t>
            </a:r>
            <a:r>
              <a:rPr lang="en-IN" b="1" dirty="0" err="1"/>
              <a:t>LoRA</a:t>
            </a:r>
            <a:r>
              <a:rPr lang="en-IN" b="1" dirty="0"/>
              <a:t>) on MITRE ATT&amp;CK:</a:t>
            </a:r>
            <a:r>
              <a:rPr lang="en-IN" dirty="0"/>
              <a:t> 88.3% accuracy</a:t>
            </a:r>
            <a:br>
              <a:rPr lang="en-IN" dirty="0"/>
            </a:br>
            <a:r>
              <a:rPr lang="en-IN" dirty="0"/>
              <a:t>• </a:t>
            </a:r>
            <a:r>
              <a:rPr lang="en-IN" b="1" dirty="0"/>
              <a:t>Risk Scoring Engine:</a:t>
            </a:r>
            <a:r>
              <a:rPr lang="en-IN" dirty="0"/>
              <a:t> 90.5% accuracy</a:t>
            </a:r>
            <a:br>
              <a:rPr lang="en-IN" dirty="0"/>
            </a:br>
            <a:r>
              <a:rPr lang="en-IN" dirty="0"/>
              <a:t>• </a:t>
            </a:r>
            <a:r>
              <a:rPr lang="en-IN" b="1" dirty="0"/>
              <a:t>Automated Response:</a:t>
            </a:r>
            <a:r>
              <a:rPr lang="en-IN" dirty="0"/>
              <a:t> ATT&amp;CK-mapped actions (block IP, isolate host, firewall update) with </a:t>
            </a:r>
            <a:r>
              <a:rPr lang="en-IN" b="1" dirty="0"/>
              <a:t>&lt;2s latency</a:t>
            </a:r>
          </a:p>
          <a:p>
            <a:pPr>
              <a:buNone/>
            </a:pPr>
            <a:endParaRPr lang="en-IN" dirty="0"/>
          </a:p>
          <a:p>
            <a:pPr>
              <a:buNone/>
            </a:pPr>
            <a:r>
              <a:rPr lang="en-IN" b="1" dirty="0"/>
              <a:t>Experimental Data &amp; Performance</a:t>
            </a:r>
            <a:br>
              <a:rPr lang="en-IN" dirty="0"/>
            </a:br>
            <a:r>
              <a:rPr lang="en-IN" dirty="0"/>
              <a:t>• </a:t>
            </a:r>
            <a:r>
              <a:rPr lang="en-IN" b="1" dirty="0"/>
              <a:t>Training:</a:t>
            </a:r>
            <a:r>
              <a:rPr lang="en-IN" dirty="0"/>
              <a:t> 1M events, 45 features, 70/15/15 split</a:t>
            </a:r>
            <a:br>
              <a:rPr lang="en-IN" dirty="0"/>
            </a:br>
            <a:r>
              <a:rPr lang="en-IN" dirty="0"/>
              <a:t>• </a:t>
            </a:r>
            <a:r>
              <a:rPr lang="en-IN" b="1" dirty="0"/>
              <a:t>Throughput:</a:t>
            </a:r>
            <a:r>
              <a:rPr lang="en-IN" dirty="0"/>
              <a:t> 1000–1500 events/sec</a:t>
            </a:r>
            <a:br>
              <a:rPr lang="en-IN" dirty="0"/>
            </a:br>
            <a:r>
              <a:rPr lang="en-IN" dirty="0"/>
              <a:t>• </a:t>
            </a:r>
            <a:r>
              <a:rPr lang="en-IN" b="1" dirty="0"/>
              <a:t>Resource Use:</a:t>
            </a:r>
            <a:r>
              <a:rPr lang="en-IN" dirty="0"/>
              <a:t> 15–25% CPU, 1.2–1.8 GB RAM</a:t>
            </a:r>
            <a:br>
              <a:rPr lang="en-IN" dirty="0"/>
            </a:br>
            <a:r>
              <a:rPr lang="en-IN" dirty="0"/>
              <a:t>• </a:t>
            </a:r>
            <a:r>
              <a:rPr lang="en-IN" b="1" dirty="0"/>
              <a:t>Validation:</a:t>
            </a:r>
            <a:r>
              <a:rPr lang="en-IN" dirty="0"/>
              <a:t> 99.2% (known), 85.7% (zero-day), 92.3% (fileless)</a:t>
            </a:r>
            <a:br>
              <a:rPr lang="en-IN" dirty="0"/>
            </a:br>
            <a:r>
              <a:rPr lang="en-IN" dirty="0"/>
              <a:t>• </a:t>
            </a:r>
            <a:r>
              <a:rPr lang="en-IN" b="1" dirty="0"/>
              <a:t>Overall Accuracy:</a:t>
            </a:r>
            <a:r>
              <a:rPr lang="en-IN" dirty="0"/>
              <a:t> 92.1%, </a:t>
            </a:r>
            <a:r>
              <a:rPr lang="en-IN" b="1" dirty="0"/>
              <a:t>False Positives &lt;8%</a:t>
            </a:r>
            <a:r>
              <a:rPr lang="en-IN" dirty="0"/>
              <a:t>, </a:t>
            </a:r>
            <a:r>
              <a:rPr lang="en-IN" b="1" dirty="0"/>
              <a:t>Response &lt;2s</a:t>
            </a:r>
            <a:endParaRPr lang="en-IN" dirty="0"/>
          </a:p>
        </p:txBody>
      </p:sp>
    </p:spTree>
    <p:extLst>
      <p:ext uri="{BB962C8B-B14F-4D97-AF65-F5344CB8AC3E}">
        <p14:creationId xmlns:p14="http://schemas.microsoft.com/office/powerpoint/2010/main" val="3929413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1"/>
            <a:ext cx="5558971"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pPr eaLnBrk="0" fontAlgn="base" hangingPunct="0">
              <a:spcBef>
                <a:spcPct val="0"/>
              </a:spcBef>
              <a:spcAft>
                <a:spcPct val="0"/>
              </a:spcAft>
              <a:buClrTx/>
            </a:pPr>
            <a:r>
              <a:rPr lang="en-US" altLang="en-US" sz="2400" b="1" dirty="0">
                <a:solidFill>
                  <a:srgbClr val="C00000"/>
                </a:solidFill>
                <a:latin typeface="Times New Roman" panose="02020603050405020304" pitchFamily="18" charset="0"/>
                <a:cs typeface="Times New Roman" panose="02020603050405020304" pitchFamily="18" charset="0"/>
              </a:rPr>
              <a:t>                     </a:t>
            </a:r>
            <a:r>
              <a:rPr lang="en-US" altLang="en-US" sz="2400" b="1" dirty="0">
                <a:solidFill>
                  <a:srgbClr val="002060"/>
                </a:solidFill>
                <a:latin typeface="Times New Roman" panose="02020603050405020304" pitchFamily="18" charset="0"/>
                <a:cs typeface="Times New Roman" panose="02020603050405020304" pitchFamily="18" charset="0"/>
              </a:rPr>
              <a:t>Results and Analysis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7"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7392015" y="1"/>
            <a:ext cx="1409700" cy="466724"/>
          </a:xfrm>
          <a:prstGeom prst="rect">
            <a:avLst/>
          </a:prstGeom>
        </p:spPr>
      </p:pic>
      <p:sp>
        <p:nvSpPr>
          <p:cNvPr id="5" name="Date Placeholder 4">
            <a:extLst>
              <a:ext uri="{FF2B5EF4-FFF2-40B4-BE49-F238E27FC236}">
                <a16:creationId xmlns:a16="http://schemas.microsoft.com/office/drawing/2014/main" id="{2C4692E0-B90D-9E85-B41E-174BDA18DBBB}"/>
              </a:ext>
            </a:extLst>
          </p:cNvPr>
          <p:cNvSpPr>
            <a:spLocks noGrp="1"/>
          </p:cNvSpPr>
          <p:nvPr>
            <p:ph type="dt" sz="half" idx="2"/>
          </p:nvPr>
        </p:nvSpPr>
        <p:spPr/>
        <p:txBody>
          <a:bodyPr/>
          <a:lstStyle/>
          <a:p>
            <a:fld id="{CE8E9F28-4B9B-4899-8DDF-9458D78F447A}" type="datetime5">
              <a:rPr lang="en-IN" smtClean="0"/>
              <a:t>20-Nov-25</a:t>
            </a:fld>
            <a:endParaRPr lang="en-IN" dirty="0"/>
          </a:p>
        </p:txBody>
      </p:sp>
      <p:sp>
        <p:nvSpPr>
          <p:cNvPr id="6" name="Footer Placeholder 5">
            <a:extLst>
              <a:ext uri="{FF2B5EF4-FFF2-40B4-BE49-F238E27FC236}">
                <a16:creationId xmlns:a16="http://schemas.microsoft.com/office/drawing/2014/main" id="{FB963CAB-18B9-B9E5-41DF-9C55CDA86EF4}"/>
              </a:ext>
            </a:extLst>
          </p:cNvPr>
          <p:cNvSpPr>
            <a:spLocks noGrp="1"/>
          </p:cNvSpPr>
          <p:nvPr>
            <p:ph type="ftr" sz="quarter" idx="3"/>
          </p:nvPr>
        </p:nvSpPr>
        <p:spPr/>
        <p:txBody>
          <a:bodyPr/>
          <a:lstStyle/>
          <a:p>
            <a:r>
              <a:rPr lang="en-IN"/>
              <a:t>9</a:t>
            </a:r>
            <a:r>
              <a:rPr lang="en-IN" baseline="30000"/>
              <a:t>th</a:t>
            </a:r>
            <a:r>
              <a:rPr lang="en-IN"/>
              <a:t> CSITSS - 2025</a:t>
            </a:r>
            <a:endParaRPr lang="en-IN" dirty="0"/>
          </a:p>
        </p:txBody>
      </p:sp>
      <p:sp>
        <p:nvSpPr>
          <p:cNvPr id="8" name="TextBox 7">
            <a:extLst>
              <a:ext uri="{FF2B5EF4-FFF2-40B4-BE49-F238E27FC236}">
                <a16:creationId xmlns:a16="http://schemas.microsoft.com/office/drawing/2014/main" id="{D58CC7EE-CA4D-2884-950D-7DF6C5ABE54B}"/>
              </a:ext>
            </a:extLst>
          </p:cNvPr>
          <p:cNvSpPr txBox="1"/>
          <p:nvPr/>
        </p:nvSpPr>
        <p:spPr>
          <a:xfrm>
            <a:off x="-11574" y="831579"/>
            <a:ext cx="4583574"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Comprehensive Performance Evaluation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Arial" panose="020B0604020202020204" pitchFamily="34" charset="0"/>
              </a:rPr>
              <a:t>Detection Performance</a:t>
            </a:r>
            <a:endParaRPr lang="en-IN" sz="1200" dirty="0"/>
          </a:p>
        </p:txBody>
      </p:sp>
      <p:graphicFrame>
        <p:nvGraphicFramePr>
          <p:cNvPr id="9" name="Table 8">
            <a:extLst>
              <a:ext uri="{FF2B5EF4-FFF2-40B4-BE49-F238E27FC236}">
                <a16:creationId xmlns:a16="http://schemas.microsoft.com/office/drawing/2014/main" id="{7593DE1B-7ED7-7951-9E06-E0C862B8B389}"/>
              </a:ext>
            </a:extLst>
          </p:cNvPr>
          <p:cNvGraphicFramePr>
            <a:graphicFrameLocks noGrp="1"/>
          </p:cNvGraphicFramePr>
          <p:nvPr>
            <p:extLst>
              <p:ext uri="{D42A27DB-BD31-4B8C-83A1-F6EECF244321}">
                <p14:modId xmlns:p14="http://schemas.microsoft.com/office/powerpoint/2010/main" val="1280883773"/>
              </p:ext>
            </p:extLst>
          </p:nvPr>
        </p:nvGraphicFramePr>
        <p:xfrm>
          <a:off x="132408" y="1285589"/>
          <a:ext cx="3456484" cy="1475817"/>
        </p:xfrm>
        <a:graphic>
          <a:graphicData uri="http://schemas.openxmlformats.org/drawingml/2006/table">
            <a:tbl>
              <a:tblPr/>
              <a:tblGrid>
                <a:gridCol w="864121">
                  <a:extLst>
                    <a:ext uri="{9D8B030D-6E8A-4147-A177-3AD203B41FA5}">
                      <a16:colId xmlns:a16="http://schemas.microsoft.com/office/drawing/2014/main" val="775485594"/>
                    </a:ext>
                  </a:extLst>
                </a:gridCol>
                <a:gridCol w="864121">
                  <a:extLst>
                    <a:ext uri="{9D8B030D-6E8A-4147-A177-3AD203B41FA5}">
                      <a16:colId xmlns:a16="http://schemas.microsoft.com/office/drawing/2014/main" val="2996011909"/>
                    </a:ext>
                  </a:extLst>
                </a:gridCol>
                <a:gridCol w="864121">
                  <a:extLst>
                    <a:ext uri="{9D8B030D-6E8A-4147-A177-3AD203B41FA5}">
                      <a16:colId xmlns:a16="http://schemas.microsoft.com/office/drawing/2014/main" val="1452768673"/>
                    </a:ext>
                  </a:extLst>
                </a:gridCol>
                <a:gridCol w="864121">
                  <a:extLst>
                    <a:ext uri="{9D8B030D-6E8A-4147-A177-3AD203B41FA5}">
                      <a16:colId xmlns:a16="http://schemas.microsoft.com/office/drawing/2014/main" val="2727554133"/>
                    </a:ext>
                  </a:extLst>
                </a:gridCol>
              </a:tblGrid>
              <a:tr h="250361">
                <a:tc>
                  <a:txBody>
                    <a:bodyPr/>
                    <a:lstStyle/>
                    <a:p>
                      <a:pPr>
                        <a:buNone/>
                      </a:pPr>
                      <a:r>
                        <a:rPr lang="en-IN" sz="1100" b="1" dirty="0"/>
                        <a:t>Category</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Accuracy</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a:t>FP</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FN</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3027177"/>
                  </a:ext>
                </a:extLst>
              </a:tr>
              <a:tr h="474373">
                <a:tc>
                  <a:txBody>
                    <a:bodyPr/>
                    <a:lstStyle/>
                    <a:p>
                      <a:pPr>
                        <a:buNone/>
                      </a:pPr>
                      <a:r>
                        <a:rPr lang="en-IN" sz="1100" dirty="0"/>
                        <a:t>Known Threats</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99.2%</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0.8%</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0.7%</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825433"/>
                  </a:ext>
                </a:extLst>
              </a:tr>
              <a:tr h="250361">
                <a:tc>
                  <a:txBody>
                    <a:bodyPr/>
                    <a:lstStyle/>
                    <a:p>
                      <a:pPr>
                        <a:buNone/>
                      </a:pPr>
                      <a:r>
                        <a:rPr lang="en-IN" sz="1100" dirty="0"/>
                        <a:t>Zero-Day</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85.7%</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12.6%</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14.3%</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3207748"/>
                  </a:ext>
                </a:extLst>
              </a:tr>
              <a:tr h="250361">
                <a:tc>
                  <a:txBody>
                    <a:bodyPr/>
                    <a:lstStyle/>
                    <a:p>
                      <a:pPr>
                        <a:buNone/>
                      </a:pPr>
                      <a:r>
                        <a:rPr lang="en-IN" sz="1100"/>
                        <a:t>Fileless</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92.3%</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7.7%</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8.1%</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1393219"/>
                  </a:ext>
                </a:extLst>
              </a:tr>
              <a:tr h="250361">
                <a:tc>
                  <a:txBody>
                    <a:bodyPr/>
                    <a:lstStyle/>
                    <a:p>
                      <a:pPr>
                        <a:buNone/>
                      </a:pPr>
                      <a:r>
                        <a:rPr lang="en-IN" sz="1100" b="1" dirty="0"/>
                        <a:t>Overall</a:t>
                      </a:r>
                      <a:endParaRPr lang="en-IN" sz="1100" dirty="0"/>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92.1%</a:t>
                      </a:r>
                      <a:endParaRPr lang="en-IN" sz="1100" dirty="0"/>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7.9%</a:t>
                      </a:r>
                      <a:endParaRPr lang="en-IN" sz="1100" dirty="0"/>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7.6%</a:t>
                      </a:r>
                      <a:endParaRPr lang="en-IN" sz="1100" dirty="0"/>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3201323"/>
                  </a:ext>
                </a:extLst>
              </a:tr>
            </a:tbl>
          </a:graphicData>
        </a:graphic>
      </p:graphicFrame>
      <p:sp>
        <p:nvSpPr>
          <p:cNvPr id="11" name="TextBox 10">
            <a:extLst>
              <a:ext uri="{FF2B5EF4-FFF2-40B4-BE49-F238E27FC236}">
                <a16:creationId xmlns:a16="http://schemas.microsoft.com/office/drawing/2014/main" id="{5D4434C8-D1B7-22E3-2D04-711B2B21B158}"/>
              </a:ext>
            </a:extLst>
          </p:cNvPr>
          <p:cNvSpPr txBox="1"/>
          <p:nvPr/>
        </p:nvSpPr>
        <p:spPr>
          <a:xfrm>
            <a:off x="36454" y="2819445"/>
            <a:ext cx="4583574" cy="276999"/>
          </a:xfrm>
          <a:prstGeom prst="rect">
            <a:avLst/>
          </a:prstGeom>
          <a:noFill/>
        </p:spPr>
        <p:txBody>
          <a:bodyPr wrap="square">
            <a:spAutoFit/>
          </a:bodyPr>
          <a:lstStyle/>
          <a:p>
            <a:r>
              <a:rPr lang="en-IN" sz="1200" b="1" dirty="0"/>
              <a:t>System Utilization &amp; Response</a:t>
            </a:r>
          </a:p>
        </p:txBody>
      </p:sp>
      <p:graphicFrame>
        <p:nvGraphicFramePr>
          <p:cNvPr id="12" name="Table 11">
            <a:extLst>
              <a:ext uri="{FF2B5EF4-FFF2-40B4-BE49-F238E27FC236}">
                <a16:creationId xmlns:a16="http://schemas.microsoft.com/office/drawing/2014/main" id="{53A5F862-15E8-7252-96E5-BEBC9BBB9294}"/>
              </a:ext>
            </a:extLst>
          </p:cNvPr>
          <p:cNvGraphicFramePr>
            <a:graphicFrameLocks noGrp="1"/>
          </p:cNvGraphicFramePr>
          <p:nvPr>
            <p:extLst>
              <p:ext uri="{D42A27DB-BD31-4B8C-83A1-F6EECF244321}">
                <p14:modId xmlns:p14="http://schemas.microsoft.com/office/powerpoint/2010/main" val="1201103571"/>
              </p:ext>
            </p:extLst>
          </p:nvPr>
        </p:nvGraphicFramePr>
        <p:xfrm>
          <a:off x="264816" y="3110673"/>
          <a:ext cx="3412307" cy="1879200"/>
        </p:xfrm>
        <a:graphic>
          <a:graphicData uri="http://schemas.openxmlformats.org/drawingml/2006/table">
            <a:tbl>
              <a:tblPr/>
              <a:tblGrid>
                <a:gridCol w="1169018">
                  <a:extLst>
                    <a:ext uri="{9D8B030D-6E8A-4147-A177-3AD203B41FA5}">
                      <a16:colId xmlns:a16="http://schemas.microsoft.com/office/drawing/2014/main" val="3759189421"/>
                    </a:ext>
                  </a:extLst>
                </a:gridCol>
                <a:gridCol w="747763">
                  <a:extLst>
                    <a:ext uri="{9D8B030D-6E8A-4147-A177-3AD203B41FA5}">
                      <a16:colId xmlns:a16="http://schemas.microsoft.com/office/drawing/2014/main" val="3491748579"/>
                    </a:ext>
                  </a:extLst>
                </a:gridCol>
                <a:gridCol w="747763">
                  <a:extLst>
                    <a:ext uri="{9D8B030D-6E8A-4147-A177-3AD203B41FA5}">
                      <a16:colId xmlns:a16="http://schemas.microsoft.com/office/drawing/2014/main" val="320171274"/>
                    </a:ext>
                  </a:extLst>
                </a:gridCol>
                <a:gridCol w="747763">
                  <a:extLst>
                    <a:ext uri="{9D8B030D-6E8A-4147-A177-3AD203B41FA5}">
                      <a16:colId xmlns:a16="http://schemas.microsoft.com/office/drawing/2014/main" val="2957891302"/>
                    </a:ext>
                  </a:extLst>
                </a:gridCol>
              </a:tblGrid>
              <a:tr h="375840">
                <a:tc>
                  <a:txBody>
                    <a:bodyPr/>
                    <a:lstStyle/>
                    <a:p>
                      <a:pPr>
                        <a:buNone/>
                      </a:pPr>
                      <a:r>
                        <a:rPr lang="en-IN" sz="1100" b="1" dirty="0"/>
                        <a:t>Metric</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a:t>Result</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a:t>Benchmark</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Improvement</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4164514"/>
                  </a:ext>
                </a:extLst>
              </a:tr>
              <a:tr h="375840">
                <a:tc>
                  <a:txBody>
                    <a:bodyPr/>
                    <a:lstStyle/>
                    <a:p>
                      <a:pPr>
                        <a:buNone/>
                      </a:pPr>
                      <a:r>
                        <a:rPr lang="en-IN" sz="1100"/>
                        <a:t>CPU</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15–25%</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20–30%</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+5% better</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2643184"/>
                  </a:ext>
                </a:extLst>
              </a:tr>
              <a:tr h="375840">
                <a:tc>
                  <a:txBody>
                    <a:bodyPr/>
                    <a:lstStyle/>
                    <a:p>
                      <a:pPr>
                        <a:buNone/>
                      </a:pPr>
                      <a:r>
                        <a:rPr lang="en-IN" sz="1100" dirty="0"/>
                        <a:t>Memory</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1.2–1.8 GB</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1.5–2.5 GB</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–0.3 GB</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7058144"/>
                  </a:ext>
                </a:extLst>
              </a:tr>
              <a:tr h="375840">
                <a:tc>
                  <a:txBody>
                    <a:bodyPr/>
                    <a:lstStyle/>
                    <a:p>
                      <a:pPr>
                        <a:buNone/>
                      </a:pPr>
                      <a:r>
                        <a:rPr lang="en-IN" sz="1100"/>
                        <a:t>Events/sec</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1000–1500</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800–1200</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+25%</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2708980"/>
                  </a:ext>
                </a:extLst>
              </a:tr>
              <a:tr h="375840">
                <a:tc>
                  <a:txBody>
                    <a:bodyPr/>
                    <a:lstStyle/>
                    <a:p>
                      <a:pPr>
                        <a:buNone/>
                      </a:pPr>
                      <a:r>
                        <a:rPr lang="en-IN" sz="1100" dirty="0"/>
                        <a:t>Response Time</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&lt;2 s</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&lt;5 s</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2.5× faster</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6508207"/>
                  </a:ext>
                </a:extLst>
              </a:tr>
            </a:tbl>
          </a:graphicData>
        </a:graphic>
      </p:graphicFrame>
      <p:sp>
        <p:nvSpPr>
          <p:cNvPr id="14" name="TextBox 13">
            <a:extLst>
              <a:ext uri="{FF2B5EF4-FFF2-40B4-BE49-F238E27FC236}">
                <a16:creationId xmlns:a16="http://schemas.microsoft.com/office/drawing/2014/main" id="{508E6A68-67FA-B3A5-212D-0E836F1C6526}"/>
              </a:ext>
            </a:extLst>
          </p:cNvPr>
          <p:cNvSpPr txBox="1"/>
          <p:nvPr/>
        </p:nvSpPr>
        <p:spPr>
          <a:xfrm>
            <a:off x="4620028" y="862354"/>
            <a:ext cx="4595148" cy="276999"/>
          </a:xfrm>
          <a:prstGeom prst="rect">
            <a:avLst/>
          </a:prstGeom>
          <a:noFill/>
        </p:spPr>
        <p:txBody>
          <a:bodyPr wrap="square">
            <a:spAutoFit/>
          </a:bodyPr>
          <a:lstStyle/>
          <a:p>
            <a:pPr>
              <a:buNone/>
            </a:pPr>
            <a:r>
              <a:rPr lang="en-IN" sz="1200" b="1" dirty="0"/>
              <a:t>Automated Response Effectiveness</a:t>
            </a:r>
            <a:endParaRPr lang="en-IN" sz="1200" dirty="0"/>
          </a:p>
        </p:txBody>
      </p:sp>
      <p:graphicFrame>
        <p:nvGraphicFramePr>
          <p:cNvPr id="15" name="Table 14">
            <a:extLst>
              <a:ext uri="{FF2B5EF4-FFF2-40B4-BE49-F238E27FC236}">
                <a16:creationId xmlns:a16="http://schemas.microsoft.com/office/drawing/2014/main" id="{1FF3DE9A-0C06-8F16-2045-5FD65AC518E0}"/>
              </a:ext>
            </a:extLst>
          </p:cNvPr>
          <p:cNvGraphicFramePr>
            <a:graphicFrameLocks noGrp="1"/>
          </p:cNvGraphicFramePr>
          <p:nvPr>
            <p:extLst>
              <p:ext uri="{D42A27DB-BD31-4B8C-83A1-F6EECF244321}">
                <p14:modId xmlns:p14="http://schemas.microsoft.com/office/powerpoint/2010/main" val="3767457761"/>
              </p:ext>
            </p:extLst>
          </p:nvPr>
        </p:nvGraphicFramePr>
        <p:xfrm>
          <a:off x="5334563" y="1170709"/>
          <a:ext cx="2871888" cy="1475818"/>
        </p:xfrm>
        <a:graphic>
          <a:graphicData uri="http://schemas.openxmlformats.org/drawingml/2006/table">
            <a:tbl>
              <a:tblPr/>
              <a:tblGrid>
                <a:gridCol w="1116508">
                  <a:extLst>
                    <a:ext uri="{9D8B030D-6E8A-4147-A177-3AD203B41FA5}">
                      <a16:colId xmlns:a16="http://schemas.microsoft.com/office/drawing/2014/main" val="3452640634"/>
                    </a:ext>
                  </a:extLst>
                </a:gridCol>
                <a:gridCol w="798084">
                  <a:extLst>
                    <a:ext uri="{9D8B030D-6E8A-4147-A177-3AD203B41FA5}">
                      <a16:colId xmlns:a16="http://schemas.microsoft.com/office/drawing/2014/main" val="3093700147"/>
                    </a:ext>
                  </a:extLst>
                </a:gridCol>
                <a:gridCol w="957296">
                  <a:extLst>
                    <a:ext uri="{9D8B030D-6E8A-4147-A177-3AD203B41FA5}">
                      <a16:colId xmlns:a16="http://schemas.microsoft.com/office/drawing/2014/main" val="2337128297"/>
                    </a:ext>
                  </a:extLst>
                </a:gridCol>
              </a:tblGrid>
              <a:tr h="284878">
                <a:tc>
                  <a:txBody>
                    <a:bodyPr/>
                    <a:lstStyle/>
                    <a:p>
                      <a:pPr>
                        <a:buNone/>
                      </a:pPr>
                      <a:r>
                        <a:rPr lang="en-IN" sz="1100" b="1" dirty="0"/>
                        <a:t>Action</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Success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b="1" dirty="0"/>
                        <a:t>Time</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2132537"/>
                  </a:ext>
                </a:extLst>
              </a:tr>
              <a:tr h="238188">
                <a:tc>
                  <a:txBody>
                    <a:bodyPr/>
                    <a:lstStyle/>
                    <a:p>
                      <a:pPr>
                        <a:buNone/>
                      </a:pPr>
                      <a:r>
                        <a:rPr lang="en-IN" sz="1100"/>
                        <a:t>IP Block</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98.2%</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1.2 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7395395"/>
                  </a:ext>
                </a:extLst>
              </a:tr>
              <a:tr h="238188">
                <a:tc>
                  <a:txBody>
                    <a:bodyPr/>
                    <a:lstStyle/>
                    <a:p>
                      <a:pPr>
                        <a:buNone/>
                      </a:pPr>
                      <a:r>
                        <a:rPr lang="en-IN" sz="1100"/>
                        <a:t>Isolation</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97.8%</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2.6 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7832601"/>
                  </a:ext>
                </a:extLst>
              </a:tr>
              <a:tr h="238188">
                <a:tc>
                  <a:txBody>
                    <a:bodyPr/>
                    <a:lstStyle/>
                    <a:p>
                      <a:pPr>
                        <a:buNone/>
                      </a:pPr>
                      <a:r>
                        <a:rPr lang="en-IN" sz="1100" dirty="0"/>
                        <a:t>Account Disable</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99.1%</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0.8 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6701001"/>
                  </a:ext>
                </a:extLst>
              </a:tr>
              <a:tr h="238188">
                <a:tc>
                  <a:txBody>
                    <a:bodyPr/>
                    <a:lstStyle/>
                    <a:p>
                      <a:pPr>
                        <a:buNone/>
                      </a:pPr>
                      <a:r>
                        <a:rPr lang="en-IN" sz="1100" dirty="0"/>
                        <a:t>Firewall Update</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96.5%</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1.5 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8662934"/>
                  </a:ext>
                </a:extLst>
              </a:tr>
              <a:tr h="238188">
                <a:tc>
                  <a:txBody>
                    <a:bodyPr/>
                    <a:lstStyle/>
                    <a:p>
                      <a:pPr>
                        <a:buNone/>
                      </a:pPr>
                      <a:r>
                        <a:rPr lang="en-IN" sz="1100" dirty="0"/>
                        <a:t>Quarantine</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97.3%</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2.1 s</a:t>
                      </a:r>
                    </a:p>
                  </a:txBody>
                  <a:tcPr marL="17926" marR="17926" marT="8963" marB="89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4261377"/>
                  </a:ext>
                </a:extLst>
              </a:tr>
            </a:tbl>
          </a:graphicData>
        </a:graphic>
      </p:graphicFrame>
      <p:sp>
        <p:nvSpPr>
          <p:cNvPr id="17" name="TextBox 16">
            <a:extLst>
              <a:ext uri="{FF2B5EF4-FFF2-40B4-BE49-F238E27FC236}">
                <a16:creationId xmlns:a16="http://schemas.microsoft.com/office/drawing/2014/main" id="{6804673D-FF81-4405-29B0-DD8D72C8720F}"/>
              </a:ext>
            </a:extLst>
          </p:cNvPr>
          <p:cNvSpPr txBox="1"/>
          <p:nvPr/>
        </p:nvSpPr>
        <p:spPr>
          <a:xfrm>
            <a:off x="4773822" y="2711722"/>
            <a:ext cx="4618298" cy="276999"/>
          </a:xfrm>
          <a:prstGeom prst="rect">
            <a:avLst/>
          </a:prstGeom>
          <a:noFill/>
        </p:spPr>
        <p:txBody>
          <a:bodyPr wrap="square">
            <a:spAutoFit/>
          </a:bodyPr>
          <a:lstStyle/>
          <a:p>
            <a:r>
              <a:rPr lang="en-IN" sz="1200" b="1" dirty="0"/>
              <a:t>Algorithm Comparison</a:t>
            </a:r>
          </a:p>
        </p:txBody>
      </p:sp>
      <p:graphicFrame>
        <p:nvGraphicFramePr>
          <p:cNvPr id="18" name="Table 17">
            <a:extLst>
              <a:ext uri="{FF2B5EF4-FFF2-40B4-BE49-F238E27FC236}">
                <a16:creationId xmlns:a16="http://schemas.microsoft.com/office/drawing/2014/main" id="{860ED802-2EBD-2052-C909-71A4E41F3F7B}"/>
              </a:ext>
            </a:extLst>
          </p:cNvPr>
          <p:cNvGraphicFramePr>
            <a:graphicFrameLocks noGrp="1"/>
          </p:cNvGraphicFramePr>
          <p:nvPr>
            <p:extLst>
              <p:ext uri="{D42A27DB-BD31-4B8C-83A1-F6EECF244321}">
                <p14:modId xmlns:p14="http://schemas.microsoft.com/office/powerpoint/2010/main" val="1901691578"/>
              </p:ext>
            </p:extLst>
          </p:nvPr>
        </p:nvGraphicFramePr>
        <p:xfrm>
          <a:off x="5208607" y="3037024"/>
          <a:ext cx="3713176" cy="1815531"/>
        </p:xfrm>
        <a:graphic>
          <a:graphicData uri="http://schemas.openxmlformats.org/drawingml/2006/table">
            <a:tbl>
              <a:tblPr/>
              <a:tblGrid>
                <a:gridCol w="928294">
                  <a:extLst>
                    <a:ext uri="{9D8B030D-6E8A-4147-A177-3AD203B41FA5}">
                      <a16:colId xmlns:a16="http://schemas.microsoft.com/office/drawing/2014/main" val="3626717532"/>
                    </a:ext>
                  </a:extLst>
                </a:gridCol>
                <a:gridCol w="928294">
                  <a:extLst>
                    <a:ext uri="{9D8B030D-6E8A-4147-A177-3AD203B41FA5}">
                      <a16:colId xmlns:a16="http://schemas.microsoft.com/office/drawing/2014/main" val="3327918599"/>
                    </a:ext>
                  </a:extLst>
                </a:gridCol>
                <a:gridCol w="928294">
                  <a:extLst>
                    <a:ext uri="{9D8B030D-6E8A-4147-A177-3AD203B41FA5}">
                      <a16:colId xmlns:a16="http://schemas.microsoft.com/office/drawing/2014/main" val="2669488438"/>
                    </a:ext>
                  </a:extLst>
                </a:gridCol>
                <a:gridCol w="928294">
                  <a:extLst>
                    <a:ext uri="{9D8B030D-6E8A-4147-A177-3AD203B41FA5}">
                      <a16:colId xmlns:a16="http://schemas.microsoft.com/office/drawing/2014/main" val="1978816608"/>
                    </a:ext>
                  </a:extLst>
                </a:gridCol>
              </a:tblGrid>
              <a:tr h="195800">
                <a:tc>
                  <a:txBody>
                    <a:bodyPr/>
                    <a:lstStyle/>
                    <a:p>
                      <a:pPr>
                        <a:buNone/>
                      </a:pPr>
                      <a:r>
                        <a:rPr lang="en-IN" sz="1100"/>
                        <a:t>Model</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Acc.</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F1</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Time</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1873800"/>
                  </a:ext>
                </a:extLst>
              </a:tr>
              <a:tr h="394072">
                <a:tc>
                  <a:txBody>
                    <a:bodyPr/>
                    <a:lstStyle/>
                    <a:p>
                      <a:pPr>
                        <a:buNone/>
                      </a:pPr>
                      <a:r>
                        <a:rPr lang="en-IN" sz="1100"/>
                        <a:t>Isolation Forest</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92.1%</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91.5</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45 min</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7995363"/>
                  </a:ext>
                </a:extLst>
              </a:tr>
              <a:tr h="528231">
                <a:tc>
                  <a:txBody>
                    <a:bodyPr/>
                    <a:lstStyle/>
                    <a:p>
                      <a:pPr>
                        <a:buNone/>
                      </a:pPr>
                      <a:r>
                        <a:rPr lang="en-IN" sz="1100" dirty="0"/>
                        <a:t>LLaMA (Fine-tuned)</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88.3%</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88.2</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6.5 hr</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0810884"/>
                  </a:ext>
                </a:extLst>
              </a:tr>
              <a:tr h="351326">
                <a:tc>
                  <a:txBody>
                    <a:bodyPr/>
                    <a:lstStyle/>
                    <a:p>
                      <a:pPr>
                        <a:buNone/>
                      </a:pPr>
                      <a:r>
                        <a:rPr lang="en-IN" sz="1100"/>
                        <a:t>Risk Scoring</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90.5%</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90.4</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N/A</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1730880"/>
                  </a:ext>
                </a:extLst>
              </a:tr>
              <a:tr h="346102">
                <a:tc>
                  <a:txBody>
                    <a:bodyPr/>
                    <a:lstStyle/>
                    <a:p>
                      <a:pPr>
                        <a:buNone/>
                      </a:pPr>
                      <a:r>
                        <a:rPr lang="en-IN" sz="1100"/>
                        <a:t>Baseline</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84.3%</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84.2</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30 min</a:t>
                      </a:r>
                    </a:p>
                  </a:txBody>
                  <a:tcPr marL="21511" marR="21511" marT="10755" marB="10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2031753"/>
                  </a:ext>
                </a:extLst>
              </a:tr>
            </a:tbl>
          </a:graphicData>
        </a:graphic>
      </p:graphicFrame>
    </p:spTree>
    <p:extLst>
      <p:ext uri="{BB962C8B-B14F-4D97-AF65-F5344CB8AC3E}">
        <p14:creationId xmlns:p14="http://schemas.microsoft.com/office/powerpoint/2010/main" val="3496340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1"/>
            <a:ext cx="5558971"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pPr eaLnBrk="0" fontAlgn="base" hangingPunct="0">
              <a:spcBef>
                <a:spcPct val="0"/>
              </a:spcBef>
              <a:spcAft>
                <a:spcPct val="0"/>
              </a:spcAft>
              <a:buClrTx/>
            </a:pPr>
            <a:r>
              <a:rPr lang="en-US" altLang="en-US" sz="2400" b="1" dirty="0">
                <a:solidFill>
                  <a:srgbClr val="C00000"/>
                </a:solidFill>
                <a:latin typeface="Times New Roman" panose="02020603050405020304" pitchFamily="18" charset="0"/>
                <a:cs typeface="Times New Roman" panose="02020603050405020304" pitchFamily="18" charset="0"/>
              </a:rPr>
              <a:t>                     </a:t>
            </a:r>
            <a:r>
              <a:rPr lang="en-US" altLang="en-US" sz="2400" b="1" dirty="0">
                <a:solidFill>
                  <a:srgbClr val="002060"/>
                </a:solidFill>
                <a:latin typeface="Times New Roman" panose="02020603050405020304" pitchFamily="18" charset="0"/>
                <a:cs typeface="Times New Roman" panose="02020603050405020304" pitchFamily="18" charset="0"/>
              </a:rPr>
              <a:t>Conclusion and Future work</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7"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7392015" y="1"/>
            <a:ext cx="1409700" cy="466724"/>
          </a:xfrm>
          <a:prstGeom prst="rect">
            <a:avLst/>
          </a:prstGeom>
        </p:spPr>
      </p:pic>
      <p:sp>
        <p:nvSpPr>
          <p:cNvPr id="5" name="Date Placeholder 4">
            <a:extLst>
              <a:ext uri="{FF2B5EF4-FFF2-40B4-BE49-F238E27FC236}">
                <a16:creationId xmlns:a16="http://schemas.microsoft.com/office/drawing/2014/main" id="{FF583B34-8BC5-A4E1-A7C5-6BF77933965B}"/>
              </a:ext>
            </a:extLst>
          </p:cNvPr>
          <p:cNvSpPr>
            <a:spLocks noGrp="1"/>
          </p:cNvSpPr>
          <p:nvPr>
            <p:ph type="dt" sz="half" idx="2"/>
          </p:nvPr>
        </p:nvSpPr>
        <p:spPr/>
        <p:txBody>
          <a:bodyPr/>
          <a:lstStyle/>
          <a:p>
            <a:fld id="{77191032-0B39-4516-8E5D-450FD306823C}" type="datetime5">
              <a:rPr lang="en-IN" smtClean="0"/>
              <a:t>20-Nov-25</a:t>
            </a:fld>
            <a:endParaRPr lang="en-IN" dirty="0"/>
          </a:p>
        </p:txBody>
      </p:sp>
      <p:sp>
        <p:nvSpPr>
          <p:cNvPr id="6" name="Footer Placeholder 5">
            <a:extLst>
              <a:ext uri="{FF2B5EF4-FFF2-40B4-BE49-F238E27FC236}">
                <a16:creationId xmlns:a16="http://schemas.microsoft.com/office/drawing/2014/main" id="{E86F0499-CAF6-F598-C9E7-84FE44AA84B7}"/>
              </a:ext>
            </a:extLst>
          </p:cNvPr>
          <p:cNvSpPr>
            <a:spLocks noGrp="1"/>
          </p:cNvSpPr>
          <p:nvPr>
            <p:ph type="ftr" sz="quarter" idx="3"/>
          </p:nvPr>
        </p:nvSpPr>
        <p:spPr/>
        <p:txBody>
          <a:bodyPr/>
          <a:lstStyle/>
          <a:p>
            <a:r>
              <a:rPr lang="en-IN"/>
              <a:t>9</a:t>
            </a:r>
            <a:r>
              <a:rPr lang="en-IN" baseline="30000"/>
              <a:t>th</a:t>
            </a:r>
            <a:r>
              <a:rPr lang="en-IN"/>
              <a:t> CSITSS - 2025</a:t>
            </a:r>
            <a:endParaRPr lang="en-IN" dirty="0"/>
          </a:p>
        </p:txBody>
      </p:sp>
      <p:sp>
        <p:nvSpPr>
          <p:cNvPr id="8" name="TextBox 7">
            <a:extLst>
              <a:ext uri="{FF2B5EF4-FFF2-40B4-BE49-F238E27FC236}">
                <a16:creationId xmlns:a16="http://schemas.microsoft.com/office/drawing/2014/main" id="{697867CC-727B-520E-3FF5-7140A3652917}"/>
              </a:ext>
            </a:extLst>
          </p:cNvPr>
          <p:cNvSpPr txBox="1"/>
          <p:nvPr/>
        </p:nvSpPr>
        <p:spPr>
          <a:xfrm>
            <a:off x="69448" y="975103"/>
            <a:ext cx="9005103" cy="3893374"/>
          </a:xfrm>
          <a:prstGeom prst="rect">
            <a:avLst/>
          </a:prstGeom>
          <a:noFill/>
        </p:spPr>
        <p:txBody>
          <a:bodyPr wrap="square">
            <a:spAutoFit/>
          </a:bodyPr>
          <a:lstStyle/>
          <a:p>
            <a:pPr>
              <a:buNone/>
            </a:pPr>
            <a:r>
              <a:rPr lang="en-US" sz="1300" b="1" dirty="0"/>
              <a:t>Conclusion</a:t>
            </a:r>
            <a:br>
              <a:rPr lang="en-US" sz="1300" dirty="0"/>
            </a:br>
            <a:r>
              <a:rPr lang="en-US" sz="1300" dirty="0"/>
              <a:t>The AI-driven endpoint security agent delivers </a:t>
            </a:r>
            <a:r>
              <a:rPr lang="en-US" sz="1300" b="1" dirty="0"/>
              <a:t>real-time, high-accuracy threat detection and rapid mitigation</a:t>
            </a:r>
            <a:r>
              <a:rPr lang="en-US" sz="1300" dirty="0"/>
              <a:t>. With </a:t>
            </a:r>
            <a:r>
              <a:rPr lang="en-US" sz="1300" b="1" dirty="0"/>
              <a:t>92.1% overall accuracy</a:t>
            </a:r>
            <a:r>
              <a:rPr lang="en-US" sz="1300" dirty="0"/>
              <a:t>, </a:t>
            </a:r>
            <a:r>
              <a:rPr lang="en-US" sz="1300" b="1" dirty="0"/>
              <a:t>&lt;8% false positives</a:t>
            </a:r>
            <a:r>
              <a:rPr lang="en-US" sz="1300" dirty="0"/>
              <a:t>, efficient resource usage (CPU 15–25%, RAM 1.2–1.8 GB), and </a:t>
            </a:r>
            <a:r>
              <a:rPr lang="en-US" sz="1300" b="1" dirty="0"/>
              <a:t>&lt;2s automated responses</a:t>
            </a:r>
            <a:r>
              <a:rPr lang="en-US" sz="1300" dirty="0"/>
              <a:t>, the system outperforms traditional endpoint tools—especially against zero-day and fileless attacks. It also brings standardized, MITRE ATT&amp;CK–aligned incident response to enterprise environments.</a:t>
            </a:r>
          </a:p>
          <a:p>
            <a:pPr>
              <a:buNone/>
            </a:pPr>
            <a:endParaRPr lang="en-US" sz="1300" dirty="0"/>
          </a:p>
          <a:p>
            <a:pPr>
              <a:buNone/>
            </a:pPr>
            <a:r>
              <a:rPr lang="en-US" sz="1300" b="1" dirty="0"/>
              <a:t>Future Work</a:t>
            </a:r>
            <a:br>
              <a:rPr lang="en-US" sz="1300" dirty="0"/>
            </a:br>
            <a:r>
              <a:rPr lang="en-US" sz="1300" b="1" dirty="0"/>
              <a:t>Short-Term (6–12 months)</a:t>
            </a:r>
            <a:br>
              <a:rPr lang="en-US" sz="1300" dirty="0"/>
            </a:br>
            <a:r>
              <a:rPr lang="en-US" sz="1300" dirty="0"/>
              <a:t>• Broaden dataset with emerging threats and enable continuous learning.</a:t>
            </a:r>
            <a:br>
              <a:rPr lang="en-US" sz="1300" dirty="0"/>
            </a:br>
            <a:r>
              <a:rPr lang="en-US" sz="1300" dirty="0"/>
              <a:t>• Add ensemble/deep models (CNN/LSTM).</a:t>
            </a:r>
            <a:br>
              <a:rPr lang="en-US" sz="1300" dirty="0"/>
            </a:br>
            <a:r>
              <a:rPr lang="en-US" sz="1300" dirty="0"/>
              <a:t>• Improve ATT&amp;CK-based automated response precision.</a:t>
            </a:r>
          </a:p>
          <a:p>
            <a:pPr>
              <a:buNone/>
            </a:pPr>
            <a:r>
              <a:rPr lang="en-US" sz="1300" b="1" dirty="0"/>
              <a:t>Medium-Term (1–2 years)</a:t>
            </a:r>
            <a:br>
              <a:rPr lang="en-US" sz="1300" dirty="0"/>
            </a:br>
            <a:r>
              <a:rPr lang="en-US" sz="1300" dirty="0"/>
              <a:t>• Build self-healing and predictive defense.</a:t>
            </a:r>
            <a:br>
              <a:rPr lang="en-US" sz="1300" dirty="0"/>
            </a:br>
            <a:r>
              <a:rPr lang="en-US" sz="1300" dirty="0"/>
              <a:t>• Integrate real-time threat intel (MITRE, CISA).</a:t>
            </a:r>
            <a:br>
              <a:rPr lang="en-US" sz="1300" dirty="0"/>
            </a:br>
            <a:r>
              <a:rPr lang="en-US" sz="1300" dirty="0"/>
              <a:t>• Extend support to Linux, macOS, mobile, IoT.</a:t>
            </a:r>
          </a:p>
          <a:p>
            <a:pPr>
              <a:buNone/>
            </a:pPr>
            <a:r>
              <a:rPr lang="en-US" sz="1300" b="1" dirty="0"/>
              <a:t>Long-Term (2–5 years)</a:t>
            </a:r>
            <a:br>
              <a:rPr lang="en-US" sz="1300" dirty="0"/>
            </a:br>
            <a:r>
              <a:rPr lang="en-US" sz="1300" dirty="0"/>
              <a:t>• Optimize adaptive edge-based protection.</a:t>
            </a:r>
            <a:br>
              <a:rPr lang="en-US" sz="1300" dirty="0"/>
            </a:br>
            <a:r>
              <a:rPr lang="en-US" sz="1300" dirty="0"/>
              <a:t>• Add AI-driven forensics and root-cause analysis.</a:t>
            </a:r>
            <a:br>
              <a:rPr lang="en-US" sz="1300" dirty="0"/>
            </a:br>
            <a:r>
              <a:rPr lang="en-US" sz="1300" dirty="0"/>
              <a:t>• Move toward zero-trust security with sub-minute MTTR.</a:t>
            </a:r>
          </a:p>
        </p:txBody>
      </p:sp>
    </p:spTree>
    <p:extLst>
      <p:ext uri="{BB962C8B-B14F-4D97-AF65-F5344CB8AC3E}">
        <p14:creationId xmlns:p14="http://schemas.microsoft.com/office/powerpoint/2010/main" val="927761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1"/>
            <a:ext cx="5558971"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pPr eaLnBrk="0" fontAlgn="base" hangingPunct="0">
              <a:spcBef>
                <a:spcPct val="0"/>
              </a:spcBef>
              <a:spcAft>
                <a:spcPct val="0"/>
              </a:spcAft>
              <a:buClrTx/>
            </a:pPr>
            <a:r>
              <a:rPr lang="en-US" altLang="en-US" sz="2400" b="1" dirty="0">
                <a:solidFill>
                  <a:srgbClr val="C00000"/>
                </a:solidFill>
                <a:latin typeface="Times New Roman" panose="02020603050405020304" pitchFamily="18" charset="0"/>
                <a:cs typeface="Times New Roman" panose="02020603050405020304" pitchFamily="18" charset="0"/>
              </a:rPr>
              <a:t>                             </a:t>
            </a:r>
            <a:r>
              <a:rPr lang="en-US" altLang="en-US" sz="2400" b="1" dirty="0">
                <a:solidFill>
                  <a:srgbClr val="002060"/>
                </a:solidFill>
                <a:latin typeface="Times New Roman" panose="02020603050405020304" pitchFamily="18" charset="0"/>
                <a:cs typeface="Times New Roman" panose="02020603050405020304" pitchFamily="18" charset="0"/>
              </a:rPr>
              <a:t>References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7"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7392015" y="1"/>
            <a:ext cx="1409700" cy="466724"/>
          </a:xfrm>
          <a:prstGeom prst="rect">
            <a:avLst/>
          </a:prstGeom>
        </p:spPr>
      </p:pic>
      <p:sp>
        <p:nvSpPr>
          <p:cNvPr id="5" name="Date Placeholder 4">
            <a:extLst>
              <a:ext uri="{FF2B5EF4-FFF2-40B4-BE49-F238E27FC236}">
                <a16:creationId xmlns:a16="http://schemas.microsoft.com/office/drawing/2014/main" id="{BAB1EE05-F1AF-19E3-40AF-53292EC601F9}"/>
              </a:ext>
            </a:extLst>
          </p:cNvPr>
          <p:cNvSpPr>
            <a:spLocks noGrp="1"/>
          </p:cNvSpPr>
          <p:nvPr>
            <p:ph type="dt" sz="half" idx="2"/>
          </p:nvPr>
        </p:nvSpPr>
        <p:spPr/>
        <p:txBody>
          <a:bodyPr/>
          <a:lstStyle/>
          <a:p>
            <a:fld id="{02506823-15C1-435C-AEC7-E1036333DB4F}" type="datetime5">
              <a:rPr lang="en-IN" smtClean="0"/>
              <a:t>20-Nov-25</a:t>
            </a:fld>
            <a:endParaRPr lang="en-IN" dirty="0"/>
          </a:p>
        </p:txBody>
      </p:sp>
      <p:sp>
        <p:nvSpPr>
          <p:cNvPr id="6" name="Footer Placeholder 5">
            <a:extLst>
              <a:ext uri="{FF2B5EF4-FFF2-40B4-BE49-F238E27FC236}">
                <a16:creationId xmlns:a16="http://schemas.microsoft.com/office/drawing/2014/main" id="{55001055-A247-BB43-2CE5-57E009C33A1E}"/>
              </a:ext>
            </a:extLst>
          </p:cNvPr>
          <p:cNvSpPr>
            <a:spLocks noGrp="1"/>
          </p:cNvSpPr>
          <p:nvPr>
            <p:ph type="ftr" sz="quarter" idx="3"/>
          </p:nvPr>
        </p:nvSpPr>
        <p:spPr/>
        <p:txBody>
          <a:bodyPr/>
          <a:lstStyle/>
          <a:p>
            <a:r>
              <a:rPr lang="en-IN"/>
              <a:t>9</a:t>
            </a:r>
            <a:r>
              <a:rPr lang="en-IN" baseline="30000"/>
              <a:t>th</a:t>
            </a:r>
            <a:r>
              <a:rPr lang="en-IN"/>
              <a:t> CSITSS - 2025</a:t>
            </a:r>
            <a:endParaRPr lang="en-IN" dirty="0"/>
          </a:p>
        </p:txBody>
      </p:sp>
      <p:sp>
        <p:nvSpPr>
          <p:cNvPr id="8" name="TextBox 7">
            <a:extLst>
              <a:ext uri="{FF2B5EF4-FFF2-40B4-BE49-F238E27FC236}">
                <a16:creationId xmlns:a16="http://schemas.microsoft.com/office/drawing/2014/main" id="{BC021381-E7B7-B59E-D278-89974E08B03B}"/>
              </a:ext>
            </a:extLst>
          </p:cNvPr>
          <p:cNvSpPr txBox="1"/>
          <p:nvPr/>
        </p:nvSpPr>
        <p:spPr>
          <a:xfrm>
            <a:off x="1" y="1003443"/>
            <a:ext cx="9143999" cy="3354765"/>
          </a:xfrm>
          <a:prstGeom prst="rect">
            <a:avLst/>
          </a:prstGeom>
          <a:noFill/>
        </p:spPr>
        <p:txBody>
          <a:bodyPr wrap="square">
            <a:spAutoFit/>
          </a:bodyPr>
          <a:lstStyle/>
          <a:p>
            <a:pPr algn="just">
              <a:spcBef>
                <a:spcPts val="600"/>
              </a:spcBef>
              <a:buNone/>
            </a:pPr>
            <a:r>
              <a:rPr lang="en-US" sz="1400" dirty="0">
                <a:effectLst/>
                <a:latin typeface="Times New Roman" panose="02020603050405020304" pitchFamily="18" charset="0"/>
                <a:ea typeface="SimSun" panose="02010600030101010101" pitchFamily="2" charset="-122"/>
              </a:rPr>
              <a:t>[1] H. </a:t>
            </a:r>
            <a:r>
              <a:rPr lang="en-US" sz="1400" dirty="0" err="1">
                <a:effectLst/>
                <a:latin typeface="Times New Roman" panose="02020603050405020304" pitchFamily="18" charset="0"/>
                <a:ea typeface="SimSun" panose="02010600030101010101" pitchFamily="2" charset="-122"/>
              </a:rPr>
              <a:t>Touvron</a:t>
            </a:r>
            <a:r>
              <a:rPr lang="en-US" sz="1400" dirty="0">
                <a:effectLst/>
                <a:latin typeface="Times New Roman" panose="02020603050405020304" pitchFamily="18" charset="0"/>
                <a:ea typeface="SimSun" panose="02010600030101010101" pitchFamily="2" charset="-122"/>
              </a:rPr>
              <a:t> et al., </a:t>
            </a:r>
            <a:r>
              <a:rPr lang="en-US" sz="1400" dirty="0" err="1">
                <a:effectLst/>
                <a:latin typeface="Times New Roman" panose="02020603050405020304" pitchFamily="18" charset="0"/>
                <a:ea typeface="SimSun" panose="02010600030101010101" pitchFamily="2" charset="-122"/>
              </a:rPr>
              <a:t>LLaMA</a:t>
            </a:r>
            <a:r>
              <a:rPr lang="en-US" sz="1400" dirty="0">
                <a:effectLst/>
                <a:latin typeface="Times New Roman" panose="02020603050405020304" pitchFamily="18" charset="0"/>
                <a:ea typeface="SimSun" panose="02010600030101010101" pitchFamily="2" charset="-122"/>
              </a:rPr>
              <a:t>: Open and Efficient Foundation Language Models, </a:t>
            </a:r>
            <a:r>
              <a:rPr lang="en-US" sz="1400" dirty="0" err="1">
                <a:effectLst/>
                <a:latin typeface="Times New Roman" panose="02020603050405020304" pitchFamily="18" charset="0"/>
                <a:ea typeface="SimSun" panose="02010600030101010101" pitchFamily="2" charset="-122"/>
              </a:rPr>
              <a:t>arXiv</a:t>
            </a:r>
            <a:r>
              <a:rPr lang="en-US" sz="1400" dirty="0">
                <a:effectLst/>
                <a:latin typeface="Times New Roman" panose="02020603050405020304" pitchFamily="18" charset="0"/>
                <a:ea typeface="SimSun" panose="02010600030101010101" pitchFamily="2" charset="-122"/>
              </a:rPr>
              <a:t> preprint arXiv:2302.13971, 2023. [Online]. Available: </a:t>
            </a:r>
            <a:r>
              <a:rPr lang="en-US" sz="1400" u="none" strike="noStrike" dirty="0">
                <a:solidFill>
                  <a:srgbClr val="0563C1"/>
                </a:solidFill>
                <a:effectLst/>
                <a:latin typeface="Times New Roman" panose="02020603050405020304" pitchFamily="18" charset="0"/>
                <a:ea typeface="SimSun" panose="02010600030101010101" pitchFamily="2" charset="-122"/>
                <a:hlinkClick r:id="rId4"/>
              </a:rPr>
              <a:t>https://arxiv.org/abs/2302.13971</a:t>
            </a:r>
            <a:endParaRPr lang="en-IN" sz="1800" dirty="0">
              <a:effectLst/>
              <a:latin typeface="Times New Roman" panose="02020603050405020304" pitchFamily="18" charset="0"/>
              <a:ea typeface="SimSun" panose="02010600030101010101" pitchFamily="2" charset="-122"/>
            </a:endParaRPr>
          </a:p>
          <a:p>
            <a:pPr algn="just">
              <a:spcBef>
                <a:spcPts val="600"/>
              </a:spcBef>
              <a:buNone/>
            </a:pPr>
            <a:r>
              <a:rPr lang="en-US" sz="1400" dirty="0">
                <a:effectLst/>
                <a:latin typeface="Times New Roman" panose="02020603050405020304" pitchFamily="18" charset="0"/>
                <a:ea typeface="SimSun" panose="02010600030101010101" pitchFamily="2" charset="-122"/>
              </a:rPr>
              <a:t>[2] E. J. Hu et al., </a:t>
            </a:r>
            <a:r>
              <a:rPr lang="en-US" sz="1400" dirty="0" err="1">
                <a:effectLst/>
                <a:latin typeface="Times New Roman" panose="02020603050405020304" pitchFamily="18" charset="0"/>
                <a:ea typeface="SimSun" panose="02010600030101010101" pitchFamily="2" charset="-122"/>
              </a:rPr>
              <a:t>LoRA</a:t>
            </a:r>
            <a:r>
              <a:rPr lang="en-US" sz="1400" dirty="0">
                <a:effectLst/>
                <a:latin typeface="Times New Roman" panose="02020603050405020304" pitchFamily="18" charset="0"/>
                <a:ea typeface="SimSun" panose="02010600030101010101" pitchFamily="2" charset="-122"/>
              </a:rPr>
              <a:t>: Low-Rank Adaptation of Large Language Models, </a:t>
            </a:r>
            <a:r>
              <a:rPr lang="en-US" sz="1400" dirty="0" err="1">
                <a:effectLst/>
                <a:latin typeface="Times New Roman" panose="02020603050405020304" pitchFamily="18" charset="0"/>
                <a:ea typeface="SimSun" panose="02010600030101010101" pitchFamily="2" charset="-122"/>
              </a:rPr>
              <a:t>arXiv</a:t>
            </a:r>
            <a:r>
              <a:rPr lang="en-US" sz="1400" dirty="0">
                <a:effectLst/>
                <a:latin typeface="Times New Roman" panose="02020603050405020304" pitchFamily="18" charset="0"/>
                <a:ea typeface="SimSun" panose="02010600030101010101" pitchFamily="2" charset="-122"/>
              </a:rPr>
              <a:t> preprint arXiv:2106.09685, 2021. [Online]. Available: </a:t>
            </a:r>
            <a:r>
              <a:rPr lang="en-US" sz="1400" u="none" strike="noStrike" dirty="0">
                <a:solidFill>
                  <a:srgbClr val="0563C1"/>
                </a:solidFill>
                <a:effectLst/>
                <a:latin typeface="Times New Roman" panose="02020603050405020304" pitchFamily="18" charset="0"/>
                <a:ea typeface="SimSun" panose="02010600030101010101" pitchFamily="2" charset="-122"/>
                <a:hlinkClick r:id="rId5"/>
              </a:rPr>
              <a:t>https://arxiv.org/abs/2106.09685</a:t>
            </a:r>
            <a:endParaRPr lang="en-IN" sz="1800" dirty="0">
              <a:effectLst/>
              <a:latin typeface="Times New Roman" panose="02020603050405020304" pitchFamily="18" charset="0"/>
              <a:ea typeface="SimSun" panose="02010600030101010101" pitchFamily="2" charset="-122"/>
            </a:endParaRPr>
          </a:p>
          <a:p>
            <a:pPr algn="just">
              <a:spcBef>
                <a:spcPts val="600"/>
              </a:spcBef>
              <a:buNone/>
            </a:pPr>
            <a:r>
              <a:rPr lang="en-US" sz="1400" dirty="0">
                <a:effectLst/>
                <a:latin typeface="Times New Roman" panose="02020603050405020304" pitchFamily="18" charset="0"/>
                <a:ea typeface="SimSun" panose="02010600030101010101" pitchFamily="2" charset="-122"/>
              </a:rPr>
              <a:t>[3] MITRE ATT&amp;CK, MITRE ATT&amp;CK Framework, [Online]. Available: </a:t>
            </a:r>
            <a:r>
              <a:rPr lang="en-US" sz="1400" u="none" strike="noStrike" dirty="0">
                <a:solidFill>
                  <a:srgbClr val="0563C1"/>
                </a:solidFill>
                <a:effectLst/>
                <a:latin typeface="Times New Roman" panose="02020603050405020304" pitchFamily="18" charset="0"/>
                <a:ea typeface="SimSun" panose="02010600030101010101" pitchFamily="2" charset="-122"/>
                <a:hlinkClick r:id="rId6"/>
              </a:rPr>
              <a:t>https://attack.mitre.org</a:t>
            </a:r>
            <a:endParaRPr lang="en-IN" sz="1800" dirty="0">
              <a:effectLst/>
              <a:latin typeface="Times New Roman" panose="02020603050405020304" pitchFamily="18" charset="0"/>
              <a:ea typeface="SimSun" panose="02010600030101010101" pitchFamily="2" charset="-122"/>
            </a:endParaRPr>
          </a:p>
          <a:p>
            <a:pPr algn="just">
              <a:spcBef>
                <a:spcPts val="600"/>
              </a:spcBef>
              <a:buNone/>
            </a:pPr>
            <a:r>
              <a:rPr lang="en-US" sz="1400" dirty="0">
                <a:effectLst/>
                <a:latin typeface="Times New Roman" panose="02020603050405020304" pitchFamily="18" charset="0"/>
                <a:ea typeface="SimSun" panose="02010600030101010101" pitchFamily="2" charset="-122"/>
              </a:rPr>
              <a:t>[4] Data-Driven Threat Hunting Using Sysmon, </a:t>
            </a:r>
            <a:r>
              <a:rPr lang="en-US" sz="1400" dirty="0" err="1">
                <a:effectLst/>
                <a:latin typeface="Times New Roman" panose="02020603050405020304" pitchFamily="18" charset="0"/>
                <a:ea typeface="SimSun" panose="02010600030101010101" pitchFamily="2" charset="-122"/>
              </a:rPr>
              <a:t>arXiv</a:t>
            </a:r>
            <a:r>
              <a:rPr lang="en-US" sz="1400" dirty="0">
                <a:effectLst/>
                <a:latin typeface="Times New Roman" panose="02020603050405020304" pitchFamily="18" charset="0"/>
                <a:ea typeface="SimSun" panose="02010600030101010101" pitchFamily="2" charset="-122"/>
              </a:rPr>
              <a:t> preprint arXiv:2103.15194, 2021. [Online]. Available: </a:t>
            </a:r>
            <a:r>
              <a:rPr lang="en-US" sz="1400" u="none" strike="noStrike" dirty="0">
                <a:solidFill>
                  <a:srgbClr val="0563C1"/>
                </a:solidFill>
                <a:effectLst/>
                <a:latin typeface="Times New Roman" panose="02020603050405020304" pitchFamily="18" charset="0"/>
                <a:ea typeface="SimSun" panose="02010600030101010101" pitchFamily="2" charset="-122"/>
                <a:hlinkClick r:id="rId7"/>
              </a:rPr>
              <a:t>https://arxiv.org/abs/2103.15194</a:t>
            </a:r>
            <a:endParaRPr lang="en-IN" sz="1800" dirty="0">
              <a:effectLst/>
              <a:latin typeface="Times New Roman" panose="02020603050405020304" pitchFamily="18" charset="0"/>
              <a:ea typeface="SimSun" panose="02010600030101010101" pitchFamily="2" charset="-122"/>
            </a:endParaRPr>
          </a:p>
          <a:p>
            <a:pPr algn="just">
              <a:spcBef>
                <a:spcPts val="600"/>
              </a:spcBef>
              <a:buNone/>
            </a:pPr>
            <a:r>
              <a:rPr lang="en-US" sz="1400" dirty="0">
                <a:effectLst/>
                <a:latin typeface="Times New Roman" panose="02020603050405020304" pitchFamily="18" charset="0"/>
                <a:ea typeface="SimSun" panose="02010600030101010101" pitchFamily="2" charset="-122"/>
              </a:rPr>
              <a:t>[5] Malicious Behavior Detection using Windows Audit Logs, </a:t>
            </a:r>
            <a:r>
              <a:rPr lang="en-US" sz="1400" dirty="0" err="1">
                <a:effectLst/>
                <a:latin typeface="Times New Roman" panose="02020603050405020304" pitchFamily="18" charset="0"/>
                <a:ea typeface="SimSun" panose="02010600030101010101" pitchFamily="2" charset="-122"/>
              </a:rPr>
              <a:t>arXiv</a:t>
            </a:r>
            <a:r>
              <a:rPr lang="en-US" sz="1400" dirty="0">
                <a:effectLst/>
                <a:latin typeface="Times New Roman" panose="02020603050405020304" pitchFamily="18" charset="0"/>
                <a:ea typeface="SimSun" panose="02010600030101010101" pitchFamily="2" charset="-122"/>
              </a:rPr>
              <a:t> preprint arXiv:1506.04200, 2015. [Online]. Available: </a:t>
            </a:r>
            <a:r>
              <a:rPr lang="en-US" sz="1400" u="none" strike="noStrike" dirty="0">
                <a:solidFill>
                  <a:srgbClr val="0563C1"/>
                </a:solidFill>
                <a:effectLst/>
                <a:latin typeface="Times New Roman" panose="02020603050405020304" pitchFamily="18" charset="0"/>
                <a:ea typeface="SimSun" panose="02010600030101010101" pitchFamily="2" charset="-122"/>
                <a:hlinkClick r:id="rId8"/>
              </a:rPr>
              <a:t>https://arxiv.org/abs/1506.04200</a:t>
            </a:r>
            <a:endParaRPr lang="en-IN" sz="1800" dirty="0">
              <a:effectLst/>
              <a:latin typeface="Times New Roman" panose="02020603050405020304" pitchFamily="18" charset="0"/>
              <a:ea typeface="SimSun" panose="02010600030101010101" pitchFamily="2" charset="-122"/>
            </a:endParaRPr>
          </a:p>
          <a:p>
            <a:pPr algn="just">
              <a:spcBef>
                <a:spcPts val="600"/>
              </a:spcBef>
              <a:buNone/>
            </a:pPr>
            <a:r>
              <a:rPr lang="en-US" sz="1400" dirty="0">
                <a:effectLst/>
                <a:latin typeface="Times New Roman" panose="02020603050405020304" pitchFamily="18" charset="0"/>
                <a:ea typeface="SimSun" panose="02010600030101010101" pitchFamily="2" charset="-122"/>
              </a:rPr>
              <a:t>[6] Deep Reinforcement Learning for Cybersecurity Threat Detection and Protection: A Review, </a:t>
            </a:r>
            <a:r>
              <a:rPr lang="en-US" sz="1400" dirty="0" err="1">
                <a:effectLst/>
                <a:latin typeface="Times New Roman" panose="02020603050405020304" pitchFamily="18" charset="0"/>
                <a:ea typeface="SimSun" panose="02010600030101010101" pitchFamily="2" charset="-122"/>
              </a:rPr>
              <a:t>arXiv</a:t>
            </a:r>
            <a:r>
              <a:rPr lang="en-US" sz="1400" dirty="0">
                <a:effectLst/>
                <a:latin typeface="Times New Roman" panose="02020603050405020304" pitchFamily="18" charset="0"/>
                <a:ea typeface="SimSun" panose="02010600030101010101" pitchFamily="2" charset="-122"/>
              </a:rPr>
              <a:t> preprint arXiv:2206.02733, 2022. [Online]. Available: </a:t>
            </a:r>
            <a:r>
              <a:rPr lang="en-US" sz="1400" u="none" strike="noStrike" dirty="0">
                <a:solidFill>
                  <a:srgbClr val="0563C1"/>
                </a:solidFill>
                <a:effectLst/>
                <a:latin typeface="Times New Roman" panose="02020603050405020304" pitchFamily="18" charset="0"/>
                <a:ea typeface="SimSun" panose="02010600030101010101" pitchFamily="2" charset="-122"/>
                <a:hlinkClick r:id="rId9"/>
              </a:rPr>
              <a:t>https://arxiv.org/abs/2206.02733</a:t>
            </a:r>
            <a:endParaRPr lang="en-IN" sz="1800" dirty="0">
              <a:effectLst/>
              <a:latin typeface="Times New Roman" panose="02020603050405020304" pitchFamily="18" charset="0"/>
              <a:ea typeface="SimSun" panose="02010600030101010101" pitchFamily="2" charset="-122"/>
            </a:endParaRPr>
          </a:p>
          <a:p>
            <a:pPr algn="just">
              <a:spcBef>
                <a:spcPts val="600"/>
              </a:spcBef>
              <a:buNone/>
            </a:pPr>
            <a:r>
              <a:rPr lang="en-US" sz="1400" dirty="0">
                <a:effectLst/>
                <a:latin typeface="Times New Roman" panose="02020603050405020304" pitchFamily="18" charset="0"/>
                <a:ea typeface="SimSun" panose="02010600030101010101" pitchFamily="2" charset="-122"/>
              </a:rPr>
              <a:t>[7] Deep Learning for Unsupervised Insider Threat Detection in Structured Cybersecurity Data Streams, </a:t>
            </a:r>
            <a:r>
              <a:rPr lang="en-US" sz="1400" dirty="0" err="1">
                <a:effectLst/>
                <a:latin typeface="Times New Roman" panose="02020603050405020304" pitchFamily="18" charset="0"/>
                <a:ea typeface="SimSun" panose="02010600030101010101" pitchFamily="2" charset="-122"/>
              </a:rPr>
              <a:t>arXiv</a:t>
            </a:r>
            <a:r>
              <a:rPr lang="en-US" sz="1400" dirty="0">
                <a:effectLst/>
                <a:latin typeface="Times New Roman" panose="02020603050405020304" pitchFamily="18" charset="0"/>
                <a:ea typeface="SimSun" panose="02010600030101010101" pitchFamily="2" charset="-122"/>
              </a:rPr>
              <a:t> preprint arXiv:1710.00811, 2017. [Online] . Available: </a:t>
            </a:r>
            <a:r>
              <a:rPr lang="en-US" sz="1400" u="none" strike="noStrike" dirty="0">
                <a:solidFill>
                  <a:srgbClr val="0563C1"/>
                </a:solidFill>
                <a:effectLst/>
                <a:latin typeface="Times New Roman" panose="02020603050405020304" pitchFamily="18" charset="0"/>
                <a:ea typeface="SimSun" panose="02010600030101010101" pitchFamily="2" charset="-122"/>
                <a:hlinkClick r:id="rId10"/>
              </a:rPr>
              <a:t>https://arxiv.org/abs/1710.00811</a:t>
            </a:r>
            <a:endParaRPr lang="en-IN"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2291699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TextBox 1"/>
          <p:cNvSpPr txBox="1"/>
          <p:nvPr/>
        </p:nvSpPr>
        <p:spPr>
          <a:xfrm>
            <a:off x="1524000" y="1"/>
            <a:ext cx="5558971"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p>
          <a:p>
            <a:pPr algn="ctr"/>
            <a:r>
              <a:rPr lang="en-IN" sz="2400" b="1" dirty="0">
                <a:solidFill>
                  <a:srgbClr val="002060"/>
                </a:solidFill>
                <a:latin typeface="Times New Roman" panose="02020603050405020304" pitchFamily="18" charset="0"/>
                <a:cs typeface="Times New Roman" panose="02020603050405020304" pitchFamily="18" charset="0"/>
              </a:rPr>
              <a:t>     </a:t>
            </a:r>
          </a:p>
        </p:txBody>
      </p:sp>
      <p:sp>
        <p:nvSpPr>
          <p:cNvPr id="3" name="Rectangle 2"/>
          <p:cNvSpPr/>
          <p:nvPr/>
        </p:nvSpPr>
        <p:spPr>
          <a:xfrm>
            <a:off x="87086" y="928915"/>
            <a:ext cx="8904513" cy="523220"/>
          </a:xfrm>
          <a:prstGeom prst="rect">
            <a:avLst/>
          </a:prstGeom>
        </p:spPr>
        <p:txBody>
          <a:bodyPr wrap="square">
            <a:spAutoFit/>
          </a:bodyPr>
          <a:lstStyle/>
          <a:p>
            <a:pPr marL="285750" indent="-285750">
              <a:buFont typeface="Arial" panose="020B0604020202020204" pitchFamily="34" charset="0"/>
              <a:buChar char="•"/>
            </a:pPr>
            <a:endParaRPr lang="en-IN" dirty="0">
              <a:solidFill>
                <a:srgbClr val="C00000"/>
              </a:solidFill>
            </a:endParaRPr>
          </a:p>
          <a:p>
            <a:pPr marL="285750" indent="-285750">
              <a:buFont typeface="Arial" panose="020B0604020202020204" pitchFamily="34" charset="0"/>
              <a:buChar char="•"/>
            </a:pPr>
            <a:endParaRPr lang="en-IN" dirty="0">
              <a:solidFill>
                <a:srgbClr val="C00000"/>
              </a:solidFill>
            </a:endParaRPr>
          </a:p>
        </p:txBody>
      </p:sp>
      <p:sp>
        <p:nvSpPr>
          <p:cNvPr id="4" name="TextBox 3"/>
          <p:cNvSpPr txBox="1"/>
          <p:nvPr/>
        </p:nvSpPr>
        <p:spPr>
          <a:xfrm>
            <a:off x="97046" y="928915"/>
            <a:ext cx="8959867" cy="483209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Acknowledgements :</a:t>
            </a:r>
          </a:p>
          <a:p>
            <a:endParaRPr lang="en-US" b="1" dirty="0">
              <a:solidFill>
                <a:srgbClr val="C00000"/>
              </a:solidFill>
              <a:latin typeface="Times New Roman" panose="02020603050405020304" pitchFamily="18" charset="0"/>
              <a:cs typeface="Times New Roman" panose="02020603050405020304" pitchFamily="18" charset="0"/>
            </a:endParaRPr>
          </a:p>
          <a:p>
            <a:r>
              <a:rPr lang="en-US" b="1" dirty="0"/>
              <a:t>Faculty Guidance:</a:t>
            </a:r>
            <a:br>
              <a:rPr lang="en-US" dirty="0"/>
            </a:br>
            <a:r>
              <a:rPr lang="en-US" dirty="0"/>
              <a:t>Dr. Ayesha Taranum for technical guidance and mentorship.</a:t>
            </a:r>
          </a:p>
          <a:p>
            <a:r>
              <a:rPr lang="en-US" b="1" dirty="0"/>
              <a:t>Institutional Support:</a:t>
            </a:r>
            <a:br>
              <a:rPr lang="en-US" dirty="0"/>
            </a:br>
            <a:r>
              <a:rPr lang="en-US" dirty="0"/>
              <a:t>Presidency University, School of Computer Science and Engineering for research resources, lab facilities.</a:t>
            </a:r>
          </a:p>
          <a:p>
            <a:r>
              <a:rPr lang="en-US" b="1" dirty="0"/>
              <a:t>Collaborators &amp; Team Members:</a:t>
            </a:r>
            <a:br>
              <a:rPr lang="en-US" dirty="0"/>
            </a:br>
            <a:r>
              <a:rPr lang="en-US" dirty="0"/>
              <a:t>Mohammed Usman Hussain, Karthik — for contributions to model implementation, testing, and documentation.</a:t>
            </a:r>
          </a:p>
          <a:p>
            <a:r>
              <a:rPr lang="en-US" b="1" dirty="0"/>
              <a:t>Conference/Organizers:</a:t>
            </a:r>
            <a:br>
              <a:rPr lang="en-US" dirty="0"/>
            </a:br>
            <a:r>
              <a:rPr lang="en-US" dirty="0"/>
              <a:t>IEEE TECH WEEK, RV College of Engineering, CSITSS-2025 committee for the opportunity to present.</a:t>
            </a:r>
          </a:p>
          <a:p>
            <a:r>
              <a:rPr lang="en-US" b="1" dirty="0"/>
              <a:t>Data &amp; Framework Resources:</a:t>
            </a:r>
            <a:br>
              <a:rPr lang="en-US" dirty="0"/>
            </a:br>
            <a:r>
              <a:rPr lang="en-US" dirty="0"/>
              <a:t>MITRE ATT&amp;CK, Microsoft Windows API documentation, and open-source contributions used in experimental setup.</a:t>
            </a:r>
          </a:p>
          <a:p>
            <a:r>
              <a:rPr lang="en-US" b="1" dirty="0"/>
              <a:t>Family &amp; Friends:</a:t>
            </a:r>
            <a:br>
              <a:rPr lang="en-US" dirty="0"/>
            </a:br>
            <a:r>
              <a:rPr lang="en-US" dirty="0"/>
              <a:t>For their constant support and encouragement throughout the research work.</a:t>
            </a:r>
          </a:p>
          <a:p>
            <a:endParaRPr lang="en-US" b="1" dirty="0">
              <a:solidFill>
                <a:srgbClr val="C00000"/>
              </a:solidFill>
              <a:latin typeface="Times New Roman" panose="02020603050405020304" pitchFamily="18" charset="0"/>
              <a:cs typeface="Times New Roman" panose="02020603050405020304" pitchFamily="18" charset="0"/>
            </a:endParaRPr>
          </a:p>
          <a:p>
            <a:r>
              <a:rPr lang="en-US" b="1" i="1" dirty="0">
                <a:solidFill>
                  <a:srgbClr val="C00000"/>
                </a:solidFill>
                <a:latin typeface="Times New Roman" panose="02020603050405020304" pitchFamily="18" charset="0"/>
                <a:cs typeface="Times New Roman" panose="02020603050405020304" pitchFamily="18" charset="0"/>
              </a:rPr>
              <a:t>Thank you for your attention!</a:t>
            </a:r>
            <a:endParaRPr lang="en-US" b="1" dirty="0">
              <a:solidFill>
                <a:srgbClr val="C00000"/>
              </a:solidFill>
              <a:latin typeface="Times New Roman" panose="02020603050405020304" pitchFamily="18" charset="0"/>
              <a:cs typeface="Times New Roman" panose="02020603050405020304" pitchFamily="18" charset="0"/>
            </a:endParaRPr>
          </a:p>
          <a:p>
            <a:endParaRPr lang="en-US" b="1" dirty="0">
              <a:solidFill>
                <a:srgbClr val="C00000"/>
              </a:solidFill>
              <a:latin typeface="Times New Roman" panose="02020603050405020304" pitchFamily="18" charset="0"/>
              <a:cs typeface="Times New Roman" panose="02020603050405020304" pitchFamily="18" charset="0"/>
            </a:endParaRPr>
          </a:p>
          <a:p>
            <a:endParaRPr lang="en-US" b="1" dirty="0">
              <a:solidFill>
                <a:srgbClr val="C00000"/>
              </a:solidFill>
              <a:latin typeface="Times New Roman" panose="02020603050405020304" pitchFamily="18" charset="0"/>
              <a:cs typeface="Times New Roman" panose="02020603050405020304" pitchFamily="18" charset="0"/>
            </a:endParaRPr>
          </a:p>
          <a:p>
            <a:endParaRPr lang="en-US" b="1" dirty="0">
              <a:solidFill>
                <a:srgbClr val="C00000"/>
              </a:solidFill>
              <a:latin typeface="Times New Roman" panose="02020603050405020304" pitchFamily="18" charset="0"/>
              <a:cs typeface="Times New Roman" panose="02020603050405020304" pitchFamily="18" charset="0"/>
            </a:endParaRPr>
          </a:p>
          <a:p>
            <a:endParaRPr lang="en-US" b="1" dirty="0">
              <a:solidFill>
                <a:srgbClr val="C00000"/>
              </a:solidFill>
              <a:latin typeface="Times New Roman" panose="02020603050405020304" pitchFamily="18" charset="0"/>
              <a:cs typeface="Times New Roman" panose="02020603050405020304" pitchFamily="18" charset="0"/>
            </a:endParaRPr>
          </a:p>
          <a:p>
            <a:r>
              <a:rPr lang="en-US" b="1" dirty="0">
                <a:solidFill>
                  <a:srgbClr val="C00000"/>
                </a:solidFill>
                <a:latin typeface="Times New Roman" panose="02020603050405020304" pitchFamily="18" charset="0"/>
                <a:cs typeface="Times New Roman" panose="02020603050405020304" pitchFamily="18" charset="0"/>
              </a:rPr>
              <a:t> </a:t>
            </a:r>
            <a:endParaRPr lang="en-IN" b="1" dirty="0">
              <a:solidFill>
                <a:srgbClr val="C00000"/>
              </a:solidFill>
              <a:latin typeface="Times New Roman" panose="02020603050405020304" pitchFamily="18" charset="0"/>
              <a:cs typeface="Times New Roman" panose="02020603050405020304" pitchFamily="18" charset="0"/>
            </a:endParaRP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2081059" y="51619"/>
            <a:ext cx="2881773" cy="435077"/>
          </a:xfrm>
          <a:prstGeom prst="rect">
            <a:avLst/>
          </a:prstGeom>
        </p:spPr>
      </p:pic>
      <p:pic>
        <p:nvPicPr>
          <p:cNvPr id="6" name="Picture 5"/>
          <p:cNvPicPr>
            <a:picLocks noChangeAspect="1"/>
          </p:cNvPicPr>
          <p:nvPr/>
        </p:nvPicPr>
        <p:blipFill>
          <a:blip r:embed="rId4"/>
          <a:stretch>
            <a:fillRect/>
          </a:stretch>
        </p:blipFill>
        <p:spPr>
          <a:xfrm>
            <a:off x="5383373" y="51618"/>
            <a:ext cx="3399196" cy="435077"/>
          </a:xfrm>
          <a:prstGeom prst="rect">
            <a:avLst/>
          </a:prstGeom>
        </p:spPr>
      </p:pic>
      <p:sp>
        <p:nvSpPr>
          <p:cNvPr id="8" name="Date Placeholder 7">
            <a:extLst>
              <a:ext uri="{FF2B5EF4-FFF2-40B4-BE49-F238E27FC236}">
                <a16:creationId xmlns:a16="http://schemas.microsoft.com/office/drawing/2014/main" id="{2B6359AC-7851-15F6-6D72-99EEDEE2F4C0}"/>
              </a:ext>
            </a:extLst>
          </p:cNvPr>
          <p:cNvSpPr>
            <a:spLocks noGrp="1"/>
          </p:cNvSpPr>
          <p:nvPr>
            <p:ph type="dt" sz="half" idx="2"/>
          </p:nvPr>
        </p:nvSpPr>
        <p:spPr/>
        <p:txBody>
          <a:bodyPr/>
          <a:lstStyle/>
          <a:p>
            <a:fld id="{E89A0F54-737C-4236-AD82-FCCEF0E81635}" type="datetime5">
              <a:rPr lang="en-IN" smtClean="0"/>
              <a:t>20-Nov-25</a:t>
            </a:fld>
            <a:endParaRPr lang="en-IN" dirty="0"/>
          </a:p>
        </p:txBody>
      </p:sp>
      <p:sp>
        <p:nvSpPr>
          <p:cNvPr id="9" name="Footer Placeholder 8">
            <a:extLst>
              <a:ext uri="{FF2B5EF4-FFF2-40B4-BE49-F238E27FC236}">
                <a16:creationId xmlns:a16="http://schemas.microsoft.com/office/drawing/2014/main" id="{F1C8E3BD-ABCF-627B-7A87-E295362713F4}"/>
              </a:ext>
            </a:extLst>
          </p:cNvPr>
          <p:cNvSpPr>
            <a:spLocks noGrp="1"/>
          </p:cNvSpPr>
          <p:nvPr>
            <p:ph type="ftr" sz="quarter" idx="3"/>
          </p:nvPr>
        </p:nvSpPr>
        <p:spPr/>
        <p:txBody>
          <a:bodyPr/>
          <a:lstStyle/>
          <a:p>
            <a:r>
              <a:rPr lang="en-IN" dirty="0"/>
              <a:t>9</a:t>
            </a:r>
            <a:r>
              <a:rPr lang="en-IN" baseline="30000" dirty="0"/>
              <a:t>th</a:t>
            </a:r>
            <a:r>
              <a:rPr lang="en-IN" dirty="0"/>
              <a:t> CSITSS - 2025</a:t>
            </a:r>
          </a:p>
        </p:txBody>
      </p:sp>
    </p:spTree>
    <p:extLst>
      <p:ext uri="{BB962C8B-B14F-4D97-AF65-F5344CB8AC3E}">
        <p14:creationId xmlns:p14="http://schemas.microsoft.com/office/powerpoint/2010/main" val="742163847"/>
      </p:ext>
    </p:extLst>
  </p:cSld>
  <p:clrMapOvr>
    <a:masterClrMapping/>
  </p:clrMapOvr>
</p:sld>
</file>

<file path=ppt/theme/theme1.xml><?xml version="1.0" encoding="utf-8"?>
<a:theme xmlns:a="http://schemas.openxmlformats.org/drawingml/2006/main" name="RVCE_pp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VCE_ppt" id="{A36B1E70-BFC6-4DA2-B6A2-8E519CB151AE}" vid="{3E98244B-4E8E-4EBE-BD49-C2877BC0512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RVCE_ppt</Template>
  <TotalTime>1459</TotalTime>
  <Words>2792</Words>
  <Application>Microsoft Office PowerPoint</Application>
  <PresentationFormat>On-screen Show (16:9)</PresentationFormat>
  <Paragraphs>279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RVCE_ppt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Nagaraja GS</dc:creator>
  <cp:lastModifiedBy>SRIHARI RAMESH</cp:lastModifiedBy>
  <cp:revision>232</cp:revision>
  <dcterms:modified xsi:type="dcterms:W3CDTF">2025-11-20T17:51:57Z</dcterms:modified>
</cp:coreProperties>
</file>