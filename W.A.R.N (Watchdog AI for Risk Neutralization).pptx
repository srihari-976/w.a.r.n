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12"/>
  </p:notesMasterIdLst>
  <p:sldIdLst>
    <p:sldId id="256" r:id="rId2"/>
    <p:sldId id="257" r:id="rId3"/>
    <p:sldId id="259" r:id="rId4"/>
    <p:sldId id="263" r:id="rId5"/>
    <p:sldId id="264" r:id="rId6"/>
    <p:sldId id="265" r:id="rId7"/>
    <p:sldId id="266" r:id="rId8"/>
    <p:sldId id="267" r:id="rId9"/>
    <p:sldId id="268" r:id="rId10"/>
    <p:sldId id="260" r:id="rId11"/>
  </p:sldIdLst>
  <p:sldSz cx="12192000" cy="6858000"/>
  <p:notesSz cx="9144000" cy="6858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宋体" charset="0"/>
        <a:cs typeface="Droid Sans" charset="0"/>
      </a:defRPr>
    </a:lvl1pPr>
    <a:lvl2pPr marL="457200" indent="0" algn="l" defTabSz="914400" eaLnBrk="1" fontAlgn="auto" latinLnBrk="0" hangingPunct="1">
      <a:buNone/>
      <a:defRPr sz="1800" kern="1200">
        <a:solidFill>
          <a:schemeClr val="tx1"/>
        </a:solidFill>
        <a:latin typeface="Droid Sans" charset="0"/>
        <a:ea typeface="宋体" charset="0"/>
        <a:cs typeface="Droid Sans" charset="0"/>
      </a:defRPr>
    </a:lvl2pPr>
    <a:lvl3pPr marL="914400" indent="0" algn="l" defTabSz="914400" eaLnBrk="1" fontAlgn="auto" latinLnBrk="0" hangingPunct="1">
      <a:buNone/>
      <a:defRPr sz="1800" kern="1200">
        <a:solidFill>
          <a:schemeClr val="tx1"/>
        </a:solidFill>
        <a:latin typeface="Droid Sans" charset="0"/>
        <a:ea typeface="宋体" charset="0"/>
        <a:cs typeface="Droid Sans" charset="0"/>
      </a:defRPr>
    </a:lvl3pPr>
    <a:lvl4pPr marL="1371600" indent="0" algn="l" defTabSz="914400" eaLnBrk="1" fontAlgn="auto" latinLnBrk="0" hangingPunct="1">
      <a:buNone/>
      <a:defRPr sz="1800" kern="1200">
        <a:solidFill>
          <a:schemeClr val="tx1"/>
        </a:solidFill>
        <a:latin typeface="Droid Sans" charset="0"/>
        <a:ea typeface="宋体" charset="0"/>
        <a:cs typeface="Droid Sans" charset="0"/>
      </a:defRPr>
    </a:lvl4pPr>
    <a:lvl5pPr marL="1828800" indent="0" algn="l" defTabSz="914400" eaLnBrk="1" fontAlgn="auto" latinLnBrk="0" hangingPunct="1">
      <a:buNone/>
      <a:defRPr sz="1800" kern="1200">
        <a:solidFill>
          <a:schemeClr val="tx1"/>
        </a:solidFill>
        <a:latin typeface="Droid Sans" charset="0"/>
        <a:ea typeface="宋体" charset="0"/>
        <a:cs typeface="Droid Sans" charset="0"/>
      </a:defRPr>
    </a:lvl5pPr>
    <a:lvl6pPr marL="2286000" indent="0" algn="l" defTabSz="914400" eaLnBrk="1" fontAlgn="auto" latinLnBrk="0" hangingPunct="1">
      <a:buNone/>
      <a:defRPr sz="1800" kern="1200">
        <a:solidFill>
          <a:schemeClr val="tx1"/>
        </a:solidFill>
        <a:latin typeface="Droid Sans" charset="0"/>
        <a:ea typeface="宋体" charset="0"/>
        <a:cs typeface="Droid Sans" charset="0"/>
      </a:defRPr>
    </a:lvl6pPr>
    <a:lvl7pPr marL="2743200" indent="0" algn="l" defTabSz="914400" eaLnBrk="1" fontAlgn="auto" latinLnBrk="0" hangingPunct="1">
      <a:buNone/>
      <a:defRPr sz="1800" kern="1200">
        <a:solidFill>
          <a:schemeClr val="tx1"/>
        </a:solidFill>
        <a:latin typeface="Droid Sans" charset="0"/>
        <a:ea typeface="宋体" charset="0"/>
        <a:cs typeface="Droid Sans" charset="0"/>
      </a:defRPr>
    </a:lvl7pPr>
    <a:lvl8pPr marL="3200400" indent="0" algn="l" defTabSz="914400" eaLnBrk="1" fontAlgn="auto" latinLnBrk="0" hangingPunct="1">
      <a:buNone/>
      <a:defRPr sz="1800" kern="1200">
        <a:solidFill>
          <a:schemeClr val="tx1"/>
        </a:solidFill>
        <a:latin typeface="Droid Sans" charset="0"/>
        <a:ea typeface="宋体" charset="0"/>
        <a:cs typeface="Droid Sans" charset="0"/>
      </a:defRPr>
    </a:lvl8pPr>
    <a:lvl9pPr marL="3200400" indent="0" algn="l" defTabSz="914400" eaLnBrk="1" fontAlgn="auto" latinLnBrk="0" hangingPunct="1">
      <a:buNone/>
      <a:defRPr sz="1800" kern="1200">
        <a:solidFill>
          <a:schemeClr val="tx1"/>
        </a:solidFill>
        <a:latin typeface="Droid Sans" charset="0"/>
        <a:ea typeface="宋体" charset="0"/>
        <a:cs typeface="Droid Sans" charset="0"/>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37690-CA43-4B72-AAA4-02EF1803A410}" v="5" dt="2025-10-29T17:58:20.579"/>
    <p1510:client id="{F09F9C39-F7F9-48E2-9944-0BFE2C1C21AC}" v="191" dt="2025-10-29T17:41:40.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88889" autoAdjust="0"/>
  </p:normalViewPr>
  <p:slideViewPr>
    <p:cSldViewPr>
      <p:cViewPr varScale="1">
        <p:scale>
          <a:sx n="73" d="100"/>
          <a:sy n="73" d="100"/>
        </p:scale>
        <p:origin x="1042" y="67"/>
      </p:cViewPr>
      <p:guideLst>
        <p:guide orient="horz" pos="28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HARI RAMESH" userId="d3d767fca6cc6053" providerId="LiveId" clId="{1FFB9763-AFC5-49CF-82B4-CBE0A349AEC5}"/>
    <pc:docChg chg="custSel modSld">
      <pc:chgData name="SRIHARI RAMESH" userId="d3d767fca6cc6053" providerId="LiveId" clId="{1FFB9763-AFC5-49CF-82B4-CBE0A349AEC5}" dt="2025-10-29T17:58:44.385" v="25" actId="313"/>
      <pc:docMkLst>
        <pc:docMk/>
      </pc:docMkLst>
      <pc:sldChg chg="modSp mod">
        <pc:chgData name="SRIHARI RAMESH" userId="d3d767fca6cc6053" providerId="LiveId" clId="{1FFB9763-AFC5-49CF-82B4-CBE0A349AEC5}" dt="2025-10-29T17:47:27.050" v="1" actId="2711"/>
        <pc:sldMkLst>
          <pc:docMk/>
          <pc:sldMk cId="1465551221" sldId="259"/>
        </pc:sldMkLst>
        <pc:spChg chg="mod">
          <ac:chgData name="SRIHARI RAMESH" userId="d3d767fca6cc6053" providerId="LiveId" clId="{1FFB9763-AFC5-49CF-82B4-CBE0A349AEC5}" dt="2025-10-29T17:47:27.050" v="1" actId="2711"/>
          <ac:spMkLst>
            <pc:docMk/>
            <pc:sldMk cId="1465551221" sldId="259"/>
            <ac:spMk id="5" creationId="{269769FD-A573-9F4B-CA75-F4E8B48509CE}"/>
          </ac:spMkLst>
        </pc:spChg>
        <pc:spChg chg="mod">
          <ac:chgData name="SRIHARI RAMESH" userId="d3d767fca6cc6053" providerId="LiveId" clId="{1FFB9763-AFC5-49CF-82B4-CBE0A349AEC5}" dt="2025-10-29T17:47:21.192" v="0" actId="2711"/>
          <ac:spMkLst>
            <pc:docMk/>
            <pc:sldMk cId="1465551221" sldId="259"/>
            <ac:spMk id="6" creationId="{1EFFC1E1-2B05-1D49-91F8-2DFFA2AC756D}"/>
          </ac:spMkLst>
        </pc:spChg>
      </pc:sldChg>
      <pc:sldChg chg="modSp mod">
        <pc:chgData name="SRIHARI RAMESH" userId="d3d767fca6cc6053" providerId="LiveId" clId="{1FFB9763-AFC5-49CF-82B4-CBE0A349AEC5}" dt="2025-10-29T17:58:20.579" v="24"/>
        <pc:sldMkLst>
          <pc:docMk/>
          <pc:sldMk cId="4276227799" sldId="260"/>
        </pc:sldMkLst>
        <pc:spChg chg="mod">
          <ac:chgData name="SRIHARI RAMESH" userId="d3d767fca6cc6053" providerId="LiveId" clId="{1FFB9763-AFC5-49CF-82B4-CBE0A349AEC5}" dt="2025-10-29T17:58:20.579" v="24"/>
          <ac:spMkLst>
            <pc:docMk/>
            <pc:sldMk cId="4276227799" sldId="260"/>
            <ac:spMk id="9" creationId="{15BE370E-A1B3-D6B7-D07E-C17128FB34A2}"/>
          </ac:spMkLst>
        </pc:spChg>
      </pc:sldChg>
      <pc:sldChg chg="modSp mod">
        <pc:chgData name="SRIHARI RAMESH" userId="d3d767fca6cc6053" providerId="LiveId" clId="{1FFB9763-AFC5-49CF-82B4-CBE0A349AEC5}" dt="2025-10-29T17:58:44.385" v="25" actId="313"/>
        <pc:sldMkLst>
          <pc:docMk/>
          <pc:sldMk cId="4088569999" sldId="267"/>
        </pc:sldMkLst>
        <pc:spChg chg="mod">
          <ac:chgData name="SRIHARI RAMESH" userId="d3d767fca6cc6053" providerId="LiveId" clId="{1FFB9763-AFC5-49CF-82B4-CBE0A349AEC5}" dt="2025-10-29T17:58:44.385" v="25" actId="313"/>
          <ac:spMkLst>
            <pc:docMk/>
            <pc:sldMk cId="4088569999" sldId="267"/>
            <ac:spMk id="5" creationId="{4CEE313A-457F-DC2E-8BA0-CD91096BDB9E}"/>
          </ac:spMkLst>
        </pc:spChg>
      </pc:sldChg>
      <pc:sldChg chg="modSp mod">
        <pc:chgData name="SRIHARI RAMESH" userId="d3d767fca6cc6053" providerId="LiveId" clId="{1FFB9763-AFC5-49CF-82B4-CBE0A349AEC5}" dt="2025-10-29T17:57:26.190" v="19"/>
        <pc:sldMkLst>
          <pc:docMk/>
          <pc:sldMk cId="967661903" sldId="268"/>
        </pc:sldMkLst>
        <pc:spChg chg="mod">
          <ac:chgData name="SRIHARI RAMESH" userId="d3d767fca6cc6053" providerId="LiveId" clId="{1FFB9763-AFC5-49CF-82B4-CBE0A349AEC5}" dt="2025-10-29T17:57:26.190" v="19"/>
          <ac:spMkLst>
            <pc:docMk/>
            <pc:sldMk cId="967661903" sldId="268"/>
            <ac:spMk id="5" creationId="{08D05546-2334-A1E1-E213-064A4F5E318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ext box"/>
          <p:cNvSpPr>
            <a:spLocks noGrp="1"/>
          </p:cNvSpPr>
          <p:nvPr>
            <p:ph type="sldNum" idx="5"/>
          </p:nvPr>
        </p:nvSpPr>
        <p:spPr>
          <a:xfrm>
            <a:off x="5180013" y="6513513"/>
            <a:ext cx="3962400" cy="3444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a:t>
            </a:fld>
            <a:endParaRPr lang="zh-CN" altLang="en-US" sz="1200">
              <a:latin typeface="Calibri" charset="0"/>
              <a:ea typeface="等线" charset="0"/>
              <a:cs typeface="Calibri" charset="0"/>
            </a:endParaRPr>
          </a:p>
        </p:txBody>
      </p:sp>
      <p:sp>
        <p:nvSpPr>
          <p:cNvPr id="8" name="Text box"/>
          <p:cNvSpPr>
            <a:spLocks noGrp="1"/>
          </p:cNvSpPr>
          <p:nvPr>
            <p:ph type="hdr"/>
          </p:nvPr>
        </p:nvSpPr>
        <p:spPr>
          <a:xfrm>
            <a:off x="0" y="0"/>
            <a:ext cx="3962400" cy="344488"/>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Calibri" charset="0"/>
              <a:ea typeface="等线" charset="0"/>
              <a:cs typeface="Calibri" charset="0"/>
            </a:endParaRPr>
          </a:p>
        </p:txBody>
      </p:sp>
      <p:sp>
        <p:nvSpPr>
          <p:cNvPr id="9" name="Text box"/>
          <p:cNvSpPr>
            <a:spLocks noGrp="1"/>
          </p:cNvSpPr>
          <p:nvPr>
            <p:ph type="dt" idx="1"/>
          </p:nvPr>
        </p:nvSpPr>
        <p:spPr>
          <a:xfrm>
            <a:off x="5180013" y="0"/>
            <a:ext cx="3962400" cy="344488"/>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Calibri" charset="0"/>
                <a:ea typeface="等线" charset="0"/>
                <a:cs typeface="Calibri" charset="0"/>
              </a:rPr>
              <a:t>10/29/2025</a:t>
            </a:fld>
            <a:endParaRPr lang="zh-CN" altLang="en-US" sz="1200">
              <a:latin typeface="Calibri" charset="0"/>
              <a:ea typeface="等线" charset="0"/>
              <a:cs typeface="Calibri" charset="0"/>
            </a:endParaRPr>
          </a:p>
        </p:txBody>
      </p:sp>
      <p:sp>
        <p:nvSpPr>
          <p:cNvPr id="10" name="Object"/>
          <p:cNvSpPr>
            <a:spLocks noGrp="1" noRot="1" noChangeAspect="1"/>
          </p:cNvSpPr>
          <p:nvPr>
            <p:ph type="sldImg" idx="2"/>
          </p:nvPr>
        </p:nvSpPr>
        <p:spPr>
          <a:xfrm>
            <a:off x="2514600" y="857250"/>
            <a:ext cx="4114800" cy="2314575"/>
          </a:xfrm>
          <a:prstGeom prst="rect">
            <a:avLst/>
          </a:prstGeom>
          <a:noFill/>
          <a:ln w="12700" cap="flat" cmpd="sng">
            <a:solidFill>
              <a:srgbClr val="000000"/>
            </a:solidFill>
            <a:prstDash val="solid"/>
            <a:round/>
          </a:ln>
        </p:spPr>
        <p:txBody>
          <a:bodyPr/>
          <a:lstStyle/>
          <a:p>
            <a:endParaRPr lang="en-IN"/>
          </a:p>
        </p:txBody>
      </p:sp>
      <p:sp>
        <p:nvSpPr>
          <p:cNvPr id="11" name="Text box"/>
          <p:cNvSpPr>
            <a:spLocks noGrp="1"/>
          </p:cNvSpPr>
          <p:nvPr>
            <p:ph type="body" idx="3"/>
          </p:nvPr>
        </p:nvSpPr>
        <p:spPr>
          <a:xfrm>
            <a:off x="914400" y="3300412"/>
            <a:ext cx="7315200" cy="270033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12" name="Text box"/>
          <p:cNvSpPr>
            <a:spLocks noGrp="1"/>
          </p:cNvSpPr>
          <p:nvPr>
            <p:ph type="ftr" idx="4"/>
          </p:nvPr>
        </p:nvSpPr>
        <p:spPr>
          <a:xfrm>
            <a:off x="0" y="6513513"/>
            <a:ext cx="3962400" cy="3444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165261644"/>
      </p:ext>
    </p:extLst>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txBody>
          <a:bodyPr/>
          <a:lstStyle/>
          <a:p>
            <a:endParaRPr lang="en-IN"/>
          </a:p>
        </p:txBody>
      </p:sp>
      <p:sp>
        <p:nvSpPr>
          <p:cNvPr id="3" name="Text box"/>
          <p:cNvSpPr>
            <a:spLocks noGrp="1"/>
          </p:cNvSpPr>
          <p:nvPr>
            <p:ph type="body" idx="1"/>
          </p:nvPr>
        </p:nvSpPr>
        <p:spPr/>
        <p:txBody>
          <a:bodyPr/>
          <a:lstStyle/>
          <a:p>
            <a:endParaRPr lang="zh-CN" altLang="en-US"/>
          </a:p>
        </p:txBody>
      </p:sp>
      <p:sp>
        <p:nvSpPr>
          <p:cNvPr id="13" name="Text box"/>
          <p:cNvSpPr>
            <a:spLocks noGrp="1"/>
          </p:cNvSpPr>
          <p:nvPr>
            <p:ph type="sldNum" idx="5"/>
          </p:nvPr>
        </p:nvSpPr>
        <p:spPr>
          <a:xfrm>
            <a:off x="5180013" y="6513513"/>
            <a:ext cx="3962400" cy="3444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254519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txBody>
          <a:bodyPr/>
          <a:lstStyle/>
          <a:p>
            <a:endParaRPr lang="en-IN"/>
          </a:p>
        </p:txBody>
      </p:sp>
      <p:sp>
        <p:nvSpPr>
          <p:cNvPr id="3" name="Text box"/>
          <p:cNvSpPr>
            <a:spLocks noGrp="1"/>
          </p:cNvSpPr>
          <p:nvPr>
            <p:ph type="body" idx="1"/>
          </p:nvPr>
        </p:nvSpPr>
        <p:spPr/>
        <p:txBody>
          <a:bodyPr/>
          <a:lstStyle/>
          <a:p>
            <a:endParaRPr lang="zh-CN" altLang="en-US"/>
          </a:p>
        </p:txBody>
      </p:sp>
      <p:sp>
        <p:nvSpPr>
          <p:cNvPr id="13" name="Text box"/>
          <p:cNvSpPr>
            <a:spLocks noGrp="1"/>
          </p:cNvSpPr>
          <p:nvPr>
            <p:ph type="sldNum" idx="5"/>
          </p:nvPr>
        </p:nvSpPr>
        <p:spPr>
          <a:xfrm>
            <a:off x="5180013" y="6513513"/>
            <a:ext cx="3962400" cy="3444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2</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707237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strike="noStrike" kern="1200" cap="none" spc="0" baseline="0" dirty="0">
                <a:solidFill>
                  <a:schemeClr val="tx1"/>
                </a:solidFill>
                <a:effectLst/>
                <a:latin typeface="Calibri" charset="0"/>
                <a:ea typeface="等线" charset="0"/>
                <a:cs typeface="Calibri" charset="0"/>
              </a:rPr>
              <a:t>Endpoint security is critical as sophisticated attacks target individual systems as gateways to larger networks. Traditional solutions suffer from 15-20% false positive rates and lack real-time response. We present an integrated agent combining machine learning detection with automated responses, all mapped to the MITRE ATT&amp;CK framework for standardized classification.</a:t>
            </a:r>
          </a:p>
          <a:p>
            <a:endParaRPr lang="en-IN" dirty="0"/>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1200" cap="none" spc="0" baseline="0" smtClean="0">
                <a:solidFill>
                  <a:schemeClr val="tx1"/>
                </a:solidFill>
                <a:latin typeface="Calibri" charset="0"/>
                <a:ea typeface="等线" charset="0"/>
                <a:cs typeface="Calibri" charset="0"/>
              </a:rPr>
              <a:t>3</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1253710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strike="noStrike" kern="1200" cap="none" spc="0" baseline="0" dirty="0">
                <a:solidFill>
                  <a:schemeClr val="tx1"/>
                </a:solidFill>
                <a:effectLst/>
                <a:latin typeface="Calibri" charset="0"/>
                <a:ea typeface="等线" charset="0"/>
                <a:cs typeface="Calibri" charset="0"/>
              </a:rPr>
              <a:t>Our objectives: develop a modular real-time agent for Windows, implement multi-layer ML-based detection to reduce false positives below 8%, integrate the complete MITRE ATT&amp;CK framework for standardized classification, enable automated sub-2-second responses, and validate performance with minimal system impact.</a:t>
            </a:r>
          </a:p>
          <a:p>
            <a:endParaRPr lang="en-IN" dirty="0"/>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1200" cap="none" spc="0" baseline="0" smtClean="0">
                <a:solidFill>
                  <a:schemeClr val="tx1"/>
                </a:solidFill>
                <a:latin typeface="Calibri" charset="0"/>
                <a:ea typeface="等线" charset="0"/>
                <a:cs typeface="Calibri" charset="0"/>
              </a:rPr>
              <a:t>4</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2590058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strike="noStrike" kern="1200" cap="none" spc="0" baseline="0" dirty="0">
                <a:solidFill>
                  <a:schemeClr val="tx1"/>
                </a:solidFill>
                <a:effectLst/>
                <a:latin typeface="Calibri" charset="0"/>
                <a:ea typeface="等线" charset="0"/>
                <a:cs typeface="Calibri" charset="0"/>
              </a:rPr>
              <a:t>Previous research progressed from signature-based to behavior-based and ML-powered detection. However, challenges persist: high false positives, resource consumption, and limited ATT&amp;CK integration. Most solutions only surface-map to ATT&amp;CK. Our innovation embeds the complete framework—14 tactics, 193 techniques, 401 sub-techniques—as core knowledge, enabling seamless detection-to-remediation with balanced performance.</a:t>
            </a:r>
          </a:p>
          <a:p>
            <a:endParaRPr lang="en-IN" dirty="0"/>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1200" cap="none" spc="0" baseline="0" smtClean="0">
                <a:solidFill>
                  <a:schemeClr val="tx1"/>
                </a:solidFill>
                <a:latin typeface="Calibri" charset="0"/>
                <a:ea typeface="等线" charset="0"/>
                <a:cs typeface="Calibri" charset="0"/>
              </a:rPr>
              <a:t>5</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2773994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u="none" strike="noStrike" kern="1200" cap="none" spc="0" baseline="0" dirty="0">
                <a:solidFill>
                  <a:schemeClr val="tx1"/>
                </a:solidFill>
                <a:effectLst/>
                <a:latin typeface="Calibri" charset="0"/>
                <a:ea typeface="等线" charset="0"/>
                <a:cs typeface="Calibri" charset="0"/>
              </a:rPr>
              <a:t>Our methodology employs a modular architecture with five core components. The Security Analysis Module uses three detection layers: Isolation Forest achieving 92% accuracy, a fine-tuned Llama model trained on complete MITRE ATT&amp;CK reaching 88% accuracy and 92.7% for APT detection, and a risk scoring system with 90.5% accuracy. Our threat detection pipeline processes events in four layers—collection, preprocessing, multi-engine detection, and risk-based response—handling 1000-1500 events per second with sub-2-second latency. We trained on 1 million events mapped to MITRE ATT&amp;CK with 45 extracted features.</a:t>
            </a:r>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1200" cap="none" spc="0" baseline="0" smtClean="0">
                <a:solidFill>
                  <a:schemeClr val="tx1"/>
                </a:solidFill>
                <a:latin typeface="Calibri" charset="0"/>
                <a:ea typeface="等线" charset="0"/>
                <a:cs typeface="Calibri" charset="0"/>
              </a:rPr>
              <a:t>6</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423686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strike="noStrike" kern="1200" cap="none" spc="0" baseline="0" dirty="0">
                <a:solidFill>
                  <a:schemeClr val="tx1"/>
                </a:solidFill>
                <a:effectLst/>
                <a:latin typeface="Calibri" charset="0"/>
                <a:ea typeface="等线" charset="0"/>
                <a:cs typeface="Calibri" charset="0"/>
              </a:rPr>
              <a:t>Our results demonstrate exceptional performance: 99.2% accuracy for known threats, 85.7% for zero-day threats, and 92.3% for advanced fileless malware. We achieved 7.9% false positives—a 4.6% reduction versus baseline. System impact is minimal: 15-25% CPU and 1.2-1.8GB RAM, while processing 1000-1500 events per second with sub-2-second response. Automated responses achieve 97-99% success rates. The Isolation Forest provides optimal balance at 92.1% accuracy with 45-minute training, while our Llama model excels at APT detection with 92.7% accuracy.</a:t>
            </a:r>
          </a:p>
          <a:p>
            <a:endParaRPr lang="en-IN" dirty="0"/>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1200" cap="none" spc="0" baseline="0" smtClean="0">
                <a:solidFill>
                  <a:schemeClr val="tx1"/>
                </a:solidFill>
                <a:latin typeface="Calibri" charset="0"/>
                <a:ea typeface="等线" charset="0"/>
                <a:cs typeface="Calibri" charset="0"/>
              </a:rPr>
              <a:t>7</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2516798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strike="noStrike" kern="1200" cap="none" spc="0" baseline="0" dirty="0">
                <a:solidFill>
                  <a:schemeClr val="tx1"/>
                </a:solidFill>
                <a:effectLst/>
                <a:latin typeface="Calibri" charset="0"/>
                <a:ea typeface="等线" charset="0"/>
                <a:cs typeface="Calibri" charset="0"/>
              </a:rPr>
              <a:t>Future work includes expanding training datasets with emerging threats, enhancing ML algorithms through ensemble methods and deep learning, and improving tactical response mappings for granular MITRE ATT&amp;CK sub-techniques. We'll integrate real-time threat intelligence platforms, extend cross-platform support to Linux, macOS, and mobile devices, optimize resources through edge computing, and target sub-1-minute mean time to remediation through automated playbook execution.</a:t>
            </a:r>
          </a:p>
          <a:p>
            <a:endParaRPr lang="en-IN" dirty="0"/>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1200" cap="none" spc="0" baseline="0" smtClean="0">
                <a:solidFill>
                  <a:schemeClr val="tx1"/>
                </a:solidFill>
                <a:latin typeface="Calibri" charset="0"/>
                <a:ea typeface="等线" charset="0"/>
                <a:cs typeface="Calibri" charset="0"/>
              </a:rPr>
              <a:t>8</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269091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strike="noStrike" kern="1200" cap="none" spc="0" baseline="0" dirty="0">
                <a:solidFill>
                  <a:schemeClr val="tx1"/>
                </a:solidFill>
                <a:effectLst/>
                <a:latin typeface="Calibri" charset="0"/>
                <a:ea typeface="等线" charset="0"/>
                <a:cs typeface="Calibri" charset="0"/>
              </a:rPr>
              <a:t>Our research paper is live on TechRxiv, IEEE's preprint server, and has been submitted to the IEEE Conference at RVIT on November 15th. The work was conducted at Presidency University under the guidance of Dr. Ayesha Taranum, with co-authors Mohammed Usman Hussain and Karthik. We acknowledge IEEE, RVIT, and </a:t>
            </a:r>
            <a:r>
              <a:rPr lang="en-US" sz="1200" b="0" i="0" u="none" strike="noStrike" kern="1200" cap="none" spc="0" baseline="0" dirty="0" err="1">
                <a:solidFill>
                  <a:schemeClr val="tx1"/>
                </a:solidFill>
                <a:effectLst/>
                <a:latin typeface="Calibri" charset="0"/>
                <a:ea typeface="等线" charset="0"/>
                <a:cs typeface="Calibri" charset="0"/>
              </a:rPr>
              <a:t>BrinHack</a:t>
            </a:r>
            <a:r>
              <a:rPr lang="en-US" sz="1200" b="0" i="0" u="none" strike="noStrike" kern="1200" cap="none" spc="0" baseline="0" dirty="0">
                <a:solidFill>
                  <a:schemeClr val="tx1"/>
                </a:solidFill>
                <a:effectLst/>
                <a:latin typeface="Calibri" charset="0"/>
                <a:ea typeface="等线" charset="0"/>
                <a:cs typeface="Calibri" charset="0"/>
              </a:rPr>
              <a:t> 2025 for their support.</a:t>
            </a:r>
          </a:p>
          <a:p>
            <a:endParaRPr lang="en-IN" dirty="0"/>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1200" cap="none" spc="0" baseline="0" smtClean="0">
                <a:solidFill>
                  <a:schemeClr val="tx1"/>
                </a:solidFill>
                <a:latin typeface="Calibri" charset="0"/>
                <a:ea typeface="等线" charset="0"/>
                <a:cs typeface="Calibri" charset="0"/>
              </a:rPr>
              <a:t>9</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2310067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1200" cap="none" spc="0" baseline="0" smtClean="0">
                <a:solidFill>
                  <a:schemeClr val="tx1"/>
                </a:solidFill>
                <a:latin typeface="Calibri" charset="0"/>
                <a:ea typeface="等线" charset="0"/>
                <a:cs typeface="Calibri" charset="0"/>
              </a:rPr>
              <a:t>10</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2316983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926223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349394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51036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880814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a:t>单击此处编辑母版标题样式</a:t>
            </a:r>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463925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093579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37123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2004161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58792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61250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2025/10/29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822890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18" name="Rectangle"/>
          <p:cNvSpPr>
            <a:spLocks/>
          </p:cNvSpPr>
          <p:nvPr/>
        </p:nvSpPr>
        <p:spPr>
          <a:xfrm>
            <a:off x="0" y="5173204"/>
            <a:ext cx="12192000" cy="1684791"/>
          </a:xfrm>
          <a:prstGeom prst="rect">
            <a:avLst/>
          </a:prstGeom>
          <a:blipFill rotWithShape="1">
            <a:blip r:embed="rId2"/>
            <a:stretch/>
          </a:blipFill>
          <a:ln w="12700" cap="flat" cmpd="sng">
            <a:noFill/>
            <a:prstDash val="solid"/>
            <a:miter/>
          </a:ln>
        </p:spPr>
        <p:txBody>
          <a:bodyPr/>
          <a:lstStyle/>
          <a:p>
            <a:endParaRPr lang="en-IN"/>
          </a:p>
        </p:txBody>
      </p:sp>
      <p:sp>
        <p:nvSpPr>
          <p:cNvPr id="14" name="Text box"/>
          <p:cNvSpPr>
            <a:spLocks noGrp="1"/>
          </p:cNvSpPr>
          <p:nvPr>
            <p:ph type="title"/>
          </p:nvPr>
        </p:nvSpPr>
        <p:spPr>
          <a:xfrm>
            <a:off x="943390" y="30606"/>
            <a:ext cx="9955954" cy="43088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endParaRPr lang="zh-CN" altLang="en-US" sz="2800" b="0" i="0">
              <a:solidFill>
                <a:srgbClr val="1F3863"/>
              </a:solidFill>
              <a:latin typeface="Trebuchet MS" charset="0"/>
              <a:cs typeface="Trebuchet MS" charset="0"/>
            </a:endParaRPr>
          </a:p>
        </p:txBody>
      </p:sp>
      <p:sp>
        <p:nvSpPr>
          <p:cNvPr id="15" name="Text box"/>
          <p:cNvSpPr>
            <a:spLocks noGrp="1"/>
          </p:cNvSpPr>
          <p:nvPr>
            <p:ph type="ftr" idx="5"/>
          </p:nvPr>
        </p:nvSpPr>
        <p:spPr>
          <a:xfrm>
            <a:off x="4145279" y="6377940"/>
            <a:ext cx="3901440" cy="27699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latin typeface="Calibri" charset="0"/>
              <a:ea typeface="宋体" charset="0"/>
              <a:cs typeface="Calibri" charset="0"/>
            </a:endParaRPr>
          </a:p>
        </p:txBody>
      </p:sp>
      <p:sp>
        <p:nvSpPr>
          <p:cNvPr id="16" name="Text box"/>
          <p:cNvSpPr>
            <a:spLocks noGrp="1"/>
          </p:cNvSpPr>
          <p:nvPr>
            <p:ph type="dt" idx="6"/>
          </p:nvPr>
        </p:nvSpPr>
        <p:spPr>
          <a:xfrm>
            <a:off x="609600" y="6377940"/>
            <a:ext cx="2804160" cy="27699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l"/>
            <a:r>
              <a:rPr lang="en-US" altLang="zh-CN">
                <a:solidFill>
                  <a:srgbClr val="898989"/>
                </a:solidFill>
                <a:latin typeface="Calibri" charset="0"/>
                <a:ea typeface="宋体" charset="0"/>
                <a:cs typeface="Calibri" charset="0"/>
              </a:rPr>
              <a:t>Date/Time</a:t>
            </a:r>
            <a:endParaRPr lang="zh-CN" altLang="en-US">
              <a:solidFill>
                <a:srgbClr val="898989"/>
              </a:solidFill>
              <a:latin typeface="Calibri" charset="0"/>
              <a:ea typeface="宋体" charset="0"/>
              <a:cs typeface="Calibri" charset="0"/>
            </a:endParaRPr>
          </a:p>
        </p:txBody>
      </p:sp>
      <p:sp>
        <p:nvSpPr>
          <p:cNvPr id="17" name="Text box"/>
          <p:cNvSpPr>
            <a:spLocks noGrp="1"/>
          </p:cNvSpPr>
          <p:nvPr>
            <p:ph type="sldNum" idx="7"/>
          </p:nvPr>
        </p:nvSpPr>
        <p:spPr>
          <a:xfrm>
            <a:off x="11729043" y="6508812"/>
            <a:ext cx="362372" cy="205183"/>
          </a:xfrm>
          <a:prstGeom prst="rect">
            <a:avLst/>
          </a:prstGeom>
          <a:noFill/>
          <a:ln cap="flat" cmpd="sng">
            <a:noFill/>
            <a:prstDash val="solid"/>
            <a:miter/>
          </a:ln>
        </p:spPr>
        <p:txBody>
          <a:bodyPr vert="horz" wrap="square" lIns="0" tIns="0" rIns="0" bIns="0" anchor="t" anchorCtr="0">
            <a:prstTxWarp prst="textNoShape">
              <a:avLst/>
            </a:prstTxWarp>
            <a:spAutoFit/>
          </a:bodyPr>
          <a:lstStyle/>
          <a:p>
            <a:pPr marL="38100" indent="0">
              <a:lnSpc>
                <a:spcPts val="1639"/>
              </a:lnSpc>
            </a:pPr>
            <a:fld id="{CAD2D6BD-DE1B-4B5F-8B41-2702339687B9}" type="slidenum">
              <a:rPr lang="en-US" altLang="zh-CN" sz="1400" b="1" i="0" u="none" strike="noStrike" kern="1200" cap="none" spc="-5" baseline="0">
                <a:solidFill>
                  <a:schemeClr val="tx1"/>
                </a:solidFill>
                <a:latin typeface="Arial" charset="0"/>
                <a:ea typeface="宋体" charset="0"/>
                <a:cs typeface="Arial" charset="0"/>
              </a:rPr>
              <a:t>‹#›</a:t>
            </a:fld>
            <a:endParaRPr lang="zh-CN" altLang="en-US" sz="1400" b="1" i="0" spc="-5">
              <a:solidFill>
                <a:schemeClr val="tx1"/>
              </a:solidFill>
              <a:latin typeface="Arial" charset="0"/>
              <a:ea typeface="宋体" charset="0"/>
              <a:cs typeface="Arial" charset="0"/>
            </a:endParaRPr>
          </a:p>
        </p:txBody>
      </p:sp>
    </p:spTree>
    <p:extLst>
      <p:ext uri="{BB962C8B-B14F-4D97-AF65-F5344CB8AC3E}">
        <p14:creationId xmlns:p14="http://schemas.microsoft.com/office/powerpoint/2010/main" val="1361815804"/>
      </p:ext>
    </p:extLst>
  </p:cSld>
  <p:clrMapOvr>
    <a:masterClrMapping/>
  </p:clrMapOvr>
  <p:hf sldNum="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25" name="Rectangle"/>
          <p:cNvSpPr>
            <a:spLocks/>
          </p:cNvSpPr>
          <p:nvPr/>
        </p:nvSpPr>
        <p:spPr>
          <a:xfrm>
            <a:off x="0" y="5173204"/>
            <a:ext cx="12192000" cy="1684791"/>
          </a:xfrm>
          <a:prstGeom prst="rect">
            <a:avLst/>
          </a:prstGeom>
          <a:blipFill rotWithShape="1">
            <a:blip r:embed="rId2"/>
            <a:stretch/>
          </a:blipFill>
          <a:ln w="12700" cap="flat" cmpd="sng">
            <a:noFill/>
            <a:prstDash val="solid"/>
            <a:miter/>
          </a:ln>
        </p:spPr>
        <p:txBody>
          <a:bodyPr/>
          <a:lstStyle/>
          <a:p>
            <a:endParaRPr lang="en-IN"/>
          </a:p>
        </p:txBody>
      </p:sp>
      <p:sp>
        <p:nvSpPr>
          <p:cNvPr id="20" name="Text box"/>
          <p:cNvSpPr>
            <a:spLocks noGrp="1"/>
          </p:cNvSpPr>
          <p:nvPr>
            <p:ph type="title"/>
          </p:nvPr>
        </p:nvSpPr>
        <p:spPr>
          <a:xfrm>
            <a:off x="943390" y="30606"/>
            <a:ext cx="9955954" cy="430887"/>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2800" b="0" i="0">
              <a:solidFill>
                <a:srgbClr val="1F3863"/>
              </a:solidFill>
              <a:latin typeface="Trebuchet MS" charset="0"/>
              <a:cs typeface="Trebuchet MS" charset="0"/>
            </a:endParaRPr>
          </a:p>
        </p:txBody>
      </p:sp>
      <p:sp>
        <p:nvSpPr>
          <p:cNvPr id="21" name="Text box"/>
          <p:cNvSpPr>
            <a:spLocks noGrp="1"/>
          </p:cNvSpPr>
          <p:nvPr>
            <p:ph type="body" idx="1"/>
          </p:nvPr>
        </p:nvSpPr>
        <p:spPr>
          <a:xfrm>
            <a:off x="1174768" y="1078845"/>
            <a:ext cx="9842465" cy="430886"/>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2800" b="0" i="0">
              <a:solidFill>
                <a:schemeClr val="tx1"/>
              </a:solidFill>
              <a:latin typeface="Caladea" charset="0"/>
              <a:cs typeface="Caladea" charset="0"/>
            </a:endParaRPr>
          </a:p>
        </p:txBody>
      </p:sp>
      <p:sp>
        <p:nvSpPr>
          <p:cNvPr id="22" name="Text box"/>
          <p:cNvSpPr>
            <a:spLocks noGrp="1"/>
          </p:cNvSpPr>
          <p:nvPr>
            <p:ph type="ftr" idx="5"/>
          </p:nvPr>
        </p:nvSpPr>
        <p:spPr>
          <a:xfrm>
            <a:off x="4145279" y="6377940"/>
            <a:ext cx="3901440" cy="27699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latin typeface="Calibri" charset="0"/>
              <a:ea typeface="宋体" charset="0"/>
              <a:cs typeface="Calibri" charset="0"/>
            </a:endParaRPr>
          </a:p>
        </p:txBody>
      </p:sp>
      <p:sp>
        <p:nvSpPr>
          <p:cNvPr id="23" name="Text box"/>
          <p:cNvSpPr>
            <a:spLocks noGrp="1"/>
          </p:cNvSpPr>
          <p:nvPr>
            <p:ph type="dt" idx="6"/>
          </p:nvPr>
        </p:nvSpPr>
        <p:spPr>
          <a:xfrm>
            <a:off x="609600" y="6377940"/>
            <a:ext cx="2804160" cy="27699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l"/>
            <a:r>
              <a:rPr lang="en-US" altLang="zh-CN">
                <a:solidFill>
                  <a:srgbClr val="898989"/>
                </a:solidFill>
                <a:latin typeface="Calibri" charset="0"/>
                <a:ea typeface="宋体" charset="0"/>
                <a:cs typeface="Calibri" charset="0"/>
              </a:rPr>
              <a:t>Date/Time</a:t>
            </a:r>
            <a:endParaRPr lang="zh-CN" altLang="en-US">
              <a:solidFill>
                <a:srgbClr val="898989"/>
              </a:solidFill>
              <a:latin typeface="Calibri" charset="0"/>
              <a:ea typeface="宋体" charset="0"/>
              <a:cs typeface="Calibri" charset="0"/>
            </a:endParaRPr>
          </a:p>
        </p:txBody>
      </p:sp>
      <p:sp>
        <p:nvSpPr>
          <p:cNvPr id="24" name="Text box"/>
          <p:cNvSpPr>
            <a:spLocks noGrp="1"/>
          </p:cNvSpPr>
          <p:nvPr>
            <p:ph type="sldNum" idx="7"/>
          </p:nvPr>
        </p:nvSpPr>
        <p:spPr>
          <a:xfrm>
            <a:off x="11729043" y="6508812"/>
            <a:ext cx="362372" cy="205183"/>
          </a:xfrm>
          <a:prstGeom prst="rect">
            <a:avLst/>
          </a:prstGeom>
          <a:noFill/>
          <a:ln cap="flat" cmpd="sng">
            <a:noFill/>
            <a:prstDash val="solid"/>
            <a:miter/>
          </a:ln>
        </p:spPr>
        <p:txBody>
          <a:bodyPr vert="horz" wrap="square" lIns="0" tIns="0" rIns="0" bIns="0" anchor="t" anchorCtr="0">
            <a:prstTxWarp prst="textNoShape">
              <a:avLst/>
            </a:prstTxWarp>
            <a:spAutoFit/>
          </a:bodyPr>
          <a:lstStyle/>
          <a:p>
            <a:pPr marL="38100" indent="0">
              <a:lnSpc>
                <a:spcPts val="1639"/>
              </a:lnSpc>
            </a:pPr>
            <a:fld id="{CAD2D6BD-DE1B-4B5F-8B41-2702339687B9}" type="slidenum">
              <a:rPr lang="en-US" altLang="zh-CN" sz="1400" b="1" i="0" u="none" strike="noStrike" kern="1200" cap="none" spc="-5" baseline="0">
                <a:solidFill>
                  <a:schemeClr val="tx1"/>
                </a:solidFill>
                <a:latin typeface="Arial" charset="0"/>
                <a:ea typeface="宋体" charset="0"/>
                <a:cs typeface="Arial" charset="0"/>
              </a:rPr>
              <a:t>‹#›</a:t>
            </a:fld>
            <a:endParaRPr lang="zh-CN" altLang="en-US" sz="1400" b="1" i="0" spc="-5">
              <a:solidFill>
                <a:schemeClr val="tx1"/>
              </a:solidFill>
              <a:latin typeface="Arial" charset="0"/>
              <a:ea typeface="宋体" charset="0"/>
              <a:cs typeface="Arial" charset="0"/>
            </a:endParaRPr>
          </a:p>
        </p:txBody>
      </p:sp>
    </p:spTree>
    <p:extLst>
      <p:ext uri="{BB962C8B-B14F-4D97-AF65-F5344CB8AC3E}">
        <p14:creationId xmlns:p14="http://schemas.microsoft.com/office/powerpoint/2010/main" val="1298787276"/>
      </p:ext>
    </p:extLst>
  </p:cSld>
  <p:clrMapOvr>
    <a:masterClrMapping/>
  </p:clrMapOvr>
  <p:hf sldNu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p:cNvSpPr>
            <a:spLocks/>
          </p:cNvSpPr>
          <p:nvPr/>
        </p:nvSpPr>
        <p:spPr>
          <a:xfrm>
            <a:off x="0" y="5173204"/>
            <a:ext cx="12192000" cy="1684791"/>
          </a:xfrm>
          <a:prstGeom prst="rect">
            <a:avLst/>
          </a:prstGeom>
          <a:blipFill rotWithShape="1">
            <a:blip r:embed="rId15"/>
            <a:stretch/>
          </a:blipFill>
          <a:ln w="12700" cap="flat" cmpd="sng">
            <a:noFill/>
            <a:prstDash val="solid"/>
            <a:miter/>
          </a:ln>
        </p:spPr>
        <p:txBody>
          <a:bodyPr/>
          <a:lstStyle/>
          <a:p>
            <a:endParaRPr lang="en-IN"/>
          </a:p>
        </p:txBody>
      </p:sp>
      <p:sp>
        <p:nvSpPr>
          <p:cNvPr id="3" name="Text box"/>
          <p:cNvSpPr>
            <a:spLocks noGrp="1"/>
          </p:cNvSpPr>
          <p:nvPr>
            <p:ph type="title"/>
          </p:nvPr>
        </p:nvSpPr>
        <p:spPr>
          <a:xfrm>
            <a:off x="943390" y="30606"/>
            <a:ext cx="9955954" cy="430887"/>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2800" b="0" i="0">
              <a:solidFill>
                <a:srgbClr val="1F3863"/>
              </a:solidFill>
              <a:latin typeface="Trebuchet MS" charset="0"/>
              <a:cs typeface="Trebuchet MS" charset="0"/>
            </a:endParaRPr>
          </a:p>
        </p:txBody>
      </p:sp>
      <p:sp>
        <p:nvSpPr>
          <p:cNvPr id="4" name="Text box"/>
          <p:cNvSpPr>
            <a:spLocks noGrp="1"/>
          </p:cNvSpPr>
          <p:nvPr>
            <p:ph type="body" idx="1"/>
          </p:nvPr>
        </p:nvSpPr>
        <p:spPr>
          <a:xfrm>
            <a:off x="1174768" y="1078845"/>
            <a:ext cx="9842465" cy="430886"/>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2800" b="0" i="0">
              <a:solidFill>
                <a:schemeClr val="tx1"/>
              </a:solidFill>
              <a:latin typeface="Caladea" charset="0"/>
              <a:cs typeface="Caladea" charset="0"/>
            </a:endParaRPr>
          </a:p>
        </p:txBody>
      </p:sp>
      <p:sp>
        <p:nvSpPr>
          <p:cNvPr id="5" name="Text box"/>
          <p:cNvSpPr>
            <a:spLocks noGrp="1"/>
          </p:cNvSpPr>
          <p:nvPr>
            <p:ph type="ftr" idx="5"/>
          </p:nvPr>
        </p:nvSpPr>
        <p:spPr>
          <a:xfrm>
            <a:off x="4145279" y="6377940"/>
            <a:ext cx="3901440" cy="27699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latin typeface="Calibri" charset="0"/>
              <a:ea typeface="宋体" charset="0"/>
              <a:cs typeface="Calibri" charset="0"/>
            </a:endParaRPr>
          </a:p>
        </p:txBody>
      </p:sp>
      <p:sp>
        <p:nvSpPr>
          <p:cNvPr id="6" name="Text box"/>
          <p:cNvSpPr>
            <a:spLocks noGrp="1"/>
          </p:cNvSpPr>
          <p:nvPr>
            <p:ph type="dt" idx="6"/>
          </p:nvPr>
        </p:nvSpPr>
        <p:spPr>
          <a:xfrm>
            <a:off x="609600" y="6377940"/>
            <a:ext cx="2804160" cy="27699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l"/>
            <a:fld id="{CAD2D6BD-DE1B-4B5F-8B41-2702339687B9}" type="datetime1">
              <a:rPr lang="en-US" altLang="zh-CN">
                <a:solidFill>
                  <a:srgbClr val="898989"/>
                </a:solidFill>
                <a:latin typeface="Calibri" charset="0"/>
                <a:ea typeface="宋体" charset="0"/>
                <a:cs typeface="Calibri" charset="0"/>
              </a:rPr>
              <a:t>10/29/2025</a:t>
            </a:fld>
            <a:endParaRPr lang="zh-CN" altLang="en-US">
              <a:solidFill>
                <a:srgbClr val="898989"/>
              </a:solidFill>
              <a:latin typeface="Calibri" charset="0"/>
              <a:ea typeface="宋体" charset="0"/>
              <a:cs typeface="Calibri" charset="0"/>
            </a:endParaRPr>
          </a:p>
        </p:txBody>
      </p:sp>
      <p:sp>
        <p:nvSpPr>
          <p:cNvPr id="7" name="Text box"/>
          <p:cNvSpPr>
            <a:spLocks noGrp="1"/>
          </p:cNvSpPr>
          <p:nvPr>
            <p:ph type="sldNum" idx="7"/>
          </p:nvPr>
        </p:nvSpPr>
        <p:spPr>
          <a:xfrm>
            <a:off x="11729043" y="6508812"/>
            <a:ext cx="362372" cy="205183"/>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marL="38100" indent="0">
              <a:lnSpc>
                <a:spcPts val="1639"/>
              </a:lnSpc>
            </a:pPr>
            <a:fld id="{CAD2D6BD-DE1B-4B5F-8B41-2702339687B9}" type="slidenum">
              <a:rPr lang="en-US" altLang="zh-CN" sz="1400" b="1" i="0" u="none" strike="noStrike" kern="1200" cap="none" spc="-5" baseline="0">
                <a:solidFill>
                  <a:schemeClr val="tx1"/>
                </a:solidFill>
                <a:latin typeface="Arial" charset="0"/>
                <a:ea typeface="宋体" charset="0"/>
                <a:cs typeface="Arial" charset="0"/>
              </a:rPr>
              <a:t>‹#›</a:t>
            </a:fld>
            <a:endParaRPr lang="zh-CN" altLang="en-US" sz="1400" b="1" i="0" spc="-5">
              <a:solidFill>
                <a:schemeClr val="tx1"/>
              </a:solidFill>
              <a:latin typeface="Arial" charset="0"/>
              <a:ea typeface="宋体" charset="0"/>
              <a:cs typeface="Arial" charset="0"/>
            </a:endParaRPr>
          </a:p>
        </p:txBody>
      </p:sp>
    </p:spTree>
    <p:extLst>
      <p:ext uri="{BB962C8B-B14F-4D97-AF65-F5344CB8AC3E}">
        <p14:creationId xmlns:p14="http://schemas.microsoft.com/office/powerpoint/2010/main" val="1232584336"/>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lvl1pPr defTabSz="914400" fontAlgn="auto" hangingPunct="1">
        <a:buNone/>
        <a:defRPr sz="1800">
          <a:latin typeface="Calibri" charset="0"/>
          <a:ea typeface="宋体" charset="0"/>
          <a:cs typeface="Calibri" charset="0"/>
        </a:defRPr>
      </a:lvl1pPr>
    </p:titleStyle>
    <p:bodyStyle>
      <a:lvl1pPr marL="0" indent="0" defTabSz="914400" fontAlgn="auto" hangingPunct="1">
        <a:buNone/>
        <a:defRPr sz="1800">
          <a:latin typeface="Calibri" charset="0"/>
          <a:ea typeface="宋体" charset="0"/>
          <a:cs typeface="Calibri" charset="0"/>
        </a:defRPr>
      </a:lvl1pPr>
      <a:lvl2pPr marL="457200" indent="0" defTabSz="914400" fontAlgn="auto" hangingPunct="1">
        <a:buNone/>
        <a:defRPr sz="1800">
          <a:latin typeface="Calibri" charset="0"/>
          <a:ea typeface="宋体" charset="0"/>
          <a:cs typeface="Calibri" charset="0"/>
        </a:defRPr>
      </a:lvl2pPr>
      <a:lvl3pPr marL="914400" indent="0" defTabSz="914400" fontAlgn="auto" hangingPunct="1">
        <a:buNone/>
        <a:defRPr sz="1800">
          <a:latin typeface="Calibri" charset="0"/>
          <a:ea typeface="宋体" charset="0"/>
          <a:cs typeface="Calibri" charset="0"/>
        </a:defRPr>
      </a:lvl3pPr>
      <a:lvl4pPr marL="1371600" indent="0" defTabSz="914400" fontAlgn="auto" hangingPunct="1">
        <a:buNone/>
        <a:defRPr sz="1800">
          <a:latin typeface="Calibri" charset="0"/>
          <a:ea typeface="宋体" charset="0"/>
          <a:cs typeface="Calibri" charset="0"/>
        </a:defRPr>
      </a:lvl4pPr>
      <a:lvl5pPr marL="1828800" indent="0" defTabSz="914400" fontAlgn="auto" hangingPunct="1">
        <a:buNone/>
        <a:defRPr sz="1800">
          <a:latin typeface="Calibri" charset="0"/>
          <a:ea typeface="宋体" charset="0"/>
          <a:cs typeface="Calibri" charset="0"/>
        </a:defRPr>
      </a:lvl5pPr>
      <a:lvl6pPr marL="2286000" indent="0" defTabSz="914400" fontAlgn="auto" hangingPunct="1">
        <a:buNone/>
        <a:defRPr sz="1800">
          <a:latin typeface="Calibri" charset="0"/>
          <a:ea typeface="宋体" charset="0"/>
          <a:cs typeface="Calibri" charset="0"/>
        </a:defRPr>
      </a:lvl6pPr>
      <a:lvl7pPr marL="2743200" indent="0" defTabSz="914400" fontAlgn="auto" hangingPunct="1">
        <a:buNone/>
        <a:defRPr sz="1800">
          <a:latin typeface="Calibri" charset="0"/>
          <a:ea typeface="宋体" charset="0"/>
          <a:cs typeface="Calibri" charset="0"/>
        </a:defRPr>
      </a:lvl7pPr>
      <a:lvl8pPr marL="3200400" indent="0" defTabSz="914400" fontAlgn="auto" hangingPunct="1">
        <a:buNone/>
        <a:defRPr sz="1800">
          <a:latin typeface="Calibri" charset="0"/>
          <a:ea typeface="宋体" charset="0"/>
          <a:cs typeface="Calibri" charset="0"/>
        </a:defRPr>
      </a:lvl8pPr>
      <a:lvl9pPr marL="3200400" indent="0" defTabSz="914400" fontAlgn="auto" hangingPunct="1">
        <a:buNone/>
        <a:defRPr sz="1800">
          <a:latin typeface="Calibri" charset="0"/>
          <a:ea typeface="宋体" charset="0"/>
          <a:cs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mailto:sriharir@ieee.org"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hyperlink" Target="https://www.techrxiv.org/users/939373/articles/1314359" TargetMode="External"/><Relationship Id="rId5" Type="http://schemas.openxmlformats.org/officeDocument/2006/relationships/hyperlink" Target="https://linkedin.com/in/srihari-976-r" TargetMode="External"/><Relationship Id="rId4" Type="http://schemas.openxmlformats.org/officeDocument/2006/relationships/hyperlink" Target="https://github.com/srihari-976/W.A.R.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ext box"/>
          <p:cNvSpPr>
            <a:spLocks noGrp="1"/>
          </p:cNvSpPr>
          <p:nvPr>
            <p:ph type="title"/>
          </p:nvPr>
        </p:nvSpPr>
        <p:spPr>
          <a:xfrm>
            <a:off x="952500" y="332570"/>
            <a:ext cx="10287000" cy="5936882"/>
          </a:xfrm>
          <a:prstGeom prst="rect">
            <a:avLst/>
          </a:prstGeom>
          <a:noFill/>
          <a:ln w="12700" cap="flat" cmpd="sng">
            <a:noFill/>
            <a:prstDash val="solid"/>
            <a:miter/>
          </a:ln>
        </p:spPr>
        <p:txBody>
          <a:bodyPr vert="horz" wrap="square" lIns="0" tIns="88265" rIns="0" bIns="0" anchor="t" anchorCtr="0">
            <a:prstTxWarp prst="textNoShape">
              <a:avLst/>
            </a:prstTxWarp>
            <a:spAutoFit/>
          </a:bodyPr>
          <a:lstStyle/>
          <a:p>
            <a:pPr marL="332105" algn="ctr">
              <a:spcBef>
                <a:spcPts val="295"/>
              </a:spcBef>
            </a:pPr>
            <a:r>
              <a:rPr lang="en-US" altLang="zh-CN" sz="2800" b="1" i="0" u="none" strike="noStrike" kern="0" cap="none" spc="0" baseline="0" dirty="0">
                <a:solidFill>
                  <a:srgbClr val="1F3863"/>
                </a:solidFill>
                <a:latin typeface="Times New Roman" pitchFamily="18" charset="0"/>
                <a:ea typeface="Times New Roman" pitchFamily="18" charset="0"/>
                <a:cs typeface="Trebuchet MS" charset="0"/>
              </a:rPr>
              <a:t>PRESIDENCY</a:t>
            </a:r>
            <a:r>
              <a:rPr lang="en-US" altLang="zh-CN" sz="2800" b="1" i="0" u="none" strike="noStrike" kern="0" cap="none" spc="-5" baseline="0" dirty="0">
                <a:solidFill>
                  <a:srgbClr val="1F3863"/>
                </a:solidFill>
                <a:latin typeface="Times New Roman" pitchFamily="18" charset="0"/>
                <a:ea typeface="Times New Roman" pitchFamily="18" charset="0"/>
                <a:cs typeface="Trebuchet MS" charset="0"/>
              </a:rPr>
              <a:t> </a:t>
            </a:r>
            <a:r>
              <a:rPr lang="en-US" altLang="zh-CN" sz="2800" b="1" i="0" u="none" strike="noStrike" kern="0" cap="none" spc="0" baseline="0" dirty="0">
                <a:solidFill>
                  <a:srgbClr val="1F3863"/>
                </a:solidFill>
                <a:latin typeface="Times New Roman" pitchFamily="18" charset="0"/>
                <a:ea typeface="Times New Roman" pitchFamily="18" charset="0"/>
                <a:cs typeface="Trebuchet MS" charset="0"/>
              </a:rPr>
              <a:t>UNIVERSITY</a:t>
            </a:r>
            <a:br>
              <a:rPr lang="zh-CN" altLang="en-US" sz="2800" b="0" i="0" u="none" strike="noStrike" kern="0" cap="none" spc="0" baseline="0" dirty="0">
                <a:solidFill>
                  <a:srgbClr val="1F3863"/>
                </a:solidFill>
                <a:latin typeface="Times New Roman" pitchFamily="18" charset="0"/>
                <a:ea typeface="Times New Roman" pitchFamily="18" charset="0"/>
                <a:cs typeface="Trebuchet MS" charset="0"/>
              </a:rPr>
            </a:br>
            <a:r>
              <a:rPr lang="en-US" altLang="zh-CN" sz="2800" b="1" i="0" u="none" strike="noStrike" kern="0" cap="none" spc="0" baseline="0" dirty="0">
                <a:solidFill>
                  <a:srgbClr val="1F3863"/>
                </a:solidFill>
                <a:latin typeface="Times New Roman" pitchFamily="18" charset="0"/>
                <a:ea typeface="Times New Roman" pitchFamily="18" charset="0"/>
                <a:cs typeface="Trebuchet MS" charset="0"/>
              </a:rPr>
              <a:t>School</a:t>
            </a:r>
            <a:r>
              <a:rPr lang="en-US" altLang="zh-CN" sz="2800" b="1" i="0" u="none" strike="noStrike" kern="0" cap="none" spc="-15" baseline="0" dirty="0">
                <a:solidFill>
                  <a:srgbClr val="1F3863"/>
                </a:solidFill>
                <a:latin typeface="Times New Roman" pitchFamily="18" charset="0"/>
                <a:ea typeface="Times New Roman" pitchFamily="18" charset="0"/>
                <a:cs typeface="Trebuchet MS" charset="0"/>
              </a:rPr>
              <a:t> </a:t>
            </a:r>
            <a:r>
              <a:rPr lang="en-US" altLang="zh-CN" sz="2800" b="1" i="0" u="none" strike="noStrike" kern="0" cap="none" spc="0" baseline="0" dirty="0">
                <a:solidFill>
                  <a:srgbClr val="1F3863"/>
                </a:solidFill>
                <a:latin typeface="Times New Roman" pitchFamily="18" charset="0"/>
                <a:ea typeface="Times New Roman" pitchFamily="18" charset="0"/>
                <a:cs typeface="Trebuchet MS" charset="0"/>
              </a:rPr>
              <a:t>of Computer Science</a:t>
            </a:r>
            <a:r>
              <a:rPr lang="en-US" altLang="zh-CN" sz="2800" b="1" i="0" u="none" strike="noStrike" kern="0" cap="none" spc="-5" baseline="0" dirty="0">
                <a:solidFill>
                  <a:srgbClr val="1F3863"/>
                </a:solidFill>
                <a:latin typeface="Times New Roman" pitchFamily="18" charset="0"/>
                <a:ea typeface="Times New Roman" pitchFamily="18" charset="0"/>
                <a:cs typeface="Trebuchet MS" charset="0"/>
              </a:rPr>
              <a:t> </a:t>
            </a:r>
            <a:r>
              <a:rPr lang="en-US" altLang="zh-CN" sz="2800" b="1" i="0" u="none" strike="noStrike" kern="0" cap="none" spc="0" baseline="0" dirty="0">
                <a:solidFill>
                  <a:srgbClr val="1F3863"/>
                </a:solidFill>
                <a:latin typeface="Times New Roman" pitchFamily="18" charset="0"/>
                <a:ea typeface="Times New Roman" pitchFamily="18" charset="0"/>
                <a:cs typeface="Trebuchet MS" charset="0"/>
              </a:rPr>
              <a:t>and Engineering and School of Information Science</a:t>
            </a:r>
            <a:br>
              <a:rPr lang="zh-CN" altLang="en-US" sz="2800" b="1" i="0" u="none" strike="noStrike" kern="0" cap="none" spc="0" baseline="0" dirty="0">
                <a:solidFill>
                  <a:srgbClr val="1F3863"/>
                </a:solidFill>
                <a:latin typeface="Times New Roman" pitchFamily="18" charset="0"/>
                <a:ea typeface="Times New Roman" pitchFamily="18" charset="0"/>
                <a:cs typeface="Trebuchet MS" charset="0"/>
              </a:rPr>
            </a:br>
            <a:r>
              <a:rPr lang="en-US" altLang="zh-CN" sz="2800" b="1" i="0" u="none" strike="noStrike" kern="0" cap="none" spc="0" baseline="0" dirty="0">
                <a:solidFill>
                  <a:srgbClr val="1F3863"/>
                </a:solidFill>
                <a:latin typeface="Times New Roman" pitchFamily="18" charset="0"/>
                <a:ea typeface="Times New Roman" pitchFamily="18" charset="0"/>
                <a:cs typeface="Trebuchet MS" charset="0"/>
              </a:rPr>
              <a:t>IEEE – TECH WEEK -2025 </a:t>
            </a:r>
            <a:br>
              <a:rPr lang="zh-CN" altLang="en-US" sz="2800" b="1" i="0" u="none" strike="noStrike" kern="0" cap="none" spc="0" baseline="0" dirty="0">
                <a:solidFill>
                  <a:srgbClr val="1F3863"/>
                </a:solidFill>
                <a:latin typeface="Times New Roman" pitchFamily="18" charset="0"/>
                <a:ea typeface="Times New Roman" pitchFamily="18" charset="0"/>
                <a:cs typeface="Trebuchet MS" charset="0"/>
              </a:rPr>
            </a:br>
            <a:r>
              <a:rPr lang="en-US" altLang="zh-CN" sz="2800" b="1" i="0" u="none" strike="noStrike" kern="0" cap="none" spc="0" baseline="0" dirty="0">
                <a:solidFill>
                  <a:srgbClr val="1F3863"/>
                </a:solidFill>
                <a:latin typeface="Times New Roman" pitchFamily="18" charset="0"/>
                <a:ea typeface="Times New Roman" pitchFamily="18" charset="0"/>
                <a:cs typeface="Trebuchet MS" charset="0"/>
              </a:rPr>
              <a:t>DAY- 4 - Project Presentation</a:t>
            </a:r>
            <a:br>
              <a:rPr lang="zh-CN" altLang="en-US" sz="2800" b="1" i="0" u="none" strike="noStrike" kern="0" cap="none" spc="0" baseline="0" dirty="0">
                <a:solidFill>
                  <a:srgbClr val="1F3863"/>
                </a:solidFill>
                <a:latin typeface="Times New Roman" pitchFamily="18" charset="0"/>
                <a:ea typeface="Times New Roman" pitchFamily="18" charset="0"/>
                <a:cs typeface="Trebuchet MS" charset="0"/>
              </a:rPr>
            </a:br>
            <a:r>
              <a:rPr lang="en-US" altLang="zh-CN" sz="2800" b="1" i="0" u="none" strike="noStrike" kern="0" cap="none" spc="0" baseline="0" dirty="0">
                <a:solidFill>
                  <a:srgbClr val="1F3863"/>
                </a:solidFill>
                <a:latin typeface="Times New Roman" pitchFamily="18" charset="0"/>
                <a:ea typeface="Times New Roman" pitchFamily="18" charset="0"/>
                <a:cs typeface="Trebuchet MS" charset="0"/>
              </a:rPr>
              <a:t>on</a:t>
            </a:r>
            <a:br>
              <a:rPr lang="zh-CN" altLang="en-US" sz="2800" b="1" i="0" u="none" strike="noStrike" kern="0" cap="none" spc="0" baseline="0" dirty="0">
                <a:solidFill>
                  <a:srgbClr val="1F3863"/>
                </a:solidFill>
                <a:latin typeface="Times New Roman" pitchFamily="18" charset="0"/>
                <a:ea typeface="Times New Roman" pitchFamily="18" charset="0"/>
                <a:cs typeface="Trebuchet MS" charset="0"/>
              </a:rPr>
            </a:br>
            <a:r>
              <a:rPr lang="en-US" sz="3200" dirty="0"/>
              <a:t>Endpoint Security Agent: A Comprehensive Approach to Real-Time System Monitoring and Threat Detection</a:t>
            </a:r>
            <a:br>
              <a:rPr lang="en-US" dirty="0"/>
            </a:br>
            <a:r>
              <a:rPr lang="en-US" altLang="zh-CN" sz="2800" b="1" i="1" u="none" strike="noStrike" kern="0" cap="none" spc="0" baseline="0" dirty="0">
                <a:solidFill>
                  <a:srgbClr val="FF0000"/>
                </a:solidFill>
                <a:latin typeface="Times New Roman" pitchFamily="18" charset="0"/>
                <a:ea typeface="Times New Roman" pitchFamily="18" charset="0"/>
                <a:cs typeface="Trebuchet MS" charset="0"/>
              </a:rPr>
              <a:t> </a:t>
            </a:r>
            <a:br>
              <a:rPr lang="zh-CN" altLang="en-US" sz="2800" b="1" i="0" u="none" strike="noStrike" kern="0" cap="none" spc="0" baseline="0" dirty="0">
                <a:solidFill>
                  <a:srgbClr val="1F3863"/>
                </a:solidFill>
                <a:latin typeface="Times New Roman" pitchFamily="18" charset="0"/>
                <a:ea typeface="Times New Roman" pitchFamily="18" charset="0"/>
                <a:cs typeface="Trebuchet MS" charset="0"/>
              </a:rPr>
            </a:br>
            <a:br>
              <a:rPr lang="zh-CN" altLang="en-US" sz="2800" b="1" i="0" u="none" strike="noStrike" kern="0" cap="none" spc="0" baseline="0" dirty="0">
                <a:solidFill>
                  <a:srgbClr val="FF0000"/>
                </a:solidFill>
                <a:latin typeface="Times New Roman" pitchFamily="18" charset="0"/>
                <a:ea typeface="Times New Roman" pitchFamily="18" charset="0"/>
                <a:cs typeface="Trebuchet MS" charset="0"/>
              </a:rPr>
            </a:br>
            <a:r>
              <a:rPr lang="en-US" altLang="zh-CN" sz="2800" b="1" i="0" u="none" strike="noStrike" kern="0" cap="none" spc="0" baseline="0" dirty="0">
                <a:solidFill>
                  <a:srgbClr val="FF0000"/>
                </a:solidFill>
                <a:latin typeface="Times New Roman" pitchFamily="18" charset="0"/>
                <a:ea typeface="Times New Roman" pitchFamily="18" charset="0"/>
                <a:cs typeface="Trebuchet MS" charset="0"/>
              </a:rPr>
              <a:t>						     </a:t>
            </a:r>
            <a:r>
              <a:rPr lang="en-US" altLang="zh-CN" sz="1800" b="1" i="0" u="none" strike="noStrike" kern="0" cap="none" spc="0" baseline="0" dirty="0">
                <a:solidFill>
                  <a:schemeClr val="tx1"/>
                </a:solidFill>
                <a:latin typeface="Times New Roman" pitchFamily="18" charset="0"/>
                <a:ea typeface="Times New Roman" pitchFamily="18" charset="0"/>
                <a:cs typeface="Trebuchet MS" charset="0"/>
              </a:rPr>
              <a:t>Faculty Coordinators :	</a:t>
            </a:r>
            <a:br>
              <a:rPr lang="zh-CN" altLang="en-US" sz="1800" b="1" i="0" u="none" strike="noStrike" kern="0" cap="none" spc="0" baseline="0" dirty="0">
                <a:solidFill>
                  <a:schemeClr val="tx1"/>
                </a:solidFill>
                <a:latin typeface="Times New Roman" pitchFamily="18" charset="0"/>
                <a:ea typeface="Times New Roman" pitchFamily="18" charset="0"/>
                <a:cs typeface="Trebuchet MS" charset="0"/>
              </a:rPr>
            </a:br>
            <a:r>
              <a:rPr lang="en-US" altLang="zh-CN" sz="1800" b="1" i="0" u="none" strike="noStrike" kern="0" cap="none" spc="0" baseline="0" dirty="0">
                <a:solidFill>
                  <a:schemeClr val="tx1"/>
                </a:solidFill>
                <a:latin typeface="Times New Roman" pitchFamily="18" charset="0"/>
                <a:ea typeface="Times New Roman" pitchFamily="18" charset="0"/>
                <a:cs typeface="Trebuchet MS" charset="0"/>
              </a:rPr>
              <a:t>							              </a:t>
            </a:r>
            <a:r>
              <a:rPr lang="en-US" altLang="zh-CN" sz="1800" b="0" i="0" u="none" strike="noStrike" kern="0" cap="none" spc="0" baseline="0" dirty="0">
                <a:solidFill>
                  <a:schemeClr val="tx1"/>
                </a:solidFill>
                <a:latin typeface="Times New Roman" pitchFamily="18" charset="0"/>
                <a:ea typeface="Times New Roman" pitchFamily="18" charset="0"/>
                <a:cs typeface="Trebuchet MS" charset="0"/>
              </a:rPr>
              <a:t>Dr. </a:t>
            </a:r>
            <a:r>
              <a:rPr lang="en-US" altLang="zh-CN" sz="1800" b="0" i="0" u="none" strike="noStrike" kern="0" cap="none" spc="0" baseline="0" dirty="0">
                <a:solidFill>
                  <a:schemeClr val="tx1"/>
                </a:solidFill>
                <a:latin typeface="Times New Roman" pitchFamily="18" charset="0"/>
                <a:ea typeface="宋体" charset="0"/>
                <a:cs typeface="Times New Roman" pitchFamily="18" charset="0"/>
              </a:rPr>
              <a:t>Ayesha Taranum</a:t>
            </a:r>
            <a:br>
              <a:rPr lang="zh-CN" altLang="en-US" sz="1800" b="0" i="0" u="none" strike="noStrike" kern="0" cap="none" spc="0" baseline="0" dirty="0">
                <a:solidFill>
                  <a:schemeClr val="tx1"/>
                </a:solidFill>
                <a:latin typeface="Times New Roman" pitchFamily="18" charset="0"/>
                <a:ea typeface="宋体" charset="0"/>
                <a:cs typeface="Times New Roman" pitchFamily="18" charset="0"/>
              </a:rPr>
            </a:br>
            <a:r>
              <a:rPr lang="en-US" altLang="zh-CN" sz="1800" b="0" i="0" u="none" strike="noStrike" kern="0" cap="none" spc="0" baseline="0" dirty="0">
                <a:solidFill>
                  <a:schemeClr val="tx1"/>
                </a:solidFill>
                <a:latin typeface="Times New Roman" pitchFamily="18" charset="0"/>
                <a:ea typeface="宋体" charset="0"/>
                <a:cs typeface="Times New Roman" pitchFamily="18" charset="0"/>
              </a:rPr>
              <a:t>							                      Ms. Thabassum Khan</a:t>
            </a:r>
            <a:r>
              <a:rPr lang="en-US" altLang="zh-CN" sz="1800" b="1" i="0" u="none" strike="noStrike" kern="0" cap="none" spc="0" baseline="0" dirty="0">
                <a:solidFill>
                  <a:schemeClr val="tx1"/>
                </a:solidFill>
                <a:latin typeface="Times New Roman" pitchFamily="18" charset="0"/>
                <a:ea typeface="Times New Roman" pitchFamily="18" charset="0"/>
                <a:cs typeface="Trebuchet MS" charset="0"/>
              </a:rPr>
              <a:t>	</a:t>
            </a:r>
            <a:r>
              <a:rPr lang="en-US" altLang="zh-CN" sz="2800" b="1" i="0" u="none" strike="noStrike" kern="0" cap="none" spc="0" baseline="0" dirty="0">
                <a:solidFill>
                  <a:srgbClr val="FF0000"/>
                </a:solidFill>
                <a:latin typeface="Times New Roman" pitchFamily="18" charset="0"/>
                <a:ea typeface="Times New Roman" pitchFamily="18" charset="0"/>
                <a:cs typeface="Trebuchet MS" charset="0"/>
              </a:rPr>
              <a:t>	</a:t>
            </a:r>
            <a:endParaRPr lang="zh-CN" altLang="en-US" sz="2800" b="0" i="1" u="none" strike="noStrike" kern="0" cap="none" spc="0" baseline="0" dirty="0">
              <a:solidFill>
                <a:srgbClr val="1F3863"/>
              </a:solidFill>
              <a:latin typeface="Times New Roman" pitchFamily="18" charset="0"/>
              <a:ea typeface="宋体" charset="0"/>
              <a:cs typeface="Trebuchet MS" charset="0"/>
            </a:endParaRPr>
          </a:p>
        </p:txBody>
      </p:sp>
    </p:spTree>
    <p:extLst>
      <p:ext uri="{BB962C8B-B14F-4D97-AF65-F5344CB8AC3E}">
        <p14:creationId xmlns:p14="http://schemas.microsoft.com/office/powerpoint/2010/main" val="942128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Text box"/>
          <p:cNvSpPr>
            <a:spLocks noGrp="1"/>
          </p:cNvSpPr>
          <p:nvPr>
            <p:ph type="title"/>
          </p:nvPr>
        </p:nvSpPr>
        <p:spPr>
          <a:xfrm>
            <a:off x="457200" y="304800"/>
            <a:ext cx="9955954" cy="861774"/>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r>
              <a:rPr lang="en-US" altLang="zh-CN" sz="2800" b="0" i="0" u="none" strike="noStrike" kern="0" cap="none" spc="0" baseline="0">
                <a:solidFill>
                  <a:srgbClr val="1F3863"/>
                </a:solidFill>
                <a:latin typeface="Trebuchet MS" charset="0"/>
                <a:ea typeface="宋体" charset="0"/>
                <a:cs typeface="Trebuchet MS" charset="0"/>
              </a:rPr>
              <a:t>Project Details</a:t>
            </a:r>
            <a:br>
              <a:rPr lang="zh-CN" altLang="en-US" sz="2800" b="0" i="0" u="none" strike="noStrike" kern="0" cap="none" spc="0" baseline="0">
                <a:solidFill>
                  <a:srgbClr val="1F3863"/>
                </a:solidFill>
                <a:latin typeface="Trebuchet MS" charset="0"/>
                <a:ea typeface="宋体" charset="0"/>
                <a:cs typeface="Trebuchet MS" charset="0"/>
              </a:rPr>
            </a:br>
            <a:endParaRPr lang="zh-CN" altLang="en-US" sz="2800" b="0" i="0" u="none" strike="noStrike" kern="0" cap="none" spc="0" baseline="0">
              <a:solidFill>
                <a:srgbClr val="1F3863"/>
              </a:solidFill>
              <a:latin typeface="Trebuchet MS" charset="0"/>
              <a:ea typeface="宋体" charset="0"/>
              <a:cs typeface="Trebuchet MS" charset="0"/>
            </a:endParaRPr>
          </a:p>
        </p:txBody>
      </p:sp>
      <p:sp>
        <p:nvSpPr>
          <p:cNvPr id="27" name="Text box"/>
          <p:cNvSpPr>
            <a:spLocks noGrp="1"/>
          </p:cNvSpPr>
          <p:nvPr>
            <p:ph type="body" idx="1"/>
          </p:nvPr>
        </p:nvSpPr>
        <p:spPr>
          <a:xfrm>
            <a:off x="335200" y="908650"/>
            <a:ext cx="11096209" cy="4154984"/>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r>
              <a:rPr lang="en-US" altLang="zh-CN" sz="2400" b="0" i="0" u="none" strike="noStrike" kern="0" cap="none" spc="0" baseline="0" dirty="0">
                <a:solidFill>
                  <a:schemeClr val="tx1"/>
                </a:solidFill>
                <a:latin typeface="Caladea" charset="0"/>
                <a:ea typeface="宋体" charset="0"/>
                <a:cs typeface="Caladea" charset="0"/>
              </a:rPr>
              <a:t>Project Title: </a:t>
            </a:r>
            <a:r>
              <a:rPr lang="en-US" sz="2400" dirty="0"/>
              <a:t>Endpoint Security Agent: A Comprehensive Approach to Real-Time System Monitoring and Threat Detection</a:t>
            </a:r>
            <a:endParaRPr lang="en-US" dirty="0"/>
          </a:p>
          <a:p>
            <a:pPr marL="0" indent="0" algn="l">
              <a:lnSpc>
                <a:spcPct val="100000"/>
              </a:lnSpc>
              <a:spcBef>
                <a:spcPts val="0"/>
              </a:spcBef>
              <a:spcAft>
                <a:spcPts val="0"/>
              </a:spcAft>
              <a:buNone/>
            </a:pPr>
            <a:endParaRPr lang="en-US" altLang="zh-CN" sz="2400" b="0" i="0" u="none" strike="noStrike" kern="0" cap="none" spc="0" baseline="0" dirty="0">
              <a:solidFill>
                <a:schemeClr val="tx1"/>
              </a:solidFill>
              <a:latin typeface="Caladea" charset="0"/>
              <a:ea typeface="宋体" charset="0"/>
              <a:cs typeface="Caladea" charset="0"/>
            </a:endParaRPr>
          </a:p>
          <a:p>
            <a:pPr marL="0" indent="0" algn="l">
              <a:lnSpc>
                <a:spcPct val="100000"/>
              </a:lnSpc>
              <a:spcBef>
                <a:spcPts val="0"/>
              </a:spcBef>
              <a:spcAft>
                <a:spcPts val="0"/>
              </a:spcAft>
              <a:buNone/>
            </a:pPr>
            <a:r>
              <a:rPr lang="en-US" altLang="zh-CN" sz="2400" b="0" i="0" u="none" strike="noStrike" kern="0" cap="none" spc="0" baseline="0" dirty="0">
                <a:solidFill>
                  <a:schemeClr val="tx1"/>
                </a:solidFill>
                <a:latin typeface="Caladea" charset="0"/>
                <a:ea typeface="宋体" charset="0"/>
                <a:cs typeface="Caladea" charset="0"/>
              </a:rPr>
              <a:t>Team Members:</a:t>
            </a:r>
          </a:p>
          <a:p>
            <a:pPr algn="l"/>
            <a:r>
              <a:rPr lang="en-US" altLang="zh-CN" sz="2400" b="0" i="0" u="none" strike="noStrike" kern="0" cap="none" spc="0" baseline="0" dirty="0">
                <a:solidFill>
                  <a:schemeClr val="tx1"/>
                </a:solidFill>
                <a:latin typeface="Caladea" charset="0"/>
                <a:ea typeface="宋体" charset="0"/>
                <a:cs typeface="Caladea" charset="0"/>
              </a:rPr>
              <a:t>1. </a:t>
            </a:r>
            <a:r>
              <a:rPr lang="en-IN" sz="2400" dirty="0"/>
              <a:t>Srihari R </a:t>
            </a:r>
          </a:p>
          <a:p>
            <a:pPr algn="l"/>
            <a:r>
              <a:rPr lang="en-US" altLang="zh-CN" sz="2400" b="0" i="0" u="none" strike="noStrike" kern="0" cap="none" spc="0" baseline="0" dirty="0">
                <a:solidFill>
                  <a:schemeClr val="tx1"/>
                </a:solidFill>
                <a:latin typeface="Caladea" charset="0"/>
                <a:ea typeface="宋体" charset="0"/>
                <a:cs typeface="Caladea" charset="0"/>
              </a:rPr>
              <a:t>2. </a:t>
            </a:r>
            <a:r>
              <a:rPr lang="en-IN" sz="2400" dirty="0"/>
              <a:t>Mohammed Usman Hussain</a:t>
            </a:r>
            <a:endParaRPr lang="en-US" altLang="zh-CN" sz="2400" b="0" i="0" u="none" strike="noStrike" kern="0" cap="none" spc="0" baseline="0" dirty="0">
              <a:solidFill>
                <a:schemeClr val="tx1"/>
              </a:solidFill>
              <a:latin typeface="Caladea" charset="0"/>
              <a:ea typeface="宋体" charset="0"/>
              <a:cs typeface="Caladea" charset="0"/>
            </a:endParaRPr>
          </a:p>
          <a:p>
            <a:pPr algn="l"/>
            <a:r>
              <a:rPr lang="en-US" altLang="zh-CN" sz="2400" b="0" i="0" u="none" strike="noStrike" kern="0" cap="none" spc="0" baseline="0" dirty="0">
                <a:solidFill>
                  <a:schemeClr val="tx1"/>
                </a:solidFill>
                <a:latin typeface="Caladea" charset="0"/>
                <a:ea typeface="宋体" charset="0"/>
                <a:cs typeface="Caladea" charset="0"/>
              </a:rPr>
              <a:t>3. </a:t>
            </a:r>
            <a:r>
              <a:rPr lang="en-IN" sz="2400" dirty="0"/>
              <a:t>Karthik</a:t>
            </a:r>
            <a:endParaRPr lang="en-US" altLang="zh-CN" sz="2400" b="0" i="0" u="none" strike="noStrike" kern="0" cap="none" spc="0" baseline="0" dirty="0">
              <a:solidFill>
                <a:schemeClr val="tx1"/>
              </a:solidFill>
              <a:latin typeface="Caladea" charset="0"/>
              <a:ea typeface="宋体" charset="0"/>
              <a:cs typeface="Caladea" charset="0"/>
            </a:endParaRPr>
          </a:p>
          <a:p>
            <a:pPr marL="0" indent="0" algn="l">
              <a:lnSpc>
                <a:spcPct val="100000"/>
              </a:lnSpc>
              <a:spcBef>
                <a:spcPts val="0"/>
              </a:spcBef>
              <a:spcAft>
                <a:spcPts val="0"/>
              </a:spcAft>
              <a:buNone/>
            </a:pPr>
            <a:endParaRPr lang="en-US" altLang="zh-CN" sz="2400" b="0" i="0" u="none" strike="noStrike" kern="0" cap="none" spc="0" baseline="0" dirty="0">
              <a:solidFill>
                <a:schemeClr val="tx1"/>
              </a:solidFill>
              <a:latin typeface="Caladea" charset="0"/>
              <a:ea typeface="宋体" charset="0"/>
              <a:cs typeface="Caladea" charset="0"/>
            </a:endParaRPr>
          </a:p>
          <a:p>
            <a:pPr marL="0" indent="0" algn="l">
              <a:lnSpc>
                <a:spcPct val="100000"/>
              </a:lnSpc>
              <a:spcBef>
                <a:spcPts val="0"/>
              </a:spcBef>
              <a:spcAft>
                <a:spcPts val="0"/>
              </a:spcAft>
              <a:buNone/>
            </a:pPr>
            <a:r>
              <a:rPr lang="en-US" altLang="zh-CN" sz="2400" b="0" i="0" u="none" strike="noStrike" kern="0" cap="none" spc="0" baseline="0" dirty="0">
                <a:solidFill>
                  <a:schemeClr val="tx1"/>
                </a:solidFill>
                <a:latin typeface="Caladea" charset="0"/>
                <a:ea typeface="宋体" charset="0"/>
                <a:cs typeface="Caladea" charset="0"/>
              </a:rPr>
              <a:t>Date of Presentation: 30 / 10  / 2025</a:t>
            </a:r>
          </a:p>
          <a:p>
            <a:pPr marL="0" indent="0" algn="l">
              <a:lnSpc>
                <a:spcPct val="100000"/>
              </a:lnSpc>
              <a:spcBef>
                <a:spcPts val="0"/>
              </a:spcBef>
              <a:spcAft>
                <a:spcPts val="0"/>
              </a:spcAft>
              <a:buNone/>
            </a:pPr>
            <a:endParaRPr lang="en-US" altLang="zh-CN" sz="2400" b="0" i="0" u="none" strike="noStrike" kern="0" cap="none" spc="0" baseline="0" dirty="0">
              <a:solidFill>
                <a:schemeClr val="tx1"/>
              </a:solidFill>
              <a:latin typeface="Caladea" charset="0"/>
              <a:ea typeface="宋体" charset="0"/>
              <a:cs typeface="Caladea" charset="0"/>
            </a:endParaRPr>
          </a:p>
          <a:p>
            <a:pPr algn="l"/>
            <a:r>
              <a:rPr lang="en-US" altLang="zh-CN" sz="2400" b="0" i="0" u="none" strike="noStrike" kern="0" cap="none" spc="0" baseline="0" dirty="0">
                <a:solidFill>
                  <a:schemeClr val="tx1"/>
                </a:solidFill>
                <a:latin typeface="Caladea" charset="0"/>
                <a:ea typeface="宋体" charset="0"/>
                <a:cs typeface="Caladea" charset="0"/>
              </a:rPr>
              <a:t>Name of the Guide/ Supervisor : </a:t>
            </a:r>
            <a:r>
              <a:rPr lang="en-IN" sz="2400" dirty="0"/>
              <a:t>Dr. Ayesha Taranum</a:t>
            </a:r>
            <a:endParaRPr lang="en-IN" dirty="0"/>
          </a:p>
        </p:txBody>
      </p:sp>
    </p:spTree>
    <p:extLst>
      <p:ext uri="{BB962C8B-B14F-4D97-AF65-F5344CB8AC3E}">
        <p14:creationId xmlns:p14="http://schemas.microsoft.com/office/powerpoint/2010/main" val="1567277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4157C-4E7F-952D-C8BF-F9FB2B009722}"/>
              </a:ext>
            </a:extLst>
          </p:cNvPr>
          <p:cNvSpPr>
            <a:spLocks noGrp="1"/>
          </p:cNvSpPr>
          <p:nvPr>
            <p:ph type="title"/>
          </p:nvPr>
        </p:nvSpPr>
        <p:spPr>
          <a:xfrm>
            <a:off x="312486" y="1166842"/>
            <a:ext cx="5783514" cy="4524315"/>
          </a:xfrm>
        </p:spPr>
        <p:txBody>
          <a:bodyPr/>
          <a:lstStyle/>
          <a:p>
            <a:r>
              <a:rPr lang="en-US" b="1" dirty="0"/>
              <a:t>❖  Current Threat Landscape</a:t>
            </a:r>
            <a:br>
              <a:rPr lang="en-US" b="1" dirty="0"/>
            </a:br>
            <a:r>
              <a:rPr lang="en-US" b="1" dirty="0"/>
              <a:t>➣  </a:t>
            </a:r>
            <a:r>
              <a:rPr lang="en-US" dirty="0"/>
              <a:t>Advanced cyberattacks exploit endpoints as entry points</a:t>
            </a:r>
            <a:br>
              <a:rPr lang="en-US" dirty="0"/>
            </a:br>
            <a:r>
              <a:rPr lang="en-US" dirty="0"/>
              <a:t>➣  Traditional tools lack real-time visibility</a:t>
            </a:r>
            <a:br>
              <a:rPr lang="en-US" dirty="0"/>
            </a:br>
            <a:r>
              <a:rPr lang="en-US" dirty="0"/>
              <a:t>➣  High false positives (15–20%) reduce reliability</a:t>
            </a:r>
            <a:br>
              <a:rPr lang="en-US" dirty="0"/>
            </a:br>
            <a:r>
              <a:rPr lang="en-US" dirty="0"/>
              <a:t>➣  Remote work &amp; cloud adoption expand attack surfaces</a:t>
            </a:r>
            <a:br>
              <a:rPr lang="en-US" dirty="0"/>
            </a:br>
            <a:r>
              <a:rPr lang="en-US" dirty="0"/>
              <a:t>➣  Signature-based detection fails against modern threats</a:t>
            </a:r>
            <a:br>
              <a:rPr lang="en-US" dirty="0"/>
            </a:br>
            <a:br>
              <a:rPr lang="en-US" dirty="0"/>
            </a:br>
            <a:r>
              <a:rPr lang="en-US" dirty="0"/>
              <a:t>❖  </a:t>
            </a:r>
            <a:r>
              <a:rPr lang="en-US" b="1" dirty="0"/>
              <a:t>Research Motivation</a:t>
            </a:r>
            <a:br>
              <a:rPr lang="en-US" b="1" dirty="0"/>
            </a:br>
            <a:r>
              <a:rPr lang="en-US" b="1" dirty="0"/>
              <a:t>➣  </a:t>
            </a:r>
            <a:r>
              <a:rPr lang="en-US" dirty="0"/>
              <a:t>Need for intelligent endpoint protection that:</a:t>
            </a:r>
            <a:br>
              <a:rPr lang="en-US" dirty="0"/>
            </a:br>
            <a:r>
              <a:rPr lang="en-US" dirty="0"/>
              <a:t>➣  Detects known &amp; zero-day threats in real time</a:t>
            </a:r>
            <a:br>
              <a:rPr lang="en-US" dirty="0"/>
            </a:br>
            <a:r>
              <a:rPr lang="en-US" dirty="0"/>
              <a:t>➣  Responds proportionally to risk severity</a:t>
            </a:r>
            <a:br>
              <a:rPr lang="en-US" dirty="0"/>
            </a:br>
            <a:r>
              <a:rPr lang="en-US" dirty="0"/>
              <a:t>➣  Reduces false positives &amp; performance overhead</a:t>
            </a:r>
            <a:br>
              <a:rPr lang="en-US" dirty="0"/>
            </a:br>
            <a:r>
              <a:rPr lang="en-US" dirty="0"/>
              <a:t>➣  Ensures standardized threat classification</a:t>
            </a:r>
          </a:p>
        </p:txBody>
      </p:sp>
      <p:sp>
        <p:nvSpPr>
          <p:cNvPr id="4" name="Date Placeholder 3">
            <a:extLst>
              <a:ext uri="{FF2B5EF4-FFF2-40B4-BE49-F238E27FC236}">
                <a16:creationId xmlns:a16="http://schemas.microsoft.com/office/drawing/2014/main" id="{4AB0B4B9-FC1E-5424-F60F-535B10F63FED}"/>
              </a:ext>
            </a:extLst>
          </p:cNvPr>
          <p:cNvSpPr>
            <a:spLocks noGrp="1"/>
          </p:cNvSpPr>
          <p:nvPr>
            <p:ph type="dt" idx="6"/>
          </p:nvPr>
        </p:nvSpPr>
        <p:spPr/>
        <p:txBody>
          <a:bodyPr/>
          <a:lstStyle/>
          <a:p>
            <a:pPr algn="l"/>
            <a:r>
              <a:rPr lang="en-US" altLang="zh-CN">
                <a:solidFill>
                  <a:srgbClr val="898989"/>
                </a:solidFill>
                <a:latin typeface="Calibri" charset="0"/>
                <a:ea typeface="宋体" charset="0"/>
                <a:cs typeface="Calibri" charset="0"/>
              </a:rPr>
              <a:t>Date/Time</a:t>
            </a:r>
            <a:endParaRPr lang="zh-CN" altLang="en-US">
              <a:solidFill>
                <a:srgbClr val="898989"/>
              </a:solidFill>
              <a:latin typeface="Calibri" charset="0"/>
              <a:ea typeface="宋体" charset="0"/>
              <a:cs typeface="Calibri" charset="0"/>
            </a:endParaRPr>
          </a:p>
        </p:txBody>
      </p:sp>
      <p:sp>
        <p:nvSpPr>
          <p:cNvPr id="5" name="Rectangle 4">
            <a:extLst>
              <a:ext uri="{FF2B5EF4-FFF2-40B4-BE49-F238E27FC236}">
                <a16:creationId xmlns:a16="http://schemas.microsoft.com/office/drawing/2014/main" id="{269769FD-A573-9F4B-CA75-F4E8B48509CE}"/>
              </a:ext>
            </a:extLst>
          </p:cNvPr>
          <p:cNvSpPr/>
          <p:nvPr/>
        </p:nvSpPr>
        <p:spPr>
          <a:xfrm>
            <a:off x="312486" y="621731"/>
            <a:ext cx="4586512" cy="400110"/>
          </a:xfrm>
          <a:prstGeom prst="rect">
            <a:avLst/>
          </a:prstGeom>
          <a:noFill/>
        </p:spPr>
        <p:txBody>
          <a:bodyPr wrap="none" lIns="91440" tIns="45720" rIns="91440" bIns="4572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The Growing Endpoint Security Challenge</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1EFFC1E1-2B05-1D49-91F8-2DFFA2AC756D}"/>
              </a:ext>
            </a:extLst>
          </p:cNvPr>
          <p:cNvSpPr/>
          <p:nvPr/>
        </p:nvSpPr>
        <p:spPr>
          <a:xfrm>
            <a:off x="4652333" y="16730"/>
            <a:ext cx="2202911" cy="461665"/>
          </a:xfrm>
          <a:prstGeom prst="rect">
            <a:avLst/>
          </a:prstGeom>
          <a:noFill/>
        </p:spPr>
        <p:txBody>
          <a:bodyPr wrap="none" lIns="91440" tIns="45720" rIns="91440" bIns="4572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INTRODUCTION</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1F2965A6-0F2C-0966-597D-D2494F491A4B}"/>
              </a:ext>
            </a:extLst>
          </p:cNvPr>
          <p:cNvSpPr txBox="1">
            <a:spLocks/>
          </p:cNvSpPr>
          <p:nvPr/>
        </p:nvSpPr>
        <p:spPr>
          <a:xfrm>
            <a:off x="6607329" y="1394622"/>
            <a:ext cx="5584671" cy="203132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lvl1pPr defTabSz="914400" fontAlgn="auto" hangingPunct="1">
              <a:buNone/>
              <a:defRPr sz="1800">
                <a:latin typeface="Calibri" charset="0"/>
                <a:ea typeface="宋体" charset="0"/>
                <a:cs typeface="Calibri" charset="0"/>
              </a:defRPr>
            </a:lvl1pPr>
          </a:lstStyle>
          <a:p>
            <a:r>
              <a:rPr lang="en-US" b="1" dirty="0"/>
              <a:t>❖  Our Contribution</a:t>
            </a:r>
            <a:br>
              <a:rPr lang="en-US" b="1" dirty="0"/>
            </a:br>
            <a:r>
              <a:rPr lang="en-US" dirty="0"/>
              <a:t>An </a:t>
            </a:r>
            <a:r>
              <a:rPr lang="en-US" b="1" dirty="0"/>
              <a:t>AI-driven endpoint security agent</a:t>
            </a:r>
            <a:r>
              <a:rPr lang="en-US" dirty="0"/>
              <a:t> integrating:</a:t>
            </a:r>
            <a:br>
              <a:rPr lang="en-US" dirty="0"/>
            </a:br>
            <a:r>
              <a:rPr lang="en-US" dirty="0"/>
              <a:t>➣  Real-time monitoring (WMI &amp; ETW)</a:t>
            </a:r>
            <a:br>
              <a:rPr lang="en-US" dirty="0"/>
            </a:br>
            <a:r>
              <a:rPr lang="en-US" dirty="0"/>
              <a:t>➣  ML-based anomaly detection (Isolation Forest, </a:t>
            </a:r>
            <a:r>
              <a:rPr lang="en-US" dirty="0" err="1"/>
              <a:t>LLaMA</a:t>
            </a:r>
            <a:r>
              <a:rPr lang="en-US" dirty="0"/>
              <a:t>)</a:t>
            </a:r>
            <a:br>
              <a:rPr lang="en-US" dirty="0"/>
            </a:br>
            <a:r>
              <a:rPr lang="en-US" dirty="0"/>
              <a:t>➣  Automated threat response</a:t>
            </a:r>
            <a:br>
              <a:rPr lang="en-US" dirty="0"/>
            </a:br>
            <a:r>
              <a:rPr lang="en-US" dirty="0"/>
              <a:t>➣  </a:t>
            </a:r>
            <a:r>
              <a:rPr lang="en-US" b="1" dirty="0"/>
              <a:t>Mapped to MITRE ATT&amp;CK</a:t>
            </a:r>
            <a:r>
              <a:rPr lang="en-US" dirty="0"/>
              <a:t> for standardized intelligence</a:t>
            </a:r>
            <a:endParaRPr lang="en-US" kern="0" dirty="0">
              <a:solidFill>
                <a:sysClr val="windowText" lastClr="000000"/>
              </a:solidFill>
            </a:endParaRPr>
          </a:p>
        </p:txBody>
      </p:sp>
    </p:spTree>
    <p:extLst>
      <p:ext uri="{BB962C8B-B14F-4D97-AF65-F5344CB8AC3E}">
        <p14:creationId xmlns:p14="http://schemas.microsoft.com/office/powerpoint/2010/main" val="1465551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3975-DEAC-916A-6C8E-BC8B6BA34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3C351-284B-FA1E-832E-EF38CD7B188E}"/>
              </a:ext>
            </a:extLst>
          </p:cNvPr>
          <p:cNvSpPr>
            <a:spLocks noGrp="1"/>
          </p:cNvSpPr>
          <p:nvPr>
            <p:ph type="title"/>
          </p:nvPr>
        </p:nvSpPr>
        <p:spPr>
          <a:xfrm>
            <a:off x="839270" y="764630"/>
            <a:ext cx="4936580" cy="3970318"/>
          </a:xfrm>
        </p:spPr>
        <p:txBody>
          <a:bodyPr/>
          <a:lstStyle/>
          <a:p>
            <a:r>
              <a:rPr lang="en-IN" b="1" dirty="0"/>
              <a:t>Primary Research Objectives</a:t>
            </a:r>
            <a:br>
              <a:rPr lang="en-IN" b="1" dirty="0"/>
            </a:br>
            <a:br>
              <a:rPr lang="en-IN" b="1" dirty="0"/>
            </a:br>
            <a:r>
              <a:rPr lang="en-IN" b="1" dirty="0"/>
              <a:t>❖ Modular Real-Time Security Agent</a:t>
            </a:r>
            <a:br>
              <a:rPr lang="en-IN" dirty="0"/>
            </a:br>
            <a:r>
              <a:rPr lang="en-IN" dirty="0"/>
              <a:t>➣ Windows monitoring via WMI &amp; ETW</a:t>
            </a:r>
            <a:br>
              <a:rPr lang="en-IN" dirty="0"/>
            </a:br>
            <a:r>
              <a:rPr lang="en-IN" dirty="0"/>
              <a:t>➣ Lightweight, extensible architecture</a:t>
            </a:r>
            <a:br>
              <a:rPr lang="en-IN" dirty="0"/>
            </a:br>
            <a:br>
              <a:rPr lang="en-IN" dirty="0"/>
            </a:br>
            <a:r>
              <a:rPr lang="en-IN" dirty="0"/>
              <a:t>❖ </a:t>
            </a:r>
            <a:r>
              <a:rPr lang="en-IN" b="1" dirty="0"/>
              <a:t>Multi-Layer Threat Detection</a:t>
            </a:r>
            <a:br>
              <a:rPr lang="en-IN" dirty="0"/>
            </a:br>
            <a:r>
              <a:rPr lang="en-IN" dirty="0"/>
              <a:t>➣ ML-based anomaly detection (Isolation Forest)</a:t>
            </a:r>
            <a:br>
              <a:rPr lang="en-IN" dirty="0"/>
            </a:br>
            <a:r>
              <a:rPr lang="en-IN" dirty="0"/>
              <a:t>➣ Fine-tuned LLaMA on MITRE ATT&amp;CK</a:t>
            </a:r>
            <a:br>
              <a:rPr lang="en-IN" dirty="0"/>
            </a:br>
            <a:r>
              <a:rPr lang="en-IN" dirty="0"/>
              <a:t>➣ Behavioural + signature-based analysis</a:t>
            </a:r>
            <a:br>
              <a:rPr lang="en-IN" dirty="0"/>
            </a:br>
            <a:br>
              <a:rPr lang="en-IN" dirty="0"/>
            </a:br>
            <a:r>
              <a:rPr lang="en-IN" dirty="0"/>
              <a:t>❖ </a:t>
            </a:r>
            <a:r>
              <a:rPr lang="en-IN" b="1" dirty="0"/>
              <a:t>MITRE ATT&amp;CK Integration</a:t>
            </a:r>
            <a:br>
              <a:rPr lang="en-IN" dirty="0"/>
            </a:br>
            <a:r>
              <a:rPr lang="en-IN" dirty="0"/>
              <a:t>➣ Maps to 14 tactics, 193 techniques</a:t>
            </a:r>
            <a:br>
              <a:rPr lang="en-IN" dirty="0"/>
            </a:br>
            <a:r>
              <a:rPr lang="en-IN" dirty="0"/>
              <a:t>➣ Enables standardized, context-aware detection</a:t>
            </a:r>
          </a:p>
        </p:txBody>
      </p:sp>
      <p:sp>
        <p:nvSpPr>
          <p:cNvPr id="5" name="Title 1">
            <a:extLst>
              <a:ext uri="{FF2B5EF4-FFF2-40B4-BE49-F238E27FC236}">
                <a16:creationId xmlns:a16="http://schemas.microsoft.com/office/drawing/2014/main" id="{F04CB675-EC43-0FED-2825-7436ECC8A050}"/>
              </a:ext>
            </a:extLst>
          </p:cNvPr>
          <p:cNvSpPr txBox="1">
            <a:spLocks/>
          </p:cNvSpPr>
          <p:nvPr/>
        </p:nvSpPr>
        <p:spPr>
          <a:xfrm>
            <a:off x="6095999" y="1052670"/>
            <a:ext cx="5538521" cy="203132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lvl1pPr defTabSz="914400" fontAlgn="auto" hangingPunct="1">
              <a:buNone/>
              <a:defRPr sz="1800">
                <a:latin typeface="Calibri" charset="0"/>
                <a:ea typeface="宋体" charset="0"/>
                <a:cs typeface="Calibri" charset="0"/>
              </a:defRPr>
            </a:lvl1pPr>
          </a:lstStyle>
          <a:p>
            <a:r>
              <a:rPr lang="en-IN" b="1" dirty="0"/>
              <a:t>❖ Automated Threat Response</a:t>
            </a:r>
          </a:p>
          <a:p>
            <a:r>
              <a:rPr lang="en-IN" dirty="0"/>
              <a:t>➣ Risk-based actions (IP block, isolation, disable)</a:t>
            </a:r>
          </a:p>
          <a:p>
            <a:r>
              <a:rPr lang="en-IN" dirty="0"/>
              <a:t>➣ &lt;2s latency, centralized alerts &amp; forensics</a:t>
            </a:r>
          </a:p>
          <a:p>
            <a:endParaRPr lang="en-IN" dirty="0"/>
          </a:p>
          <a:p>
            <a:r>
              <a:rPr lang="en-IN" b="1" dirty="0"/>
              <a:t>❖ System Validation</a:t>
            </a:r>
          </a:p>
          <a:p>
            <a:r>
              <a:rPr lang="en-IN" dirty="0"/>
              <a:t>➣ 85% detection accuracy, &lt;8% false positives</a:t>
            </a:r>
          </a:p>
          <a:p>
            <a:r>
              <a:rPr lang="en-IN" dirty="0"/>
              <a:t>➣ &lt;25% CPU, &lt;2GB RAM, real-time (1K–1.5K </a:t>
            </a:r>
            <a:r>
              <a:rPr lang="en-IN" dirty="0" err="1"/>
              <a:t>ev</a:t>
            </a:r>
            <a:r>
              <a:rPr lang="en-IN" dirty="0"/>
              <a:t>/s)</a:t>
            </a:r>
          </a:p>
        </p:txBody>
      </p:sp>
      <p:sp>
        <p:nvSpPr>
          <p:cNvPr id="7" name="TextBox 6">
            <a:extLst>
              <a:ext uri="{FF2B5EF4-FFF2-40B4-BE49-F238E27FC236}">
                <a16:creationId xmlns:a16="http://schemas.microsoft.com/office/drawing/2014/main" id="{919465F9-0508-691E-B55A-10B9BA0A24CD}"/>
              </a:ext>
            </a:extLst>
          </p:cNvPr>
          <p:cNvSpPr txBox="1"/>
          <p:nvPr/>
        </p:nvSpPr>
        <p:spPr>
          <a:xfrm>
            <a:off x="3215600" y="228712"/>
            <a:ext cx="6096000" cy="308226"/>
          </a:xfrm>
          <a:prstGeom prst="rect">
            <a:avLst/>
          </a:prstGeom>
          <a:noFill/>
        </p:spPr>
        <p:txBody>
          <a:bodyPr wrap="square">
            <a:spAutoFit/>
          </a:bodyPr>
          <a:lstStyle/>
          <a:p>
            <a:pPr algn="ctr">
              <a:lnSpc>
                <a:spcPts val="1425"/>
              </a:lnSpc>
              <a:buNone/>
            </a:pPr>
            <a:r>
              <a:rPr lang="en-IN" sz="2400" b="1"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t>OBJECTIVES</a:t>
            </a:r>
            <a:endParaRPr lang="en-IN" sz="2400" b="0"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44051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E4E11-AE68-394E-5996-177A86268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FDC74-ED9F-842E-D71D-B1B4E22B39DC}"/>
              </a:ext>
            </a:extLst>
          </p:cNvPr>
          <p:cNvSpPr>
            <a:spLocks noGrp="1"/>
          </p:cNvSpPr>
          <p:nvPr>
            <p:ph type="title"/>
          </p:nvPr>
        </p:nvSpPr>
        <p:spPr>
          <a:xfrm>
            <a:off x="911280" y="548600"/>
            <a:ext cx="9955954" cy="5078313"/>
          </a:xfrm>
        </p:spPr>
        <p:txBody>
          <a:bodyPr/>
          <a:lstStyle/>
          <a:p>
            <a:r>
              <a:rPr lang="en-US" b="1" dirty="0"/>
              <a:t>Evolution of Endpoint Security Approaches</a:t>
            </a:r>
            <a:br>
              <a:rPr lang="en-US" b="1" dirty="0"/>
            </a:br>
            <a:br>
              <a:rPr lang="en-US" b="1" dirty="0"/>
            </a:br>
            <a:r>
              <a:rPr lang="en-US" b="1" dirty="0"/>
              <a:t>Traditional Methods &amp; Gaps</a:t>
            </a:r>
            <a:br>
              <a:rPr lang="en-US" dirty="0"/>
            </a:br>
            <a:r>
              <a:rPr lang="en-US" dirty="0"/>
              <a:t>➣ </a:t>
            </a:r>
            <a:r>
              <a:rPr lang="en-US" b="1" dirty="0"/>
              <a:t>Signature-Based:</a:t>
            </a:r>
            <a:r>
              <a:rPr lang="en-US" dirty="0"/>
              <a:t> Accurate for known threats but fails on zero-days; high false negatives.</a:t>
            </a:r>
            <a:br>
              <a:rPr lang="en-US" dirty="0"/>
            </a:br>
            <a:r>
              <a:rPr lang="en-US" dirty="0"/>
              <a:t>➣ </a:t>
            </a:r>
            <a:r>
              <a:rPr lang="en-US" b="1" dirty="0"/>
              <a:t>Behavior-Based:</a:t>
            </a:r>
            <a:r>
              <a:rPr lang="en-US" dirty="0"/>
              <a:t> Detects anomalies but prone to false positives without ML tuning.</a:t>
            </a:r>
            <a:br>
              <a:rPr lang="en-US" dirty="0"/>
            </a:br>
            <a:r>
              <a:rPr lang="en-US" dirty="0"/>
              <a:t>➣ </a:t>
            </a:r>
            <a:r>
              <a:rPr lang="en-US" b="1" dirty="0"/>
              <a:t>Machine Learning:</a:t>
            </a:r>
            <a:r>
              <a:rPr lang="en-US" dirty="0"/>
              <a:t> Improves unseen threat detection; needs large labeled datasets.</a:t>
            </a:r>
            <a:br>
              <a:rPr lang="en-US" dirty="0"/>
            </a:br>
            <a:r>
              <a:rPr lang="en-US" dirty="0"/>
              <a:t>➣ </a:t>
            </a:r>
            <a:r>
              <a:rPr lang="en-US" b="1" dirty="0"/>
              <a:t>Real-Time Monitoring:</a:t>
            </a:r>
            <a:r>
              <a:rPr lang="en-US" dirty="0"/>
              <a:t> Continuous analysis; resource-intensive at scale.</a:t>
            </a:r>
            <a:br>
              <a:rPr lang="en-US" dirty="0"/>
            </a:br>
            <a:r>
              <a:rPr lang="en-US" dirty="0"/>
              <a:t>➣ </a:t>
            </a:r>
            <a:r>
              <a:rPr lang="en-US" b="1" dirty="0"/>
              <a:t>Integrated Models:</a:t>
            </a:r>
            <a:r>
              <a:rPr lang="en-US" dirty="0"/>
              <a:t> Multi-layer protection; efficiency trade-offs.</a:t>
            </a:r>
            <a:br>
              <a:rPr lang="en-US" dirty="0"/>
            </a:br>
            <a:r>
              <a:rPr lang="en-US" dirty="0"/>
              <a:t>➣ </a:t>
            </a:r>
            <a:r>
              <a:rPr lang="en-US" b="1" dirty="0"/>
              <a:t>MITRE ATT&amp;CK Use:</a:t>
            </a:r>
            <a:r>
              <a:rPr lang="en-US" dirty="0"/>
              <a:t> Standardized taxonomy; limited, manual integrations.</a:t>
            </a:r>
            <a:br>
              <a:rPr lang="en-US" dirty="0"/>
            </a:br>
            <a:br>
              <a:rPr lang="en-US" dirty="0"/>
            </a:br>
            <a:r>
              <a:rPr lang="en-US" b="1" dirty="0"/>
              <a:t>Persistent Limitations</a:t>
            </a:r>
            <a:br>
              <a:rPr lang="en-US" dirty="0"/>
            </a:br>
            <a:r>
              <a:rPr lang="en-US" dirty="0"/>
              <a:t>⚠️ High false positives ⚠️ Heavy resource use ⚠️ Weak zero-day defense ⚠️ Shallow ATT&amp;CK mapping</a:t>
            </a:r>
            <a:br>
              <a:rPr lang="en-US" dirty="0"/>
            </a:br>
            <a:br>
              <a:rPr lang="en-US" dirty="0"/>
            </a:br>
            <a:r>
              <a:rPr lang="en-US" b="1" dirty="0"/>
              <a:t>Our Innovation</a:t>
            </a:r>
            <a:br>
              <a:rPr lang="en-US" dirty="0"/>
            </a:br>
            <a:r>
              <a:rPr lang="en-US" b="1" dirty="0"/>
              <a:t>→</a:t>
            </a:r>
            <a:r>
              <a:rPr lang="en-US" dirty="0"/>
              <a:t> Full MITRE ATT&amp;CK integration as a </a:t>
            </a:r>
            <a:r>
              <a:rPr lang="en-US" b="1" dirty="0"/>
              <a:t>core intelligence layer</a:t>
            </a:r>
            <a:r>
              <a:rPr lang="en-US" dirty="0"/>
              <a:t>, enabling </a:t>
            </a:r>
            <a:r>
              <a:rPr lang="en-US" b="1" dirty="0"/>
              <a:t>end-to-end detection-to-remediation</a:t>
            </a:r>
            <a:r>
              <a:rPr lang="en-US" dirty="0"/>
              <a:t> with </a:t>
            </a:r>
            <a:r>
              <a:rPr lang="en-US" b="1" dirty="0"/>
              <a:t>high accuracy and balanced efficiency</a:t>
            </a:r>
            <a:r>
              <a:rPr lang="en-US" dirty="0"/>
              <a:t>.</a:t>
            </a:r>
            <a:br>
              <a:rPr lang="en-US" dirty="0"/>
            </a:br>
            <a:endParaRPr lang="en-IN" dirty="0"/>
          </a:p>
        </p:txBody>
      </p:sp>
      <p:sp>
        <p:nvSpPr>
          <p:cNvPr id="5" name="Title 1">
            <a:extLst>
              <a:ext uri="{FF2B5EF4-FFF2-40B4-BE49-F238E27FC236}">
                <a16:creationId xmlns:a16="http://schemas.microsoft.com/office/drawing/2014/main" id="{6425350D-86B2-0C39-EA6E-EA513FC5CE18}"/>
              </a:ext>
            </a:extLst>
          </p:cNvPr>
          <p:cNvSpPr txBox="1">
            <a:spLocks/>
          </p:cNvSpPr>
          <p:nvPr/>
        </p:nvSpPr>
        <p:spPr>
          <a:xfrm>
            <a:off x="1118023" y="148490"/>
            <a:ext cx="9955954" cy="4616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lvl1pPr defTabSz="914400" fontAlgn="auto" hangingPunct="1">
              <a:buNone/>
              <a:defRPr sz="1800">
                <a:latin typeface="Calibri" charset="0"/>
                <a:ea typeface="宋体" charset="0"/>
                <a:cs typeface="Calibri" charset="0"/>
              </a:defRPr>
            </a:lvl1pPr>
          </a:lstStyle>
          <a:p>
            <a:pPr algn="ctr"/>
            <a:r>
              <a:rPr lang="en-IN" sz="2400" b="1" dirty="0"/>
              <a:t>LITERATURE REVIEW / BACKGROUND STUDY</a:t>
            </a:r>
            <a:endParaRPr lang="en-IN" sz="2400" dirty="0"/>
          </a:p>
        </p:txBody>
      </p:sp>
    </p:spTree>
    <p:extLst>
      <p:ext uri="{BB962C8B-B14F-4D97-AF65-F5344CB8AC3E}">
        <p14:creationId xmlns:p14="http://schemas.microsoft.com/office/powerpoint/2010/main" val="2318393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22953-2D9C-3B39-7F99-0E112EDAA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3AE8A-6862-F18F-67B3-4B40AE2E7CC6}"/>
              </a:ext>
            </a:extLst>
          </p:cNvPr>
          <p:cNvSpPr>
            <a:spLocks noGrp="1"/>
          </p:cNvSpPr>
          <p:nvPr>
            <p:ph type="title"/>
          </p:nvPr>
        </p:nvSpPr>
        <p:spPr>
          <a:xfrm>
            <a:off x="479220" y="548600"/>
            <a:ext cx="9955954" cy="4524315"/>
          </a:xfrm>
        </p:spPr>
        <p:txBody>
          <a:bodyPr/>
          <a:lstStyle/>
          <a:p>
            <a:r>
              <a:rPr lang="en-IN" sz="1600" b="1" dirty="0"/>
              <a:t>Comprehensive Multi-Layer Security Architecture</a:t>
            </a:r>
            <a:br>
              <a:rPr lang="en-IN" sz="1600" b="1" dirty="0"/>
            </a:br>
            <a:br>
              <a:rPr lang="en-IN" sz="1600" b="1" dirty="0"/>
            </a:br>
            <a:r>
              <a:rPr lang="en-IN" sz="1600" b="1" dirty="0"/>
              <a:t>Architecture Overview</a:t>
            </a:r>
            <a:br>
              <a:rPr lang="en-IN" sz="1600" dirty="0"/>
            </a:br>
            <a:r>
              <a:rPr lang="en-IN" sz="1600" dirty="0"/>
              <a:t>❖ </a:t>
            </a:r>
            <a:r>
              <a:rPr lang="en-IN" sz="1600" b="1" dirty="0"/>
              <a:t>Monitoring:</a:t>
            </a:r>
            <a:r>
              <a:rPr lang="en-IN" sz="1600" dirty="0"/>
              <a:t> Real-time tracking (processes, network, files, registry) via lightweight OS hooks.</a:t>
            </a:r>
            <a:br>
              <a:rPr lang="en-IN" sz="1600" dirty="0"/>
            </a:br>
            <a:r>
              <a:rPr lang="en-IN" sz="1600" dirty="0"/>
              <a:t>❖ </a:t>
            </a:r>
            <a:r>
              <a:rPr lang="en-IN" sz="1600" b="1" dirty="0"/>
              <a:t>Data Collection:</a:t>
            </a:r>
            <a:r>
              <a:rPr lang="en-IN" sz="1600" dirty="0"/>
              <a:t> Hardware/software configs; low-overhead visibility.</a:t>
            </a:r>
            <a:br>
              <a:rPr lang="en-IN" sz="1600" dirty="0"/>
            </a:br>
            <a:r>
              <a:rPr lang="en-IN" sz="1600" dirty="0"/>
              <a:t>❖ </a:t>
            </a:r>
            <a:r>
              <a:rPr lang="en-IN" sz="1600" b="1" dirty="0"/>
              <a:t>Analysis (3 Layers):</a:t>
            </a:r>
            <a:br>
              <a:rPr lang="en-IN" sz="1600" dirty="0"/>
            </a:br>
            <a:r>
              <a:rPr lang="en-IN" sz="1600" dirty="0"/>
              <a:t>➣ </a:t>
            </a:r>
            <a:r>
              <a:rPr lang="en-IN" sz="1600" i="1" dirty="0"/>
              <a:t>Isolation Forest</a:t>
            </a:r>
            <a:r>
              <a:rPr lang="en-IN" sz="1600" dirty="0"/>
              <a:t> – 92.1% Acc, F1 91.5</a:t>
            </a:r>
            <a:br>
              <a:rPr lang="en-IN" sz="1600" dirty="0"/>
            </a:br>
            <a:r>
              <a:rPr lang="en-IN" sz="1600" dirty="0"/>
              <a:t>➣ </a:t>
            </a:r>
            <a:r>
              <a:rPr lang="en-IN" sz="1600" i="1" dirty="0"/>
              <a:t>Fine-Tuned LLaMA (LoRA)</a:t>
            </a:r>
            <a:r>
              <a:rPr lang="en-IN" sz="1600" dirty="0"/>
              <a:t> – 88.3% Acc, F1 88.2, APT 92.7</a:t>
            </a:r>
            <a:br>
              <a:rPr lang="en-IN" sz="1600" dirty="0"/>
            </a:br>
            <a:r>
              <a:rPr lang="en-IN" sz="1600" dirty="0"/>
              <a:t>➣ </a:t>
            </a:r>
            <a:r>
              <a:rPr lang="en-IN" sz="1600" i="1" dirty="0"/>
              <a:t>Risk Scoring</a:t>
            </a:r>
            <a:r>
              <a:rPr lang="en-IN" sz="1600" dirty="0"/>
              <a:t> – Weighted anomaly + severity + criticality (90.5% Acc)</a:t>
            </a:r>
            <a:br>
              <a:rPr lang="en-IN" sz="1600" dirty="0"/>
            </a:br>
            <a:r>
              <a:rPr lang="en-IN" sz="1600" dirty="0"/>
              <a:t>❖ </a:t>
            </a:r>
            <a:r>
              <a:rPr lang="en-IN" sz="1600" b="1" dirty="0"/>
              <a:t>Response:</a:t>
            </a:r>
            <a:r>
              <a:rPr lang="en-IN" sz="1600" dirty="0"/>
              <a:t> Context-aware MITRE ATT&amp;CK actions (block, isolate, quarantine) &lt; 2 s.</a:t>
            </a:r>
            <a:br>
              <a:rPr lang="en-IN" sz="1600" dirty="0"/>
            </a:br>
            <a:r>
              <a:rPr lang="en-IN" sz="1600" dirty="0"/>
              <a:t>❖ </a:t>
            </a:r>
            <a:r>
              <a:rPr lang="en-IN" sz="1600" b="1" dirty="0"/>
              <a:t>Communication:</a:t>
            </a:r>
            <a:r>
              <a:rPr lang="en-IN" sz="1600" dirty="0"/>
              <a:t> Secure SSL/TLS + HMAC channel integrity.</a:t>
            </a:r>
            <a:br>
              <a:rPr lang="en-IN" sz="1600" dirty="0"/>
            </a:br>
            <a:br>
              <a:rPr lang="en-IN" sz="1600" dirty="0"/>
            </a:br>
            <a:r>
              <a:rPr lang="en-IN" sz="1600" b="1" dirty="0"/>
              <a:t>Threat Detection Pipeline</a:t>
            </a:r>
            <a:br>
              <a:rPr lang="en-IN" sz="1600" dirty="0"/>
            </a:br>
            <a:r>
              <a:rPr lang="en-IN" sz="1600" dirty="0"/>
              <a:t>1️⃣ Event Collection → 2️⃣ Preprocessing → 3️⃣ Parallel Detection → 4️⃣ Risk &amp; Response</a:t>
            </a:r>
            <a:br>
              <a:rPr lang="en-IN" sz="1600" dirty="0"/>
            </a:br>
            <a:r>
              <a:rPr lang="en-IN" sz="1600" i="1" dirty="0"/>
              <a:t>Throughput:</a:t>
            </a:r>
            <a:r>
              <a:rPr lang="en-IN" sz="1600" dirty="0"/>
              <a:t> 1000–1500 events/s </a:t>
            </a:r>
            <a:r>
              <a:rPr lang="en-IN" sz="1600" i="1" dirty="0"/>
              <a:t>Latency:</a:t>
            </a:r>
            <a:r>
              <a:rPr lang="en-IN" sz="1600" dirty="0"/>
              <a:t> &lt; 2 s</a:t>
            </a:r>
            <a:br>
              <a:rPr lang="en-IN" sz="1600" dirty="0"/>
            </a:br>
            <a:br>
              <a:rPr lang="en-IN" sz="1600" dirty="0"/>
            </a:br>
            <a:r>
              <a:rPr lang="en-IN" sz="1600" b="1" dirty="0"/>
              <a:t>Training Data</a:t>
            </a:r>
            <a:br>
              <a:rPr lang="en-IN" sz="1600" dirty="0"/>
            </a:br>
            <a:r>
              <a:rPr lang="en-IN" sz="1600" dirty="0"/>
              <a:t>1 M events | 45 features | Mapped to MITRE ATT&amp;CK | 70/15/15 split</a:t>
            </a:r>
          </a:p>
        </p:txBody>
      </p:sp>
      <p:sp>
        <p:nvSpPr>
          <p:cNvPr id="5" name="Title 1">
            <a:extLst>
              <a:ext uri="{FF2B5EF4-FFF2-40B4-BE49-F238E27FC236}">
                <a16:creationId xmlns:a16="http://schemas.microsoft.com/office/drawing/2014/main" id="{1ECB4E9F-30D2-D757-B7C6-0A113419D676}"/>
              </a:ext>
            </a:extLst>
          </p:cNvPr>
          <p:cNvSpPr txBox="1">
            <a:spLocks/>
          </p:cNvSpPr>
          <p:nvPr/>
        </p:nvSpPr>
        <p:spPr>
          <a:xfrm>
            <a:off x="479220" y="148490"/>
            <a:ext cx="9955954" cy="4616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lvl1pPr defTabSz="914400" fontAlgn="auto" hangingPunct="1">
              <a:buNone/>
              <a:defRPr sz="1800">
                <a:latin typeface="Calibri" charset="0"/>
                <a:ea typeface="宋体" charset="0"/>
                <a:cs typeface="Calibri" charset="0"/>
              </a:defRPr>
            </a:lvl1pPr>
          </a:lstStyle>
          <a:p>
            <a:pPr algn="ctr"/>
            <a:r>
              <a:rPr lang="en-IN" sz="2400" b="1" dirty="0"/>
              <a:t>METHODOLOGY / SYSTEM DESIGN</a:t>
            </a:r>
            <a:endParaRPr lang="en-IN" sz="2400" dirty="0"/>
          </a:p>
        </p:txBody>
      </p:sp>
    </p:spTree>
    <p:extLst>
      <p:ext uri="{BB962C8B-B14F-4D97-AF65-F5344CB8AC3E}">
        <p14:creationId xmlns:p14="http://schemas.microsoft.com/office/powerpoint/2010/main" val="3206570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729AC-1AF0-1C2B-66C2-1C4C365D7098}"/>
            </a:ext>
          </a:extLst>
        </p:cNvPr>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5138D928-86DD-6E43-1B2F-8CE3262B2D9C}"/>
              </a:ext>
            </a:extLst>
          </p:cNvPr>
          <p:cNvGraphicFramePr>
            <a:graphicFrameLocks noGrp="1"/>
          </p:cNvGraphicFramePr>
          <p:nvPr>
            <p:extLst>
              <p:ext uri="{D42A27DB-BD31-4B8C-83A1-F6EECF244321}">
                <p14:modId xmlns:p14="http://schemas.microsoft.com/office/powerpoint/2010/main" val="1452122777"/>
              </p:ext>
            </p:extLst>
          </p:nvPr>
        </p:nvGraphicFramePr>
        <p:xfrm>
          <a:off x="640670" y="1103730"/>
          <a:ext cx="3456484" cy="1562865"/>
        </p:xfrm>
        <a:graphic>
          <a:graphicData uri="http://schemas.openxmlformats.org/drawingml/2006/table">
            <a:tbl>
              <a:tblPr/>
              <a:tblGrid>
                <a:gridCol w="864121">
                  <a:extLst>
                    <a:ext uri="{9D8B030D-6E8A-4147-A177-3AD203B41FA5}">
                      <a16:colId xmlns:a16="http://schemas.microsoft.com/office/drawing/2014/main" val="775485594"/>
                    </a:ext>
                  </a:extLst>
                </a:gridCol>
                <a:gridCol w="864121">
                  <a:extLst>
                    <a:ext uri="{9D8B030D-6E8A-4147-A177-3AD203B41FA5}">
                      <a16:colId xmlns:a16="http://schemas.microsoft.com/office/drawing/2014/main" val="2996011909"/>
                    </a:ext>
                  </a:extLst>
                </a:gridCol>
                <a:gridCol w="864121">
                  <a:extLst>
                    <a:ext uri="{9D8B030D-6E8A-4147-A177-3AD203B41FA5}">
                      <a16:colId xmlns:a16="http://schemas.microsoft.com/office/drawing/2014/main" val="1452768673"/>
                    </a:ext>
                  </a:extLst>
                </a:gridCol>
                <a:gridCol w="864121">
                  <a:extLst>
                    <a:ext uri="{9D8B030D-6E8A-4147-A177-3AD203B41FA5}">
                      <a16:colId xmlns:a16="http://schemas.microsoft.com/office/drawing/2014/main" val="2727554133"/>
                    </a:ext>
                  </a:extLst>
                </a:gridCol>
              </a:tblGrid>
              <a:tr h="265128">
                <a:tc>
                  <a:txBody>
                    <a:bodyPr/>
                    <a:lstStyle/>
                    <a:p>
                      <a:pPr>
                        <a:buNone/>
                      </a:pPr>
                      <a:r>
                        <a:rPr lang="en-IN" sz="1400" b="1" dirty="0"/>
                        <a:t>Category</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Accuracy</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FP</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FN</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3027177"/>
                  </a:ext>
                </a:extLst>
              </a:tr>
              <a:tr h="502353">
                <a:tc>
                  <a:txBody>
                    <a:bodyPr/>
                    <a:lstStyle/>
                    <a:p>
                      <a:pPr>
                        <a:buNone/>
                      </a:pPr>
                      <a:r>
                        <a:rPr lang="en-IN" sz="1400" dirty="0"/>
                        <a:t>Known Threats</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99.2%</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0.8%</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0.7%</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825433"/>
                  </a:ext>
                </a:extLst>
              </a:tr>
              <a:tr h="265128">
                <a:tc>
                  <a:txBody>
                    <a:bodyPr/>
                    <a:lstStyle/>
                    <a:p>
                      <a:pPr>
                        <a:buNone/>
                      </a:pPr>
                      <a:r>
                        <a:rPr lang="en-IN" sz="1400" dirty="0"/>
                        <a:t>Zero-Day</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85.7%</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12.6%</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14.3%</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3207748"/>
                  </a:ext>
                </a:extLst>
              </a:tr>
              <a:tr h="265128">
                <a:tc>
                  <a:txBody>
                    <a:bodyPr/>
                    <a:lstStyle/>
                    <a:p>
                      <a:pPr>
                        <a:buNone/>
                      </a:pPr>
                      <a:r>
                        <a:rPr lang="en-IN" sz="1400"/>
                        <a:t>Fileless</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92.3%</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7.7%</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8.1%</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1393219"/>
                  </a:ext>
                </a:extLst>
              </a:tr>
              <a:tr h="265128">
                <a:tc>
                  <a:txBody>
                    <a:bodyPr/>
                    <a:lstStyle/>
                    <a:p>
                      <a:pPr>
                        <a:buNone/>
                      </a:pPr>
                      <a:r>
                        <a:rPr lang="en-IN" sz="1400" b="1" dirty="0"/>
                        <a:t>Overall</a:t>
                      </a:r>
                      <a:endParaRPr lang="en-IN" sz="1400" dirty="0"/>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92.1%</a:t>
                      </a:r>
                      <a:endParaRPr lang="en-IN" sz="1400" dirty="0"/>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7.9%</a:t>
                      </a:r>
                      <a:endParaRPr lang="en-IN" sz="1400" dirty="0"/>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7.6%</a:t>
                      </a:r>
                      <a:endParaRPr lang="en-IN" sz="1400" dirty="0"/>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3201323"/>
                  </a:ext>
                </a:extLst>
              </a:tr>
            </a:tbl>
          </a:graphicData>
        </a:graphic>
      </p:graphicFrame>
      <p:sp>
        <p:nvSpPr>
          <p:cNvPr id="19" name="Rectangle 10">
            <a:extLst>
              <a:ext uri="{FF2B5EF4-FFF2-40B4-BE49-F238E27FC236}">
                <a16:creationId xmlns:a16="http://schemas.microsoft.com/office/drawing/2014/main" id="{71590868-EF52-15E7-74C6-D48653CD1767}"/>
              </a:ext>
            </a:extLst>
          </p:cNvPr>
          <p:cNvSpPr>
            <a:spLocks noGrp="1" noChangeArrowheads="1"/>
          </p:cNvSpPr>
          <p:nvPr>
            <p:ph type="title"/>
          </p:nvPr>
        </p:nvSpPr>
        <p:spPr bwMode="auto">
          <a:xfrm>
            <a:off x="609600" y="500536"/>
            <a:ext cx="412805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Comprehensive Performance Evaluation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Detection Performance</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FD2D51E4-BAFB-FC86-05C2-FFC2956BB7BB}"/>
              </a:ext>
            </a:extLst>
          </p:cNvPr>
          <p:cNvSpPr txBox="1"/>
          <p:nvPr/>
        </p:nvSpPr>
        <p:spPr>
          <a:xfrm>
            <a:off x="595210" y="2851080"/>
            <a:ext cx="6096000" cy="307777"/>
          </a:xfrm>
          <a:prstGeom prst="rect">
            <a:avLst/>
          </a:prstGeom>
          <a:noFill/>
        </p:spPr>
        <p:txBody>
          <a:bodyPr wrap="square">
            <a:spAutoFit/>
          </a:bodyPr>
          <a:lstStyle/>
          <a:p>
            <a:r>
              <a:rPr lang="en-IN" sz="1400" b="1" dirty="0"/>
              <a:t>System Utilization &amp; Response</a:t>
            </a:r>
          </a:p>
        </p:txBody>
      </p:sp>
      <p:graphicFrame>
        <p:nvGraphicFramePr>
          <p:cNvPr id="24" name="Table 23">
            <a:extLst>
              <a:ext uri="{FF2B5EF4-FFF2-40B4-BE49-F238E27FC236}">
                <a16:creationId xmlns:a16="http://schemas.microsoft.com/office/drawing/2014/main" id="{02D1439E-BE87-52D9-6D00-1E828539CF68}"/>
              </a:ext>
            </a:extLst>
          </p:cNvPr>
          <p:cNvGraphicFramePr>
            <a:graphicFrameLocks noGrp="1"/>
          </p:cNvGraphicFramePr>
          <p:nvPr>
            <p:extLst>
              <p:ext uri="{D42A27DB-BD31-4B8C-83A1-F6EECF244321}">
                <p14:modId xmlns:p14="http://schemas.microsoft.com/office/powerpoint/2010/main" val="2560905592"/>
              </p:ext>
            </p:extLst>
          </p:nvPr>
        </p:nvGraphicFramePr>
        <p:xfrm>
          <a:off x="640670" y="3243833"/>
          <a:ext cx="3412308" cy="2241150"/>
        </p:xfrm>
        <a:graphic>
          <a:graphicData uri="http://schemas.openxmlformats.org/drawingml/2006/table">
            <a:tbl>
              <a:tblPr/>
              <a:tblGrid>
                <a:gridCol w="853077">
                  <a:extLst>
                    <a:ext uri="{9D8B030D-6E8A-4147-A177-3AD203B41FA5}">
                      <a16:colId xmlns:a16="http://schemas.microsoft.com/office/drawing/2014/main" val="3759189421"/>
                    </a:ext>
                  </a:extLst>
                </a:gridCol>
                <a:gridCol w="853077">
                  <a:extLst>
                    <a:ext uri="{9D8B030D-6E8A-4147-A177-3AD203B41FA5}">
                      <a16:colId xmlns:a16="http://schemas.microsoft.com/office/drawing/2014/main" val="3491748579"/>
                    </a:ext>
                  </a:extLst>
                </a:gridCol>
                <a:gridCol w="853077">
                  <a:extLst>
                    <a:ext uri="{9D8B030D-6E8A-4147-A177-3AD203B41FA5}">
                      <a16:colId xmlns:a16="http://schemas.microsoft.com/office/drawing/2014/main" val="320171274"/>
                    </a:ext>
                  </a:extLst>
                </a:gridCol>
                <a:gridCol w="853077">
                  <a:extLst>
                    <a:ext uri="{9D8B030D-6E8A-4147-A177-3AD203B41FA5}">
                      <a16:colId xmlns:a16="http://schemas.microsoft.com/office/drawing/2014/main" val="2957891302"/>
                    </a:ext>
                  </a:extLst>
                </a:gridCol>
              </a:tblGrid>
              <a:tr h="439143">
                <a:tc>
                  <a:txBody>
                    <a:bodyPr/>
                    <a:lstStyle/>
                    <a:p>
                      <a:pPr>
                        <a:buNone/>
                      </a:pPr>
                      <a:r>
                        <a:rPr lang="en-IN" sz="1400" b="1" dirty="0"/>
                        <a:t>Metric</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Result</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Benchmark</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Improvement</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4164514"/>
                  </a:ext>
                </a:extLst>
              </a:tr>
              <a:tr h="439143">
                <a:tc>
                  <a:txBody>
                    <a:bodyPr/>
                    <a:lstStyle/>
                    <a:p>
                      <a:pPr>
                        <a:buNone/>
                      </a:pPr>
                      <a:r>
                        <a:rPr lang="en-IN" sz="1400"/>
                        <a:t>CPU</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15–25%</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20–30%</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+5% better</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2643184"/>
                  </a:ext>
                </a:extLst>
              </a:tr>
              <a:tr h="439143">
                <a:tc>
                  <a:txBody>
                    <a:bodyPr/>
                    <a:lstStyle/>
                    <a:p>
                      <a:pPr>
                        <a:buNone/>
                      </a:pPr>
                      <a:r>
                        <a:rPr lang="en-IN" sz="1400" dirty="0"/>
                        <a:t>Memory</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1.2–1.8 GB</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1.5–2.5 GB</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–0.3 GB</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7058144"/>
                  </a:ext>
                </a:extLst>
              </a:tr>
              <a:tr h="439143">
                <a:tc>
                  <a:txBody>
                    <a:bodyPr/>
                    <a:lstStyle/>
                    <a:p>
                      <a:pPr>
                        <a:buNone/>
                      </a:pPr>
                      <a:r>
                        <a:rPr lang="en-IN" sz="1400"/>
                        <a:t>Events/sec</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1000–1500</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800–1200</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+25%</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2708980"/>
                  </a:ext>
                </a:extLst>
              </a:tr>
              <a:tr h="439143">
                <a:tc>
                  <a:txBody>
                    <a:bodyPr/>
                    <a:lstStyle/>
                    <a:p>
                      <a:pPr>
                        <a:buNone/>
                      </a:pPr>
                      <a:r>
                        <a:rPr lang="en-IN" sz="1400"/>
                        <a:t>Response Time</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&lt;2 s</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&lt;5 s</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2.5× faster</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6508207"/>
                  </a:ext>
                </a:extLst>
              </a:tr>
            </a:tbl>
          </a:graphicData>
        </a:graphic>
      </p:graphicFrame>
      <p:graphicFrame>
        <p:nvGraphicFramePr>
          <p:cNvPr id="25" name="Table 24">
            <a:extLst>
              <a:ext uri="{FF2B5EF4-FFF2-40B4-BE49-F238E27FC236}">
                <a16:creationId xmlns:a16="http://schemas.microsoft.com/office/drawing/2014/main" id="{782D2C0F-1F7B-1A0A-1D39-5BAC5EE5D571}"/>
              </a:ext>
            </a:extLst>
          </p:cNvPr>
          <p:cNvGraphicFramePr>
            <a:graphicFrameLocks noGrp="1"/>
          </p:cNvGraphicFramePr>
          <p:nvPr>
            <p:extLst>
              <p:ext uri="{D42A27DB-BD31-4B8C-83A1-F6EECF244321}">
                <p14:modId xmlns:p14="http://schemas.microsoft.com/office/powerpoint/2010/main" val="639626600"/>
              </p:ext>
            </p:extLst>
          </p:nvPr>
        </p:nvGraphicFramePr>
        <p:xfrm>
          <a:off x="6456050" y="980660"/>
          <a:ext cx="2963592" cy="1982264"/>
        </p:xfrm>
        <a:graphic>
          <a:graphicData uri="http://schemas.openxmlformats.org/drawingml/2006/table">
            <a:tbl>
              <a:tblPr/>
              <a:tblGrid>
                <a:gridCol w="1152160">
                  <a:extLst>
                    <a:ext uri="{9D8B030D-6E8A-4147-A177-3AD203B41FA5}">
                      <a16:colId xmlns:a16="http://schemas.microsoft.com/office/drawing/2014/main" val="2808343693"/>
                    </a:ext>
                  </a:extLst>
                </a:gridCol>
                <a:gridCol w="823568">
                  <a:extLst>
                    <a:ext uri="{9D8B030D-6E8A-4147-A177-3AD203B41FA5}">
                      <a16:colId xmlns:a16="http://schemas.microsoft.com/office/drawing/2014/main" val="2585155516"/>
                    </a:ext>
                  </a:extLst>
                </a:gridCol>
                <a:gridCol w="987864">
                  <a:extLst>
                    <a:ext uri="{9D8B030D-6E8A-4147-A177-3AD203B41FA5}">
                      <a16:colId xmlns:a16="http://schemas.microsoft.com/office/drawing/2014/main" val="2327429909"/>
                    </a:ext>
                  </a:extLst>
                </a:gridCol>
              </a:tblGrid>
              <a:tr h="311538">
                <a:tc>
                  <a:txBody>
                    <a:bodyPr/>
                    <a:lstStyle/>
                    <a:p>
                      <a:pPr>
                        <a:buNone/>
                      </a:pPr>
                      <a:r>
                        <a:rPr lang="en-IN" sz="1400" b="1" dirty="0"/>
                        <a:t>Action</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Success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Time</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6955628"/>
                  </a:ext>
                </a:extLst>
              </a:tr>
              <a:tr h="260478">
                <a:tc>
                  <a:txBody>
                    <a:bodyPr/>
                    <a:lstStyle/>
                    <a:p>
                      <a:pPr>
                        <a:buNone/>
                      </a:pPr>
                      <a:r>
                        <a:rPr lang="en-IN" sz="1400"/>
                        <a:t>IP Block</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98.2%</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1.2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223055"/>
                  </a:ext>
                </a:extLst>
              </a:tr>
              <a:tr h="260478">
                <a:tc>
                  <a:txBody>
                    <a:bodyPr/>
                    <a:lstStyle/>
                    <a:p>
                      <a:pPr>
                        <a:buNone/>
                      </a:pPr>
                      <a:r>
                        <a:rPr lang="en-IN" sz="1400"/>
                        <a:t>Isolation</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97.8%</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2.6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2321183"/>
                  </a:ext>
                </a:extLst>
              </a:tr>
              <a:tr h="260478">
                <a:tc>
                  <a:txBody>
                    <a:bodyPr/>
                    <a:lstStyle/>
                    <a:p>
                      <a:pPr>
                        <a:buNone/>
                      </a:pPr>
                      <a:r>
                        <a:rPr lang="en-IN" sz="1400"/>
                        <a:t>Account Disable</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99.1%</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0.8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3039869"/>
                  </a:ext>
                </a:extLst>
              </a:tr>
              <a:tr h="260478">
                <a:tc>
                  <a:txBody>
                    <a:bodyPr/>
                    <a:lstStyle/>
                    <a:p>
                      <a:pPr>
                        <a:buNone/>
                      </a:pPr>
                      <a:r>
                        <a:rPr lang="en-IN" sz="1400" dirty="0"/>
                        <a:t>Firewall Update</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96.5%</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1.5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9926875"/>
                  </a:ext>
                </a:extLst>
              </a:tr>
              <a:tr h="260478">
                <a:tc>
                  <a:txBody>
                    <a:bodyPr/>
                    <a:lstStyle/>
                    <a:p>
                      <a:pPr>
                        <a:buNone/>
                      </a:pPr>
                      <a:r>
                        <a:rPr lang="en-IN" sz="1400" dirty="0"/>
                        <a:t>Quarantine</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97.3%</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2.1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6046507"/>
                  </a:ext>
                </a:extLst>
              </a:tr>
            </a:tbl>
          </a:graphicData>
        </a:graphic>
      </p:graphicFrame>
      <p:graphicFrame>
        <p:nvGraphicFramePr>
          <p:cNvPr id="26" name="Table 25">
            <a:extLst>
              <a:ext uri="{FF2B5EF4-FFF2-40B4-BE49-F238E27FC236}">
                <a16:creationId xmlns:a16="http://schemas.microsoft.com/office/drawing/2014/main" id="{F04B913C-43C1-1B9D-26BA-B6B8FD2EB45E}"/>
              </a:ext>
            </a:extLst>
          </p:cNvPr>
          <p:cNvGraphicFramePr>
            <a:graphicFrameLocks noGrp="1"/>
          </p:cNvGraphicFramePr>
          <p:nvPr>
            <p:extLst>
              <p:ext uri="{D42A27DB-BD31-4B8C-83A1-F6EECF244321}">
                <p14:modId xmlns:p14="http://schemas.microsoft.com/office/powerpoint/2010/main" val="1189766267"/>
              </p:ext>
            </p:extLst>
          </p:nvPr>
        </p:nvGraphicFramePr>
        <p:xfrm>
          <a:off x="6456050" y="3496710"/>
          <a:ext cx="5400752" cy="2229585"/>
        </p:xfrm>
        <a:graphic>
          <a:graphicData uri="http://schemas.openxmlformats.org/drawingml/2006/table">
            <a:tbl>
              <a:tblPr/>
              <a:tblGrid>
                <a:gridCol w="1350188">
                  <a:extLst>
                    <a:ext uri="{9D8B030D-6E8A-4147-A177-3AD203B41FA5}">
                      <a16:colId xmlns:a16="http://schemas.microsoft.com/office/drawing/2014/main" val="515897446"/>
                    </a:ext>
                  </a:extLst>
                </a:gridCol>
                <a:gridCol w="1350188">
                  <a:extLst>
                    <a:ext uri="{9D8B030D-6E8A-4147-A177-3AD203B41FA5}">
                      <a16:colId xmlns:a16="http://schemas.microsoft.com/office/drawing/2014/main" val="2613226678"/>
                    </a:ext>
                  </a:extLst>
                </a:gridCol>
                <a:gridCol w="1350188">
                  <a:extLst>
                    <a:ext uri="{9D8B030D-6E8A-4147-A177-3AD203B41FA5}">
                      <a16:colId xmlns:a16="http://schemas.microsoft.com/office/drawing/2014/main" val="1584560482"/>
                    </a:ext>
                  </a:extLst>
                </a:gridCol>
                <a:gridCol w="1350188">
                  <a:extLst>
                    <a:ext uri="{9D8B030D-6E8A-4147-A177-3AD203B41FA5}">
                      <a16:colId xmlns:a16="http://schemas.microsoft.com/office/drawing/2014/main" val="232962024"/>
                    </a:ext>
                  </a:extLst>
                </a:gridCol>
              </a:tblGrid>
              <a:tr h="240455">
                <a:tc>
                  <a:txBody>
                    <a:bodyPr/>
                    <a:lstStyle/>
                    <a:p>
                      <a:pPr>
                        <a:buNone/>
                      </a:pPr>
                      <a:r>
                        <a:rPr lang="en-IN" sz="1400"/>
                        <a:t>Model</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Acc.</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F1</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Time</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5245224"/>
                  </a:ext>
                </a:extLst>
              </a:tr>
              <a:tr h="483945">
                <a:tc>
                  <a:txBody>
                    <a:bodyPr/>
                    <a:lstStyle/>
                    <a:p>
                      <a:pPr>
                        <a:buNone/>
                      </a:pPr>
                      <a:r>
                        <a:rPr lang="en-IN" sz="1400"/>
                        <a:t>Isolation Forest</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92.1%</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91.5</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45 min</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7423485"/>
                  </a:ext>
                </a:extLst>
              </a:tr>
              <a:tr h="648701">
                <a:tc>
                  <a:txBody>
                    <a:bodyPr/>
                    <a:lstStyle/>
                    <a:p>
                      <a:pPr>
                        <a:buNone/>
                      </a:pPr>
                      <a:r>
                        <a:rPr lang="en-IN" sz="1400" dirty="0"/>
                        <a:t>LLaMA (Fine-tuned)</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88.3%</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88.2</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6.5 hr</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0185004"/>
                  </a:ext>
                </a:extLst>
              </a:tr>
              <a:tr h="431449">
                <a:tc>
                  <a:txBody>
                    <a:bodyPr/>
                    <a:lstStyle/>
                    <a:p>
                      <a:pPr>
                        <a:buNone/>
                      </a:pPr>
                      <a:r>
                        <a:rPr lang="en-IN" sz="1400"/>
                        <a:t>Risk Scoring</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90.5%</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90.4</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N/A</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753023"/>
                  </a:ext>
                </a:extLst>
              </a:tr>
              <a:tr h="425035">
                <a:tc>
                  <a:txBody>
                    <a:bodyPr/>
                    <a:lstStyle/>
                    <a:p>
                      <a:pPr>
                        <a:buNone/>
                      </a:pPr>
                      <a:r>
                        <a:rPr lang="en-IN" sz="1400"/>
                        <a:t>Baseline</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84.3%</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84.2</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30 min</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1452213"/>
                  </a:ext>
                </a:extLst>
              </a:tr>
            </a:tbl>
          </a:graphicData>
        </a:graphic>
      </p:graphicFrame>
      <p:sp>
        <p:nvSpPr>
          <p:cNvPr id="28" name="TextBox 27">
            <a:extLst>
              <a:ext uri="{FF2B5EF4-FFF2-40B4-BE49-F238E27FC236}">
                <a16:creationId xmlns:a16="http://schemas.microsoft.com/office/drawing/2014/main" id="{3939A37F-F311-B4CB-3B94-DFE902E3E54D}"/>
              </a:ext>
            </a:extLst>
          </p:cNvPr>
          <p:cNvSpPr txBox="1"/>
          <p:nvPr/>
        </p:nvSpPr>
        <p:spPr>
          <a:xfrm>
            <a:off x="6371642" y="3121223"/>
            <a:ext cx="6096000" cy="307777"/>
          </a:xfrm>
          <a:prstGeom prst="rect">
            <a:avLst/>
          </a:prstGeom>
          <a:noFill/>
        </p:spPr>
        <p:txBody>
          <a:bodyPr wrap="square">
            <a:spAutoFit/>
          </a:bodyPr>
          <a:lstStyle/>
          <a:p>
            <a:r>
              <a:rPr lang="en-IN" sz="1400" b="1" dirty="0"/>
              <a:t>Algorithm Comparison</a:t>
            </a:r>
          </a:p>
        </p:txBody>
      </p:sp>
      <p:sp>
        <p:nvSpPr>
          <p:cNvPr id="30" name="TextBox 29">
            <a:extLst>
              <a:ext uri="{FF2B5EF4-FFF2-40B4-BE49-F238E27FC236}">
                <a16:creationId xmlns:a16="http://schemas.microsoft.com/office/drawing/2014/main" id="{AD8DA9C5-D6AD-1782-E356-A64759149ECC}"/>
              </a:ext>
            </a:extLst>
          </p:cNvPr>
          <p:cNvSpPr txBox="1"/>
          <p:nvPr/>
        </p:nvSpPr>
        <p:spPr>
          <a:xfrm>
            <a:off x="6393522" y="611418"/>
            <a:ext cx="6233160" cy="276999"/>
          </a:xfrm>
          <a:prstGeom prst="rect">
            <a:avLst/>
          </a:prstGeom>
          <a:noFill/>
        </p:spPr>
        <p:txBody>
          <a:bodyPr wrap="square">
            <a:spAutoFit/>
          </a:bodyPr>
          <a:lstStyle/>
          <a:p>
            <a:pPr>
              <a:buNone/>
            </a:pPr>
            <a:r>
              <a:rPr lang="en-IN" sz="1200" b="1" dirty="0"/>
              <a:t>Automated Response Effectiveness</a:t>
            </a:r>
            <a:endParaRPr lang="en-IN" sz="1200" dirty="0"/>
          </a:p>
        </p:txBody>
      </p:sp>
      <p:sp>
        <p:nvSpPr>
          <p:cNvPr id="32" name="TextBox 31">
            <a:extLst>
              <a:ext uri="{FF2B5EF4-FFF2-40B4-BE49-F238E27FC236}">
                <a16:creationId xmlns:a16="http://schemas.microsoft.com/office/drawing/2014/main" id="{C62CE918-CB23-CC6E-B4A9-0526D9433BBF}"/>
              </a:ext>
            </a:extLst>
          </p:cNvPr>
          <p:cNvSpPr txBox="1"/>
          <p:nvPr/>
        </p:nvSpPr>
        <p:spPr>
          <a:xfrm>
            <a:off x="3108180" y="147373"/>
            <a:ext cx="6311462" cy="306174"/>
          </a:xfrm>
          <a:prstGeom prst="rect">
            <a:avLst/>
          </a:prstGeom>
          <a:noFill/>
        </p:spPr>
        <p:txBody>
          <a:bodyPr wrap="square">
            <a:spAutoFit/>
          </a:bodyPr>
          <a:lstStyle/>
          <a:p>
            <a:pPr algn="ctr">
              <a:lnSpc>
                <a:spcPts val="1425"/>
              </a:lnSpc>
              <a:buNone/>
            </a:pPr>
            <a:r>
              <a:rPr lang="en-IN" sz="2400" b="1" dirty="0">
                <a:solidFill>
                  <a:schemeClr val="tx1">
                    <a:lumMod val="95000"/>
                    <a:lumOff val="5000"/>
                  </a:schemeClr>
                </a:solidFill>
                <a:effectLst/>
                <a:latin typeface="Consolas" panose="020B0609020204030204" pitchFamily="49" charset="0"/>
              </a:rPr>
              <a:t>RESULTS &amp; ANALYSIS</a:t>
            </a:r>
            <a:endParaRPr lang="en-IN" sz="2400" b="0" dirty="0">
              <a:solidFill>
                <a:schemeClr val="tx1">
                  <a:lumMod val="95000"/>
                  <a:lumOff val="5000"/>
                </a:schemeClr>
              </a:solidFill>
              <a:effectLst/>
              <a:latin typeface="Consolas" panose="020B0609020204030204" pitchFamily="49" charset="0"/>
            </a:endParaRPr>
          </a:p>
        </p:txBody>
      </p:sp>
    </p:spTree>
    <p:extLst>
      <p:ext uri="{BB962C8B-B14F-4D97-AF65-F5344CB8AC3E}">
        <p14:creationId xmlns:p14="http://schemas.microsoft.com/office/powerpoint/2010/main" val="4148355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12B3E-1F9C-A3B5-5A55-B18A9670B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49949-1D55-693D-D1FC-0F15632FABB0}"/>
              </a:ext>
            </a:extLst>
          </p:cNvPr>
          <p:cNvSpPr>
            <a:spLocks noGrp="1"/>
          </p:cNvSpPr>
          <p:nvPr>
            <p:ph type="title"/>
          </p:nvPr>
        </p:nvSpPr>
        <p:spPr>
          <a:xfrm>
            <a:off x="943390" y="30606"/>
            <a:ext cx="9955954" cy="461665"/>
          </a:xfrm>
        </p:spPr>
        <p:txBody>
          <a:bodyPr/>
          <a:lstStyle/>
          <a:p>
            <a:pPr algn="ctr"/>
            <a:r>
              <a:rPr lang="en-IN" sz="2400" b="1" dirty="0"/>
              <a:t>FUTURE SCOPE</a:t>
            </a:r>
            <a:endParaRPr lang="en-IN" sz="2400" dirty="0"/>
          </a:p>
        </p:txBody>
      </p:sp>
      <p:sp>
        <p:nvSpPr>
          <p:cNvPr id="4" name="Date Placeholder 3">
            <a:extLst>
              <a:ext uri="{FF2B5EF4-FFF2-40B4-BE49-F238E27FC236}">
                <a16:creationId xmlns:a16="http://schemas.microsoft.com/office/drawing/2014/main" id="{0E5EC52C-FBDB-39DC-DF7C-57F8EAD5E41E}"/>
              </a:ext>
            </a:extLst>
          </p:cNvPr>
          <p:cNvSpPr>
            <a:spLocks noGrp="1"/>
          </p:cNvSpPr>
          <p:nvPr>
            <p:ph type="dt" idx="6"/>
          </p:nvPr>
        </p:nvSpPr>
        <p:spPr/>
        <p:txBody>
          <a:bodyPr/>
          <a:lstStyle/>
          <a:p>
            <a:pPr algn="l"/>
            <a:r>
              <a:rPr lang="en-US" altLang="zh-CN">
                <a:solidFill>
                  <a:srgbClr val="898989"/>
                </a:solidFill>
                <a:latin typeface="Calibri" charset="0"/>
                <a:ea typeface="宋体" charset="0"/>
                <a:cs typeface="Calibri" charset="0"/>
              </a:rPr>
              <a:t>Date/Time</a:t>
            </a:r>
            <a:endParaRPr lang="zh-CN" altLang="en-US">
              <a:solidFill>
                <a:srgbClr val="898989"/>
              </a:solidFill>
              <a:latin typeface="Calibri" charset="0"/>
              <a:ea typeface="宋体" charset="0"/>
              <a:cs typeface="Calibri" charset="0"/>
            </a:endParaRPr>
          </a:p>
        </p:txBody>
      </p:sp>
      <p:sp>
        <p:nvSpPr>
          <p:cNvPr id="5" name="Title 1">
            <a:extLst>
              <a:ext uri="{FF2B5EF4-FFF2-40B4-BE49-F238E27FC236}">
                <a16:creationId xmlns:a16="http://schemas.microsoft.com/office/drawing/2014/main" id="{4CEE313A-457F-DC2E-8BA0-CD91096BDB9E}"/>
              </a:ext>
            </a:extLst>
          </p:cNvPr>
          <p:cNvSpPr txBox="1">
            <a:spLocks/>
          </p:cNvSpPr>
          <p:nvPr/>
        </p:nvSpPr>
        <p:spPr>
          <a:xfrm>
            <a:off x="839270" y="399938"/>
            <a:ext cx="9955954" cy="535531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lvl1pPr defTabSz="914400" fontAlgn="auto" hangingPunct="1">
              <a:buNone/>
              <a:defRPr sz="1800">
                <a:latin typeface="Calibri" charset="0"/>
                <a:ea typeface="宋体" charset="0"/>
                <a:cs typeface="Calibri" charset="0"/>
              </a:defRPr>
            </a:lvl1pPr>
          </a:lstStyle>
          <a:p>
            <a:r>
              <a:rPr lang="en-IN" b="1" dirty="0"/>
              <a:t>Research Directions &amp; Enhancements</a:t>
            </a:r>
          </a:p>
          <a:p>
            <a:endParaRPr lang="en-IN" b="1" dirty="0"/>
          </a:p>
          <a:p>
            <a:r>
              <a:rPr lang="en-IN" b="1" dirty="0"/>
              <a:t>Short-Term (6–12 Months)</a:t>
            </a:r>
            <a:endParaRPr lang="en-IN" dirty="0"/>
          </a:p>
          <a:p>
            <a:r>
              <a:rPr lang="en-IN" dirty="0"/>
              <a:t>➣ Expand datasets with new threat patterns &amp; continuous learning</a:t>
            </a:r>
          </a:p>
          <a:p>
            <a:r>
              <a:rPr lang="en-IN" dirty="0"/>
              <a:t>➣ Use ensemble &amp; deep learning models (CNN/LSTM)</a:t>
            </a:r>
          </a:p>
          <a:p>
            <a:r>
              <a:rPr lang="en-IN" dirty="0"/>
              <a:t>➣ Granular MITRE ATT&amp;CK–based automated responses</a:t>
            </a:r>
          </a:p>
          <a:p>
            <a:endParaRPr lang="en-IN" dirty="0"/>
          </a:p>
          <a:p>
            <a:r>
              <a:rPr lang="en-IN" b="1" dirty="0"/>
              <a:t>Medium-Term (1–2 Years)</a:t>
            </a:r>
            <a:endParaRPr lang="en-IN" dirty="0"/>
          </a:p>
          <a:p>
            <a:r>
              <a:rPr lang="en-IN" dirty="0"/>
              <a:t>➣ Self-healing &amp; predictive defence mechanisms</a:t>
            </a:r>
          </a:p>
          <a:p>
            <a:r>
              <a:rPr lang="en-IN" dirty="0"/>
              <a:t>➣ Real-time threat intelligence integration (MITRE, CISA, etc.)</a:t>
            </a:r>
          </a:p>
          <a:p>
            <a:r>
              <a:rPr lang="en-IN" dirty="0"/>
              <a:t>➣ Cross-platform support: Linux, macOS, Mobile, IoT</a:t>
            </a:r>
          </a:p>
          <a:p>
            <a:endParaRPr lang="en-IN" dirty="0"/>
          </a:p>
          <a:p>
            <a:r>
              <a:rPr lang="en-IN" b="1" dirty="0"/>
              <a:t>Long-Term (2–5 Years)</a:t>
            </a:r>
            <a:endParaRPr lang="en-IN" dirty="0"/>
          </a:p>
          <a:p>
            <a:r>
              <a:rPr lang="en-IN" dirty="0"/>
              <a:t>➣ Edge-based adaptive resource optimization</a:t>
            </a:r>
          </a:p>
          <a:p>
            <a:r>
              <a:rPr lang="en-IN" dirty="0"/>
              <a:t>➣ AI-driven forensic &amp; root-cause analysis</a:t>
            </a:r>
          </a:p>
          <a:p>
            <a:r>
              <a:rPr lang="en-IN" dirty="0"/>
              <a:t>➣ Zero Trust integration &amp; &lt;1 min Mean Time to Remediation (MTTR)</a:t>
            </a:r>
          </a:p>
          <a:p>
            <a:endParaRPr lang="en-IN" dirty="0"/>
          </a:p>
          <a:p>
            <a:r>
              <a:rPr lang="en-IN" b="1" dirty="0"/>
              <a:t>→ Impact:</a:t>
            </a:r>
            <a:br>
              <a:rPr lang="en-IN" dirty="0"/>
            </a:br>
            <a:r>
              <a:rPr lang="en-IN" dirty="0"/>
              <a:t>➣ Enhanced adaptability, faster threat response, and stronger enterprise-grade endpoint security.</a:t>
            </a:r>
          </a:p>
        </p:txBody>
      </p:sp>
    </p:spTree>
    <p:extLst>
      <p:ext uri="{BB962C8B-B14F-4D97-AF65-F5344CB8AC3E}">
        <p14:creationId xmlns:p14="http://schemas.microsoft.com/office/powerpoint/2010/main" val="4088569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E5991-4653-56A5-8A72-9E9C1BBAE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A6FE1-434C-72FE-277D-15031FE91F9E}"/>
              </a:ext>
            </a:extLst>
          </p:cNvPr>
          <p:cNvSpPr>
            <a:spLocks noGrp="1"/>
          </p:cNvSpPr>
          <p:nvPr>
            <p:ph type="title"/>
          </p:nvPr>
        </p:nvSpPr>
        <p:spPr>
          <a:xfrm>
            <a:off x="1055300" y="926"/>
            <a:ext cx="9955954" cy="461665"/>
          </a:xfrm>
        </p:spPr>
        <p:txBody>
          <a:bodyPr/>
          <a:lstStyle/>
          <a:p>
            <a:pPr algn="ctr"/>
            <a:r>
              <a:rPr lang="en-IN" sz="2400" b="1" dirty="0"/>
              <a:t>PUBLICATION &amp; CONFERENCE DETAILS</a:t>
            </a:r>
            <a:endParaRPr lang="en-IN" sz="2400" dirty="0"/>
          </a:p>
        </p:txBody>
      </p:sp>
      <p:sp>
        <p:nvSpPr>
          <p:cNvPr id="5" name="Title 1">
            <a:extLst>
              <a:ext uri="{FF2B5EF4-FFF2-40B4-BE49-F238E27FC236}">
                <a16:creationId xmlns:a16="http://schemas.microsoft.com/office/drawing/2014/main" id="{08D05546-2334-A1E1-E213-064A4F5E318C}"/>
              </a:ext>
            </a:extLst>
          </p:cNvPr>
          <p:cNvSpPr txBox="1">
            <a:spLocks/>
          </p:cNvSpPr>
          <p:nvPr/>
        </p:nvSpPr>
        <p:spPr>
          <a:xfrm>
            <a:off x="839270" y="357481"/>
            <a:ext cx="9955954" cy="507831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lvl1pPr defTabSz="914400" fontAlgn="auto" hangingPunct="1">
              <a:buNone/>
              <a:defRPr sz="1800">
                <a:latin typeface="Calibri" charset="0"/>
                <a:ea typeface="宋体" charset="0"/>
                <a:cs typeface="Calibri" charset="0"/>
              </a:defRPr>
            </a:lvl1pPr>
          </a:lstStyle>
          <a:p>
            <a:r>
              <a:rPr lang="en-IN" b="1" dirty="0"/>
              <a:t>Research Publication Status</a:t>
            </a:r>
          </a:p>
          <a:p>
            <a:endParaRPr lang="en-IN" b="1" dirty="0"/>
          </a:p>
          <a:p>
            <a:r>
              <a:rPr lang="en-IN" b="1" dirty="0"/>
              <a:t>Conference Presentation</a:t>
            </a:r>
            <a:br>
              <a:rPr lang="en-IN" dirty="0"/>
            </a:br>
            <a:r>
              <a:rPr lang="en-IN" dirty="0"/>
              <a:t>➣ </a:t>
            </a:r>
            <a:r>
              <a:rPr lang="en-IN" b="1" dirty="0"/>
              <a:t>Event:</a:t>
            </a:r>
            <a:r>
              <a:rPr lang="en-IN" dirty="0"/>
              <a:t> IEEE Int’l Conf. on Engineering &amp; Technology</a:t>
            </a:r>
            <a:br>
              <a:rPr lang="en-IN" dirty="0"/>
            </a:br>
            <a:r>
              <a:rPr lang="en-IN" dirty="0"/>
              <a:t>➣ </a:t>
            </a:r>
            <a:r>
              <a:rPr lang="en-IN" b="1" dirty="0"/>
              <a:t>Venue:</a:t>
            </a:r>
            <a:r>
              <a:rPr lang="en-IN" dirty="0"/>
              <a:t> </a:t>
            </a:r>
            <a:r>
              <a:rPr lang="en-IN" cap="all" dirty="0"/>
              <a:t>RV </a:t>
            </a:r>
            <a:r>
              <a:rPr lang="en-IN" dirty="0"/>
              <a:t>College of Engineering, Bangalore</a:t>
            </a:r>
            <a:br>
              <a:rPr lang="en-IN" dirty="0"/>
            </a:br>
            <a:r>
              <a:rPr lang="en-IN" dirty="0"/>
              <a:t>➣ </a:t>
            </a:r>
            <a:r>
              <a:rPr lang="en-IN" b="1" dirty="0"/>
              <a:t>Date:</a:t>
            </a:r>
            <a:r>
              <a:rPr lang="en-IN" dirty="0"/>
              <a:t> Nov 21, 2025</a:t>
            </a:r>
            <a:br>
              <a:rPr lang="en-IN" dirty="0"/>
            </a:br>
            <a:r>
              <a:rPr lang="en-IN" dirty="0"/>
              <a:t>➣ </a:t>
            </a:r>
            <a:r>
              <a:rPr lang="en-IN" b="1" dirty="0"/>
              <a:t>Track:</a:t>
            </a:r>
            <a:r>
              <a:rPr lang="en-IN" dirty="0"/>
              <a:t> Computing and Intelligent Systems</a:t>
            </a:r>
          </a:p>
          <a:p>
            <a:endParaRPr lang="en-IN" dirty="0"/>
          </a:p>
          <a:p>
            <a:r>
              <a:rPr lang="en-IN" b="1" dirty="0"/>
              <a:t>Paper Details</a:t>
            </a:r>
            <a:br>
              <a:rPr lang="en-IN" dirty="0"/>
            </a:br>
            <a:r>
              <a:rPr lang="en-IN" dirty="0"/>
              <a:t>➣ </a:t>
            </a:r>
            <a:r>
              <a:rPr lang="en-IN" b="1" dirty="0"/>
              <a:t>Title:</a:t>
            </a:r>
            <a:r>
              <a:rPr lang="en-IN" dirty="0"/>
              <a:t> </a:t>
            </a:r>
            <a:r>
              <a:rPr lang="en-IN" i="1" dirty="0"/>
              <a:t>Endpoint Security Agent: A Comprehensive Approach to Real-Time System Monitoring and Threat Detection</a:t>
            </a:r>
          </a:p>
          <a:p>
            <a:endParaRPr lang="en-IN" i="1" dirty="0"/>
          </a:p>
          <a:p>
            <a:r>
              <a:rPr lang="en-IN" b="1" dirty="0"/>
              <a:t>Publication Status</a:t>
            </a:r>
            <a:endParaRPr lang="en-IN" dirty="0"/>
          </a:p>
          <a:p>
            <a:r>
              <a:rPr lang="en-IN" b="1" dirty="0"/>
              <a:t>➣ TechRxiv Preprint:</a:t>
            </a:r>
            <a:r>
              <a:rPr lang="en-IN" dirty="0"/>
              <a:t> Published &amp; Publicly Available</a:t>
            </a:r>
            <a:br>
              <a:rPr lang="en-IN" dirty="0"/>
            </a:br>
            <a:r>
              <a:rPr lang="en-IN" dirty="0"/>
              <a:t>➣ [DOI: 10.36227/techrxiv.175355212.24261261/v1]</a:t>
            </a:r>
          </a:p>
          <a:p>
            <a:endParaRPr lang="en-IN" dirty="0"/>
          </a:p>
          <a:p>
            <a:r>
              <a:rPr lang="en-IN" b="1" dirty="0"/>
              <a:t>➣ IEEE Conference:</a:t>
            </a:r>
            <a:r>
              <a:rPr lang="en-IN" dirty="0"/>
              <a:t> Under Review – Peer Review on </a:t>
            </a:r>
            <a:r>
              <a:rPr lang="en-IN" b="1" dirty="0"/>
              <a:t>Nov 21, 2025</a:t>
            </a:r>
            <a:br>
              <a:rPr lang="en-IN" dirty="0"/>
            </a:br>
            <a:r>
              <a:rPr lang="en-IN" dirty="0"/>
              <a:t>➣ </a:t>
            </a:r>
            <a:r>
              <a:rPr lang="en-IN" i="1" dirty="0"/>
              <a:t>(Target: IEEE Xplore Digital Library)</a:t>
            </a:r>
            <a:endParaRPr lang="en-IN" dirty="0"/>
          </a:p>
        </p:txBody>
      </p:sp>
    </p:spTree>
    <p:extLst>
      <p:ext uri="{BB962C8B-B14F-4D97-AF65-F5344CB8AC3E}">
        <p14:creationId xmlns:p14="http://schemas.microsoft.com/office/powerpoint/2010/main" val="967661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66D90-D71C-88D9-98DD-5160ECE519D0}"/>
              </a:ext>
            </a:extLst>
          </p:cNvPr>
          <p:cNvSpPr>
            <a:spLocks noGrp="1"/>
          </p:cNvSpPr>
          <p:nvPr>
            <p:ph type="title"/>
          </p:nvPr>
        </p:nvSpPr>
        <p:spPr>
          <a:xfrm>
            <a:off x="943390" y="30606"/>
            <a:ext cx="9955954" cy="461665"/>
          </a:xfrm>
        </p:spPr>
        <p:txBody>
          <a:bodyPr/>
          <a:lstStyle/>
          <a:p>
            <a:pPr algn="ctr"/>
            <a:r>
              <a:rPr kumimoji="0" lang="en-IN" sz="2400" b="1" i="0" u="none" strike="noStrike" kern="0" cap="none" spc="0" normalizeH="0" baseline="0" noProof="0" dirty="0">
                <a:ln>
                  <a:noFill/>
                </a:ln>
                <a:solidFill>
                  <a:sysClr val="windowText" lastClr="000000"/>
                </a:solidFill>
                <a:effectLst/>
                <a:uLnTx/>
                <a:uFillTx/>
                <a:latin typeface="Calibri" charset="0"/>
                <a:ea typeface="宋体" charset="0"/>
                <a:cs typeface="Calibri" charset="0"/>
              </a:rPr>
              <a:t>QUESTION &amp; ANSWER</a:t>
            </a:r>
            <a:endParaRPr lang="en-IN" sz="2400" dirty="0"/>
          </a:p>
        </p:txBody>
      </p:sp>
      <p:sp>
        <p:nvSpPr>
          <p:cNvPr id="5" name="Title 1">
            <a:extLst>
              <a:ext uri="{FF2B5EF4-FFF2-40B4-BE49-F238E27FC236}">
                <a16:creationId xmlns:a16="http://schemas.microsoft.com/office/drawing/2014/main" id="{350BCC9A-7F7F-19C5-85AD-E0782703F1FE}"/>
              </a:ext>
            </a:extLst>
          </p:cNvPr>
          <p:cNvSpPr txBox="1">
            <a:spLocks/>
          </p:cNvSpPr>
          <p:nvPr/>
        </p:nvSpPr>
        <p:spPr>
          <a:xfrm>
            <a:off x="465350" y="495512"/>
            <a:ext cx="6624920" cy="507831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lvl1pPr defTabSz="914400" fontAlgn="auto" hangingPunct="1">
              <a:buNone/>
              <a:defRPr sz="1800">
                <a:latin typeface="Calibri" charset="0"/>
                <a:ea typeface="宋体" charset="0"/>
                <a:cs typeface="Calibri" charset="0"/>
              </a:defRPr>
            </a:lvl1pPr>
          </a:lstStyle>
          <a:p>
            <a:r>
              <a:rPr lang="en-IN" b="1" dirty="0"/>
              <a:t>Thank You for Your Attention</a:t>
            </a:r>
          </a:p>
          <a:p>
            <a:endParaRPr lang="en-IN" sz="1600" b="1" dirty="0"/>
          </a:p>
          <a:p>
            <a:r>
              <a:rPr lang="en-IN" b="1" dirty="0"/>
              <a:t>Key Contributions</a:t>
            </a:r>
          </a:p>
          <a:p>
            <a:endParaRPr lang="en-IN" sz="1600" dirty="0"/>
          </a:p>
          <a:p>
            <a:r>
              <a:rPr lang="en-IN" dirty="0"/>
              <a:t>➣ Modular endpoint security agent with real-time monitoring</a:t>
            </a:r>
          </a:p>
          <a:p>
            <a:r>
              <a:rPr lang="en-IN" dirty="0"/>
              <a:t>➣ Multi-layer ML detection (92.1% accuracy, &lt;8% false positives)</a:t>
            </a:r>
          </a:p>
          <a:p>
            <a:r>
              <a:rPr lang="en-IN" dirty="0"/>
              <a:t>➣ Full MITRE ATT&amp;CK integration (14 tactics, 193 techniques)</a:t>
            </a:r>
          </a:p>
          <a:p>
            <a:r>
              <a:rPr lang="en-IN" dirty="0"/>
              <a:t>➣ &lt;2s automated response, 97–99% success rate</a:t>
            </a:r>
          </a:p>
          <a:p>
            <a:r>
              <a:rPr lang="en-IN" dirty="0"/>
              <a:t>➣ Lightweight: 15–25% CPU, 1.2–1.8 GB RAM</a:t>
            </a:r>
          </a:p>
          <a:p>
            <a:r>
              <a:rPr lang="en-IN" dirty="0"/>
              <a:t>➣ Published on TechRxiv; to be presented at IEEE RVIT 2025</a:t>
            </a:r>
          </a:p>
          <a:p>
            <a:endParaRPr lang="en-IN" dirty="0"/>
          </a:p>
          <a:p>
            <a:r>
              <a:rPr lang="en-IN" b="1" dirty="0"/>
              <a:t>Research Team</a:t>
            </a:r>
          </a:p>
          <a:p>
            <a:br>
              <a:rPr lang="en-IN" sz="1600" dirty="0"/>
            </a:br>
            <a:r>
              <a:rPr lang="en-IN" sz="1600" b="1" dirty="0"/>
              <a:t>Srihari R</a:t>
            </a:r>
            <a:r>
              <a:rPr lang="en-IN" sz="1600" dirty="0"/>
              <a:t> </a:t>
            </a:r>
            <a:r>
              <a:rPr lang="en-IN" sz="1600" i="1" dirty="0"/>
              <a:t>(Principal Investigator)</a:t>
            </a:r>
            <a:r>
              <a:rPr lang="en-IN" sz="1600" dirty="0"/>
              <a:t> – </a:t>
            </a:r>
            <a:r>
              <a:rPr lang="en-IN" sz="1600" dirty="0">
                <a:hlinkClick r:id="rId3"/>
              </a:rPr>
              <a:t>sriharir@ieee.org</a:t>
            </a:r>
            <a:br>
              <a:rPr lang="en-IN" sz="1600" dirty="0"/>
            </a:br>
            <a:r>
              <a:rPr lang="en-IN" sz="1600" dirty="0">
                <a:hlinkClick r:id="rId4"/>
              </a:rPr>
              <a:t>GitHub</a:t>
            </a:r>
            <a:r>
              <a:rPr lang="en-IN" sz="1600" dirty="0"/>
              <a:t> | </a:t>
            </a:r>
            <a:r>
              <a:rPr lang="en-IN" sz="1600" dirty="0">
                <a:hlinkClick r:id="rId5"/>
              </a:rPr>
              <a:t>LinkedIn</a:t>
            </a:r>
            <a:endParaRPr lang="en-IN" sz="1600" dirty="0"/>
          </a:p>
          <a:p>
            <a:r>
              <a:rPr lang="en-IN" sz="1600" b="1" dirty="0"/>
              <a:t>Dr. Ayesha Taranum</a:t>
            </a:r>
            <a:r>
              <a:rPr lang="en-IN" sz="1600" dirty="0"/>
              <a:t> </a:t>
            </a:r>
            <a:r>
              <a:rPr lang="en-IN" sz="1600" i="1" dirty="0"/>
              <a:t>(Supervisor)</a:t>
            </a:r>
            <a:r>
              <a:rPr lang="en-IN" sz="1600" dirty="0"/>
              <a:t> – ayeshagce@gmail.com</a:t>
            </a:r>
            <a:br>
              <a:rPr lang="en-IN" sz="1600" dirty="0"/>
            </a:br>
            <a:r>
              <a:rPr lang="en-IN" sz="1600" b="1" dirty="0"/>
              <a:t>Mohammed Usman Hussain</a:t>
            </a:r>
            <a:r>
              <a:rPr lang="en-IN" sz="1600" dirty="0"/>
              <a:t> – mohammedusmanhussain@gmail.com</a:t>
            </a:r>
            <a:br>
              <a:rPr lang="en-IN" sz="1600" dirty="0"/>
            </a:br>
            <a:r>
              <a:rPr lang="en-IN" sz="1600" b="1" dirty="0"/>
              <a:t>Karthik R</a:t>
            </a:r>
            <a:r>
              <a:rPr lang="en-IN" sz="1600" dirty="0"/>
              <a:t> – karthikrkarthikr49@gmail.com</a:t>
            </a:r>
          </a:p>
          <a:p>
            <a:endParaRPr lang="en-IN" sz="1600" dirty="0"/>
          </a:p>
        </p:txBody>
      </p:sp>
      <p:sp>
        <p:nvSpPr>
          <p:cNvPr id="9" name="Title 1">
            <a:extLst>
              <a:ext uri="{FF2B5EF4-FFF2-40B4-BE49-F238E27FC236}">
                <a16:creationId xmlns:a16="http://schemas.microsoft.com/office/drawing/2014/main" id="{15BE370E-A1B3-D6B7-D07E-C17128FB34A2}"/>
              </a:ext>
            </a:extLst>
          </p:cNvPr>
          <p:cNvSpPr txBox="1">
            <a:spLocks/>
          </p:cNvSpPr>
          <p:nvPr/>
        </p:nvSpPr>
        <p:spPr>
          <a:xfrm>
            <a:off x="7104140" y="3573020"/>
            <a:ext cx="4392610" cy="203132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lvl1pPr defTabSz="914400" fontAlgn="auto" hangingPunct="1">
              <a:buNone/>
              <a:defRPr sz="1800">
                <a:latin typeface="Calibri" charset="0"/>
                <a:ea typeface="宋体" charset="0"/>
                <a:cs typeface="Calibri" charset="0"/>
              </a:defRPr>
            </a:lvl1pPr>
          </a:lstStyle>
          <a:p>
            <a:r>
              <a:rPr lang="en-IN" b="1" dirty="0"/>
              <a:t>Resources</a:t>
            </a:r>
          </a:p>
          <a:p>
            <a:br>
              <a:rPr lang="en-IN" dirty="0"/>
            </a:br>
            <a:r>
              <a:rPr lang="en-IN" dirty="0"/>
              <a:t>➣ </a:t>
            </a:r>
            <a:r>
              <a:rPr lang="en-IN" dirty="0">
                <a:hlinkClick r:id="rId6"/>
              </a:rPr>
              <a:t>TechRxiv Paper (DOI: 10.36227/techrxiv.175355212.24261261/v1)</a:t>
            </a:r>
            <a:br>
              <a:rPr lang="en-IN" dirty="0"/>
            </a:br>
            <a:r>
              <a:rPr lang="en-IN" dirty="0"/>
              <a:t>➣ </a:t>
            </a:r>
            <a:r>
              <a:rPr lang="en-IN" dirty="0">
                <a:hlinkClick r:id="rId4"/>
              </a:rPr>
              <a:t>Code Repository</a:t>
            </a:r>
            <a:br>
              <a:rPr lang="en-IN" dirty="0"/>
            </a:br>
            <a:r>
              <a:rPr lang="en-IN" dirty="0"/>
              <a:t>➣ Presidency University, Bangalore</a:t>
            </a:r>
            <a:br>
              <a:rPr lang="en-IN" dirty="0"/>
            </a:br>
            <a:r>
              <a:rPr lang="en-IN" dirty="0"/>
              <a:t>➣ IEEE RVCE Conference – Nov 21, 2025</a:t>
            </a:r>
          </a:p>
        </p:txBody>
      </p:sp>
    </p:spTree>
    <p:extLst>
      <p:ext uri="{BB962C8B-B14F-4D97-AF65-F5344CB8AC3E}">
        <p14:creationId xmlns:p14="http://schemas.microsoft.com/office/powerpoint/2010/main" val="4276227799"/>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1383</TotalTime>
  <Words>1846</Words>
  <Application>Microsoft Office PowerPoint</Application>
  <PresentationFormat>Widescreen</PresentationFormat>
  <Paragraphs>179</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Caladea</vt:lpstr>
      <vt:lpstr>Calibri</vt:lpstr>
      <vt:lpstr>Consolas</vt:lpstr>
      <vt:lpstr>Droid Sans</vt:lpstr>
      <vt:lpstr>Times New Roman</vt:lpstr>
      <vt:lpstr>Trebuchet MS</vt:lpstr>
      <vt:lpstr>Office Theme</vt:lpstr>
      <vt:lpstr>PRESIDENCY UNIVERSITY School of Computer Science and Engineering and School of Information Science IEEE – TECH WEEK -2025  DAY- 4 - Project Presentation on Endpoint Security Agent: A Comprehensive Approach to Real-Time System Monitoring and Threat Detection               Faculty Coordinators :                       Dr. Ayesha Taranum                              Ms. Thabassum Khan  </vt:lpstr>
      <vt:lpstr>Project Details </vt:lpstr>
      <vt:lpstr>❖  Current Threat Landscape ➣  Advanced cyberattacks exploit endpoints as entry points ➣  Traditional tools lack real-time visibility ➣  High false positives (15–20%) reduce reliability ➣  Remote work &amp; cloud adoption expand attack surfaces ➣  Signature-based detection fails against modern threats  ❖  Research Motivation ➣  Need for intelligent endpoint protection that: ➣  Detects known &amp; zero-day threats in real time ➣  Responds proportionally to risk severity ➣  Reduces false positives &amp; performance overhead ➣  Ensures standardized threat classification</vt:lpstr>
      <vt:lpstr>Primary Research Objectives  ❖ Modular Real-Time Security Agent ➣ Windows monitoring via WMI &amp; ETW ➣ Lightweight, extensible architecture  ❖ Multi-Layer Threat Detection ➣ ML-based anomaly detection (Isolation Forest) ➣ Fine-tuned LLaMA on MITRE ATT&amp;CK ➣ Behavioural + signature-based analysis  ❖ MITRE ATT&amp;CK Integration ➣ Maps to 14 tactics, 193 techniques ➣ Enables standardized, context-aware detection</vt:lpstr>
      <vt:lpstr>Evolution of Endpoint Security Approaches  Traditional Methods &amp; Gaps ➣ Signature-Based: Accurate for known threats but fails on zero-days; high false negatives. ➣ Behavior-Based: Detects anomalies but prone to false positives without ML tuning. ➣ Machine Learning: Improves unseen threat detection; needs large labeled datasets. ➣ Real-Time Monitoring: Continuous analysis; resource-intensive at scale. ➣ Integrated Models: Multi-layer protection; efficiency trade-offs. ➣ MITRE ATT&amp;CK Use: Standardized taxonomy; limited, manual integrations.  Persistent Limitations ⚠️ High false positives ⚠️ Heavy resource use ⚠️ Weak zero-day defense ⚠️ Shallow ATT&amp;CK mapping  Our Innovation → Full MITRE ATT&amp;CK integration as a core intelligence layer, enabling end-to-end detection-to-remediation with high accuracy and balanced efficiency. </vt:lpstr>
      <vt:lpstr>Comprehensive Multi-Layer Security Architecture  Architecture Overview ❖ Monitoring: Real-time tracking (processes, network, files, registry) via lightweight OS hooks. ❖ Data Collection: Hardware/software configs; low-overhead visibility. ❖ Analysis (3 Layers): ➣ Isolation Forest – 92.1% Acc, F1 91.5 ➣ Fine-Tuned LLaMA (LoRA) – 88.3% Acc, F1 88.2, APT 92.7 ➣ Risk Scoring – Weighted anomaly + severity + criticality (90.5% Acc) ❖ Response: Context-aware MITRE ATT&amp;CK actions (block, isolate, quarantine) &lt; 2 s. ❖ Communication: Secure SSL/TLS + HMAC channel integrity.  Threat Detection Pipeline 1️⃣ Event Collection → 2️⃣ Preprocessing → 3️⃣ Parallel Detection → 4️⃣ Risk &amp; Response Throughput: 1000–1500 events/s Latency: &lt; 2 s  Training Data 1 M events | 45 features | Mapped to MITRE ATT&amp;CK | 70/15/15 split</vt:lpstr>
      <vt:lpstr>Comprehensive Performance Evaluation Detection Performance</vt:lpstr>
      <vt:lpstr>FUTURE SCOPE</vt:lpstr>
      <vt:lpstr>PUBLICATION &amp; CONFERENCE DETAILS</vt:lpstr>
      <vt:lpstr>QUESTION &amp;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Rupam Bhagawati</dc:creator>
  <cp:lastModifiedBy>SRIHARI RAMESH</cp:lastModifiedBy>
  <cp:revision>59</cp:revision>
  <dcterms:created xsi:type="dcterms:W3CDTF">2021-01-25T16:23:57Z</dcterms:created>
  <dcterms:modified xsi:type="dcterms:W3CDTF">2025-10-29T17:58:48Z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2020-06-02T16:00:00Z</vt:filetime>
  </property>
  <property fmtid="{D5CDD505-2E9C-101B-9397-08002B2CF9AE}" pid="3" name="Creator">
    <vt:lpwstr>Microsoft® PowerPoint® 2013</vt:lpwstr>
  </property>
  <property fmtid="{D5CDD505-2E9C-101B-9397-08002B2CF9AE}" pid="4" name="LastSaved">
    <vt:filetime>2021-01-24T16:00:00Z</vt:filetime>
  </property>
</Properties>
</file>